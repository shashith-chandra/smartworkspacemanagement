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588D605F-9E3E-46E9-8A7C-7E2FB79C3348}" type="datetimeFigureOut">
              <a:t>7/23/2026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34EFAD33-A03A-4643-9719-873565EDC054}" type="slidenum">
              <a:t>‹#›</a:t>
            </a:fld>
            <a:endParaRPr lang="en-US"/>
          </a:p>
        </p:txBody>
      </p:sp>
    </p:spTree>
    <p:extLst>
      <p:ext uri="{BB962C8B-B14F-4D97-AF65-F5344CB8AC3E}">
        <p14:creationId xmlns:p14="http://schemas.microsoft.com/office/powerpoint/2010/main" val="3786585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Microsoft Copilot.
[Sources]
Visual on this slide was generated with Microsoft Copilot.
Concept based on user-provided rough idea in this conversation.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Microsoft Copilot.
[Sources]
Internal document &lt;File&gt;Smart Workspace Allocation and access management.docx&lt;/File&gt; says the solution should help managers and facilities allocate seats efficiently, monitor real-time utilization, support hot seat booking, and use access swipe data to validate occupancy, shift patterns, and access compliance (turn1search25 lines 2-4).
Vizitor hot desking ROI article recommends calculating ROI from current desks, peak-day occupancy plus buffer, and fully loaded per-desk annual cost, rather than copying a generic percentage (turn1search1).</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Microsoft Copilot.
[Sources]
Internal document &lt;File&gt;Smart Workspace Allocation and access management.docx&lt;/File&gt; states actual office attendance and seat utilization vary significantly across teams and shifts (turn1search25 line 2).
Internal document &lt;File&gt;Smart Workspace Allocation and access management.docx&lt;/File&gt; lists impacted groups including employees, managers, facilities, security/access management, housekeeping, pantry, maintenance, and leadership (turn1search25 line 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Microsoft Copilot.
[Sources]
Visual on this slide was generated with Microsoft Copilot.
User rough idea proposes QR codes at each desk and authentication through Okta after the URL opens.
User rough idea proposes ID card swipe and LAN connection as stronger occupancy signals.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Microsoft Copilot.
[Sources]
User rough idea describes QR code as a URL and authentication happening after the user opens the URL.
User rough idea recommends OAuth Authorization Code Flow and notes user details can be retrieved from ID token or userinfo endpoint.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Microsoft Copilot.
[Sources]
User rough idea proposes unlocking a desk when LAN is not connected for a stipulated time, with 45 minutes as an example.
User rough idea proposes calendar check and heartbeat-style reminders before releasing a desk.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Microsoft Copilot.
[Sources]
Visual on this slide was generated with Microsoft Copilot.
Internal document &lt;File&gt;Smart Workspace Allocation and access management.docx&lt;/File&gt; lists suggested features including floor/wing/zone-wise dashboard, manager view, hot seat booking, layout view, swipe-in validation, shift pattern identification, access violation workflow, and utilization reports (turn1search25 line 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Microsoft Copilot.
[Sources]
User rough idea proposes AI to suggest where teammates are seated and whether adjacent seats are available.
User rough idea proposes favorite seat identification based on preferences such as friends, teammates, or window seat.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Microsoft Copilot.
[Sources]
Visual on this slide was generated with Microsoft Copilot.
Cost model is illustrative and uses assumptions in the slide, not actual company facilities data. Replace values with actual current desks, peak occupancy, buffer, and fully loaded desk cost.
Vizitor hot desking ROI article recommends annual savings = desks eliminated × fully loaded per-desk annual cost, with desks eliminated based on current provisioned desks minus peak-day occupancy plus planning buffer (turn1search1).
Skedda hot desking guide gives an example of calculating target seats from peak attendance plus buffer and ROI from desks removed multiplied by cost per desk per year (turn1search5).</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Microsoft Copilot.
[Sources]
Internal document &lt;File&gt;Smart Workspace Allocation and access management.docx&lt;/File&gt; lists the same expected outcomes in the challenge document (turn1search25 line 4).
Coverage assessment is based on mapping the user-provided concept to those listed outcomes.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Microsoft Copilot.
[Sources]
Internal document &lt;File&gt;Smart Workspace Allocation and access management.docx&lt;/File&gt; lists suggested features including dashboards, manager views, hot seat booking, layout view, swipe-in validation, shift pattern identification, access violation workflow, and utilization reports (turn1search25 line 4).
Recommended additions are solution design suggestions from Microsoft Copilot based on the provided idea and common enterprise controls.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Microsoft Copilot.
[Sources]
MVP roadmap is a Microsoft Copilot recommendation based on the user-provided idea and the internal problem statement mission to create a concept or prototype for intelligent seat allocation, hot seat booking, access-based utilization tracking, and manager-driven governance (turn1search25 line 4).</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Microsoft Copilot.
[Sources]
Summary based on mapping the user-provided idea to internal challenge outcomes/features and the illustrative cost model in this deck.
Cost estimate should be validated with actual facilities, IT, and finance data before presentation as a committed savings number.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502920" y="6537960"/>
            <a:ext cx="11155680" cy="0"/>
          </a:xfrm>
          <a:prstGeom prst="line">
            <a:avLst/>
          </a:prstGeom>
          <a:noFill/>
          <a:ln w="10160">
            <a:solidFill>
              <a:srgbClr val="DBEAFE"/>
            </a:solidFill>
            <a:prstDash val="solid"/>
          </a:ln>
        </p:spPr>
      </p:sp>
      <p:sp>
        <p:nvSpPr>
          <p:cNvPr id="3" name="Text 1"/>
          <p:cNvSpPr/>
          <p:nvPr/>
        </p:nvSpPr>
        <p:spPr>
          <a:xfrm>
            <a:off x="566928" y="6574536"/>
            <a:ext cx="4389120" cy="182880"/>
          </a:xfrm>
          <a:prstGeom prst="rect">
            <a:avLst/>
          </a:prstGeom>
          <a:noFill/>
          <a:ln/>
        </p:spPr>
        <p:txBody>
          <a:bodyPr wrap="square" rtlCol="0" anchor="ctr"/>
          <a:lstStyle/>
          <a:p>
            <a:pPr marL="0" indent="0">
              <a:buNone/>
            </a:pPr>
            <a:r>
              <a:rPr lang="en-US" sz="780" dirty="0">
                <a:solidFill>
                  <a:srgbClr val="64748B"/>
                </a:solidFill>
                <a:latin typeface="Aptos" pitchFamily="34" charset="0"/>
                <a:ea typeface="Aptos" pitchFamily="34" charset="-122"/>
                <a:cs typeface="Aptos" pitchFamily="34" charset="-120"/>
              </a:rPr>
              <a:t>Smart Workspace Management</a:t>
            </a:r>
            <a:endParaRPr lang="en-US" sz="780" dirty="0"/>
          </a:p>
        </p:txBody>
      </p:sp>
      <p:sp>
        <p:nvSpPr>
          <p:cNvPr id="25"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pic>
        <p:nvPicPr>
          <p:cNvPr id="3" name="Image 0" descr="/mnt/data/4530327b2d.png"/>
          <p:cNvPicPr>
            <a:picLocks noChangeAspect="1"/>
          </p:cNvPicPr>
          <p:nvPr/>
        </p:nvPicPr>
        <p:blipFill>
          <a:blip r:embed="rId3"/>
          <a:srcRect t="7811" b="7811"/>
          <a:stretch/>
        </p:blipFill>
        <p:spPr>
          <a:xfrm>
            <a:off x="0" y="0"/>
            <a:ext cx="12191695" cy="6858000"/>
          </a:xfrm>
          <a:prstGeom prst="rect">
            <a:avLst/>
          </a:prstGeom>
        </p:spPr>
      </p:pic>
      <p:sp>
        <p:nvSpPr>
          <p:cNvPr id="4" name="Shape 1"/>
          <p:cNvSpPr/>
          <p:nvPr/>
        </p:nvSpPr>
        <p:spPr>
          <a:xfrm>
            <a:off x="0" y="0"/>
            <a:ext cx="12191695" cy="6858000"/>
          </a:xfrm>
          <a:prstGeom prst="rect">
            <a:avLst/>
          </a:prstGeom>
          <a:solidFill>
            <a:srgbClr val="071A2F">
              <a:alpha val="82000"/>
            </a:srgbClr>
          </a:solidFill>
          <a:ln w="12700">
            <a:solidFill>
              <a:srgbClr val="071A2F">
                <a:alpha val="0"/>
              </a:srgbClr>
            </a:solidFill>
            <a:prstDash val="solid"/>
          </a:ln>
        </p:spPr>
      </p:sp>
      <p:sp>
        <p:nvSpPr>
          <p:cNvPr id="5" name="Shape 2"/>
          <p:cNvSpPr/>
          <p:nvPr/>
        </p:nvSpPr>
        <p:spPr>
          <a:xfrm>
            <a:off x="0" y="0"/>
            <a:ext cx="12191695" cy="6858000"/>
          </a:xfrm>
          <a:prstGeom prst="rect">
            <a:avLst/>
          </a:prstGeom>
          <a:solidFill>
            <a:srgbClr val="000000">
              <a:alpha val="65000"/>
            </a:srgbClr>
          </a:solidFill>
          <a:ln w="12700">
            <a:solidFill>
              <a:srgbClr val="000000">
                <a:alpha val="0"/>
              </a:srgbClr>
            </a:solidFill>
            <a:prstDash val="solid"/>
          </a:ln>
        </p:spPr>
      </p:sp>
      <p:sp>
        <p:nvSpPr>
          <p:cNvPr id="6" name="Shape 3"/>
          <p:cNvSpPr/>
          <p:nvPr/>
        </p:nvSpPr>
        <p:spPr>
          <a:xfrm>
            <a:off x="658368" y="621792"/>
            <a:ext cx="1234440" cy="292608"/>
          </a:xfrm>
          <a:prstGeom prst="roundRect">
            <a:avLst>
              <a:gd name="adj" fmla="val 25000"/>
            </a:avLst>
          </a:prstGeom>
          <a:solidFill>
            <a:srgbClr val="14B8A6"/>
          </a:solidFill>
          <a:ln w="12700">
            <a:solidFill>
              <a:srgbClr val="14B8A6"/>
            </a:solidFill>
            <a:prstDash val="solid"/>
          </a:ln>
          <a:effectLst>
            <a:outerShdw blurRad="12700" dist="6350" dir="2700000" algn="bl" rotWithShape="0">
              <a:srgbClr val="000000">
                <a:alpha val="10000"/>
              </a:srgbClr>
            </a:outerShdw>
          </a:effectLst>
        </p:spPr>
      </p:sp>
      <p:sp>
        <p:nvSpPr>
          <p:cNvPr id="7" name="Text 4"/>
          <p:cNvSpPr/>
          <p:nvPr/>
        </p:nvSpPr>
        <p:spPr>
          <a:xfrm>
            <a:off x="749808" y="690372"/>
            <a:ext cx="1051560" cy="109728"/>
          </a:xfrm>
          <a:prstGeom prst="rect">
            <a:avLst/>
          </a:prstGeom>
          <a:noFill/>
          <a:ln/>
        </p:spPr>
        <p:txBody>
          <a:bodyPr wrap="square" lIns="0" tIns="0" rIns="0" bIns="0" rtlCol="0" anchor="ctr"/>
          <a:lstStyle/>
          <a:p>
            <a:pPr marL="0" indent="0" algn="ctr">
              <a:buNone/>
            </a:pPr>
            <a:r>
              <a:rPr lang="en-US" sz="750" b="1" dirty="0">
                <a:solidFill>
                  <a:srgbClr val="FFFFFF"/>
                </a:solidFill>
              </a:rPr>
              <a:t>Idea proposal</a:t>
            </a:r>
            <a:endParaRPr lang="en-US" sz="750" dirty="0"/>
          </a:p>
        </p:txBody>
      </p:sp>
      <p:sp>
        <p:nvSpPr>
          <p:cNvPr id="8" name="Text 5"/>
          <p:cNvSpPr/>
          <p:nvPr/>
        </p:nvSpPr>
        <p:spPr>
          <a:xfrm>
            <a:off x="658368" y="1115568"/>
            <a:ext cx="6126480" cy="1188720"/>
          </a:xfrm>
          <a:prstGeom prst="rect">
            <a:avLst/>
          </a:prstGeom>
          <a:noFill/>
          <a:ln/>
        </p:spPr>
        <p:txBody>
          <a:bodyPr wrap="square" lIns="0" tIns="0" rIns="0" bIns="0" rtlCol="0" anchor="ctr">
            <a:normAutofit/>
          </a:bodyPr>
          <a:lstStyle/>
          <a:p>
            <a:pPr marL="0" indent="0">
              <a:buNone/>
            </a:pPr>
            <a:r>
              <a:rPr lang="en-US" sz="3800" b="1" dirty="0">
                <a:solidFill>
                  <a:srgbClr val="FFFFFF"/>
                </a:solidFill>
                <a:latin typeface="Aptos Display" pitchFamily="34" charset="0"/>
                <a:ea typeface="Aptos Display" pitchFamily="34" charset="-122"/>
                <a:cs typeface="Aptos Display" pitchFamily="34" charset="-120"/>
              </a:rPr>
              <a:t>Smart Workspace</a:t>
            </a:r>
            <a:endParaRPr lang="en-US" sz="3800" dirty="0"/>
          </a:p>
          <a:p>
            <a:pPr marL="0" indent="0">
              <a:buNone/>
            </a:pPr>
            <a:r>
              <a:rPr lang="en-US" sz="3800" b="1" dirty="0">
                <a:solidFill>
                  <a:srgbClr val="FFFFFF"/>
                </a:solidFill>
                <a:latin typeface="Aptos Display" pitchFamily="34" charset="0"/>
                <a:ea typeface="Aptos Display" pitchFamily="34" charset="-122"/>
                <a:cs typeface="Aptos Display" pitchFamily="34" charset="-120"/>
              </a:rPr>
              <a:t>Management</a:t>
            </a:r>
            <a:endParaRPr lang="en-US" sz="3800" dirty="0"/>
          </a:p>
        </p:txBody>
      </p:sp>
      <p:sp>
        <p:nvSpPr>
          <p:cNvPr id="9" name="Text 6"/>
          <p:cNvSpPr/>
          <p:nvPr/>
        </p:nvSpPr>
        <p:spPr>
          <a:xfrm>
            <a:off x="694944" y="2606040"/>
            <a:ext cx="6035040" cy="502920"/>
          </a:xfrm>
          <a:prstGeom prst="rect">
            <a:avLst/>
          </a:prstGeom>
          <a:noFill/>
          <a:ln/>
        </p:spPr>
        <p:txBody>
          <a:bodyPr wrap="square" lIns="0" tIns="0" rIns="0" bIns="0" rtlCol="0" anchor="ctr">
            <a:normAutofit/>
          </a:bodyPr>
          <a:lstStyle/>
          <a:p>
            <a:pPr marL="0" indent="0">
              <a:buNone/>
            </a:pPr>
            <a:r>
              <a:rPr lang="en-US" sz="1500" dirty="0">
                <a:solidFill>
                  <a:srgbClr val="E0F2FE"/>
                </a:solidFill>
              </a:rPr>
              <a:t>QR + ID swipe + LAN signal + calendar intelligence to optimize desk usage, employee experience, and facilities cost.</a:t>
            </a:r>
            <a:endParaRPr lang="en-US" sz="1500" dirty="0"/>
          </a:p>
        </p:txBody>
      </p:sp>
      <p:sp>
        <p:nvSpPr>
          <p:cNvPr id="10" name="Shape 7"/>
          <p:cNvSpPr/>
          <p:nvPr/>
        </p:nvSpPr>
        <p:spPr>
          <a:xfrm>
            <a:off x="694944" y="5797296"/>
            <a:ext cx="1645920" cy="292608"/>
          </a:xfrm>
          <a:prstGeom prst="roundRect">
            <a:avLst>
              <a:gd name="adj" fmla="val 25000"/>
            </a:avLst>
          </a:prstGeom>
          <a:solidFill>
            <a:srgbClr val="22C55E"/>
          </a:solidFill>
          <a:ln w="12700">
            <a:solidFill>
              <a:srgbClr val="22C55E"/>
            </a:solidFill>
            <a:prstDash val="solid"/>
          </a:ln>
          <a:effectLst>
            <a:outerShdw blurRad="12700" dist="6350" dir="2700000" algn="bl" rotWithShape="0">
              <a:srgbClr val="000000">
                <a:alpha val="10000"/>
              </a:srgbClr>
            </a:outerShdw>
          </a:effectLst>
        </p:spPr>
      </p:sp>
      <p:sp>
        <p:nvSpPr>
          <p:cNvPr id="11" name="Text 8"/>
          <p:cNvSpPr/>
          <p:nvPr/>
        </p:nvSpPr>
        <p:spPr>
          <a:xfrm>
            <a:off x="786384" y="5865876"/>
            <a:ext cx="1463040" cy="109728"/>
          </a:xfrm>
          <a:prstGeom prst="rect">
            <a:avLst/>
          </a:prstGeom>
          <a:noFill/>
          <a:ln/>
        </p:spPr>
        <p:txBody>
          <a:bodyPr wrap="square" lIns="0" tIns="0" rIns="0" bIns="0" rtlCol="0" anchor="ctr"/>
          <a:lstStyle/>
          <a:p>
            <a:pPr marL="0" indent="0" algn="ctr">
              <a:buNone/>
            </a:pPr>
            <a:r>
              <a:rPr lang="en-US" sz="750" b="1" dirty="0">
                <a:solidFill>
                  <a:srgbClr val="FFFFFF"/>
                </a:solidFill>
              </a:rPr>
              <a:t>Live seat availability</a:t>
            </a:r>
            <a:endParaRPr lang="en-US" sz="750" dirty="0"/>
          </a:p>
        </p:txBody>
      </p:sp>
      <p:sp>
        <p:nvSpPr>
          <p:cNvPr id="12" name="Shape 9"/>
          <p:cNvSpPr/>
          <p:nvPr/>
        </p:nvSpPr>
        <p:spPr>
          <a:xfrm>
            <a:off x="2615184" y="5797296"/>
            <a:ext cx="1645920" cy="292608"/>
          </a:xfrm>
          <a:prstGeom prst="roundRect">
            <a:avLst>
              <a:gd name="adj" fmla="val 25000"/>
            </a:avLst>
          </a:prstGeom>
          <a:solidFill>
            <a:srgbClr val="2563EB"/>
          </a:solidFill>
          <a:ln w="12700">
            <a:solidFill>
              <a:srgbClr val="2563EB"/>
            </a:solidFill>
            <a:prstDash val="solid"/>
          </a:ln>
          <a:effectLst>
            <a:outerShdw blurRad="12700" dist="6350" dir="2700000" algn="bl" rotWithShape="0">
              <a:srgbClr val="000000">
                <a:alpha val="10000"/>
              </a:srgbClr>
            </a:outerShdw>
          </a:effectLst>
        </p:spPr>
      </p:sp>
      <p:sp>
        <p:nvSpPr>
          <p:cNvPr id="13" name="Text 10"/>
          <p:cNvSpPr/>
          <p:nvPr/>
        </p:nvSpPr>
        <p:spPr>
          <a:xfrm>
            <a:off x="2706624" y="5865876"/>
            <a:ext cx="1463040" cy="109728"/>
          </a:xfrm>
          <a:prstGeom prst="rect">
            <a:avLst/>
          </a:prstGeom>
          <a:noFill/>
          <a:ln/>
        </p:spPr>
        <p:txBody>
          <a:bodyPr wrap="square" lIns="0" tIns="0" rIns="0" bIns="0" rtlCol="0" anchor="ctr"/>
          <a:lstStyle/>
          <a:p>
            <a:pPr marL="0" indent="0" algn="ctr">
              <a:buNone/>
            </a:pPr>
            <a:r>
              <a:rPr lang="en-US" sz="750" b="1" dirty="0">
                <a:solidFill>
                  <a:srgbClr val="FFFFFF"/>
                </a:solidFill>
              </a:rPr>
              <a:t>Team co-location</a:t>
            </a:r>
            <a:endParaRPr lang="en-US" sz="750" dirty="0"/>
          </a:p>
        </p:txBody>
      </p:sp>
      <p:sp>
        <p:nvSpPr>
          <p:cNvPr id="14" name="Shape 11"/>
          <p:cNvSpPr/>
          <p:nvPr/>
        </p:nvSpPr>
        <p:spPr>
          <a:xfrm>
            <a:off x="4535424" y="5797296"/>
            <a:ext cx="1645920" cy="292608"/>
          </a:xfrm>
          <a:prstGeom prst="roundRect">
            <a:avLst>
              <a:gd name="adj" fmla="val 25000"/>
            </a:avLst>
          </a:prstGeom>
          <a:solidFill>
            <a:srgbClr val="22C55E"/>
          </a:solidFill>
          <a:ln w="12700">
            <a:solidFill>
              <a:srgbClr val="22C55E"/>
            </a:solidFill>
            <a:prstDash val="solid"/>
          </a:ln>
          <a:effectLst>
            <a:outerShdw blurRad="12700" dist="6350" dir="2700000" algn="bl" rotWithShape="0">
              <a:srgbClr val="000000">
                <a:alpha val="10000"/>
              </a:srgbClr>
            </a:outerShdw>
          </a:effectLst>
        </p:spPr>
      </p:sp>
      <p:sp>
        <p:nvSpPr>
          <p:cNvPr id="15" name="Text 12"/>
          <p:cNvSpPr/>
          <p:nvPr/>
        </p:nvSpPr>
        <p:spPr>
          <a:xfrm>
            <a:off x="4626864" y="5865876"/>
            <a:ext cx="1463040" cy="109728"/>
          </a:xfrm>
          <a:prstGeom prst="rect">
            <a:avLst/>
          </a:prstGeom>
          <a:noFill/>
          <a:ln/>
        </p:spPr>
        <p:txBody>
          <a:bodyPr wrap="square" lIns="0" tIns="0" rIns="0" bIns="0" rtlCol="0" anchor="ctr"/>
          <a:lstStyle/>
          <a:p>
            <a:pPr marL="0" indent="0" algn="ctr">
              <a:buNone/>
            </a:pPr>
            <a:r>
              <a:rPr lang="en-US" sz="750" b="1" dirty="0">
                <a:solidFill>
                  <a:srgbClr val="FFFFFF"/>
                </a:solidFill>
              </a:rPr>
              <a:t>Auto-release unused seats</a:t>
            </a:r>
            <a:endParaRPr lang="en-US" sz="750" dirty="0"/>
          </a:p>
        </p:txBody>
      </p:sp>
      <p:sp>
        <p:nvSpPr>
          <p:cNvPr id="16" name="Shape 13"/>
          <p:cNvSpPr/>
          <p:nvPr/>
        </p:nvSpPr>
        <p:spPr>
          <a:xfrm>
            <a:off x="6455664" y="5797296"/>
            <a:ext cx="1645920" cy="292608"/>
          </a:xfrm>
          <a:prstGeom prst="roundRect">
            <a:avLst>
              <a:gd name="adj" fmla="val 25000"/>
            </a:avLst>
          </a:prstGeom>
          <a:solidFill>
            <a:srgbClr val="2563EB"/>
          </a:solidFill>
          <a:ln w="12700">
            <a:solidFill>
              <a:srgbClr val="2563EB"/>
            </a:solidFill>
            <a:prstDash val="solid"/>
          </a:ln>
          <a:effectLst>
            <a:outerShdw blurRad="12700" dist="6350" dir="2700000" algn="bl" rotWithShape="0">
              <a:srgbClr val="000000">
                <a:alpha val="10000"/>
              </a:srgbClr>
            </a:outerShdw>
          </a:effectLst>
        </p:spPr>
      </p:sp>
      <p:sp>
        <p:nvSpPr>
          <p:cNvPr id="17" name="Text 14"/>
          <p:cNvSpPr/>
          <p:nvPr/>
        </p:nvSpPr>
        <p:spPr>
          <a:xfrm>
            <a:off x="6547104" y="5865876"/>
            <a:ext cx="1463040" cy="109728"/>
          </a:xfrm>
          <a:prstGeom prst="rect">
            <a:avLst/>
          </a:prstGeom>
          <a:noFill/>
          <a:ln/>
        </p:spPr>
        <p:txBody>
          <a:bodyPr wrap="square" lIns="0" tIns="0" rIns="0" bIns="0" rtlCol="0" anchor="ctr"/>
          <a:lstStyle/>
          <a:p>
            <a:pPr marL="0" indent="0" algn="ctr">
              <a:buNone/>
            </a:pPr>
            <a:r>
              <a:rPr lang="en-US" sz="750" b="1" dirty="0">
                <a:solidFill>
                  <a:srgbClr val="FFFFFF"/>
                </a:solidFill>
              </a:rPr>
              <a:t>Facilities cost optimization</a:t>
            </a:r>
            <a:endParaRPr lang="en-US" sz="750" dirty="0"/>
          </a:p>
        </p:txBody>
      </p:sp>
      <p:sp>
        <p:nvSpPr>
          <p:cNvPr id="25"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66928" y="301752"/>
            <a:ext cx="8412480" cy="384048"/>
          </a:xfrm>
          <a:prstGeom prst="rect">
            <a:avLst/>
          </a:prstGeom>
          <a:noFill/>
          <a:ln/>
        </p:spPr>
        <p:txBody>
          <a:bodyPr wrap="square" lIns="0" tIns="0" rIns="0" bIns="0"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Executive overview</a:t>
            </a:r>
            <a:endParaRPr lang="en-US" sz="2300" dirty="0"/>
          </a:p>
        </p:txBody>
      </p:sp>
      <p:sp>
        <p:nvSpPr>
          <p:cNvPr id="4" name="Text 2"/>
          <p:cNvSpPr/>
          <p:nvPr/>
        </p:nvSpPr>
        <p:spPr>
          <a:xfrm>
            <a:off x="594360" y="749808"/>
            <a:ext cx="8138160" cy="237744"/>
          </a:xfrm>
          <a:prstGeom prst="rect">
            <a:avLst/>
          </a:prstGeom>
          <a:noFill/>
          <a:ln/>
        </p:spPr>
        <p:txBody>
          <a:bodyPr wrap="square" lIns="0" tIns="0" rIns="0" bIns="0" rtlCol="0" anchor="ctr"/>
          <a:lstStyle/>
          <a:p>
            <a:pPr marL="0" indent="0">
              <a:buNone/>
            </a:pPr>
            <a:r>
              <a:rPr lang="en-US" sz="980" dirty="0">
                <a:solidFill>
                  <a:srgbClr val="64748B"/>
                </a:solidFill>
              </a:rPr>
              <a:t>A single workplace intelligence layer for occupancy, allocation, and operations.</a:t>
            </a:r>
            <a:endParaRPr lang="en-US" sz="980" dirty="0"/>
          </a:p>
        </p:txBody>
      </p:sp>
      <p:sp>
        <p:nvSpPr>
          <p:cNvPr id="5" name="Shape 3"/>
          <p:cNvSpPr/>
          <p:nvPr/>
        </p:nvSpPr>
        <p:spPr>
          <a:xfrm>
            <a:off x="10927080" y="256032"/>
            <a:ext cx="658368" cy="658368"/>
          </a:xfrm>
          <a:prstGeom prst="arc">
            <a:avLst/>
          </a:prstGeom>
          <a:noFill/>
          <a:ln w="27940">
            <a:solidFill>
              <a:srgbClr val="14B8A6"/>
            </a:solidFill>
            <a:prstDash val="solid"/>
            <a:headEnd type="none"/>
            <a:tailEnd type="none"/>
          </a:ln>
        </p:spPr>
      </p:sp>
      <p:sp>
        <p:nvSpPr>
          <p:cNvPr id="6" name="Shape 4"/>
          <p:cNvSpPr/>
          <p:nvPr/>
        </p:nvSpPr>
        <p:spPr>
          <a:xfrm>
            <a:off x="11119104" y="429768"/>
            <a:ext cx="640080" cy="640080"/>
          </a:xfrm>
          <a:prstGeom prst="arc">
            <a:avLst/>
          </a:prstGeom>
          <a:noFill/>
          <a:ln w="27940">
            <a:solidFill>
              <a:srgbClr val="2563EB"/>
            </a:solidFill>
            <a:prstDash val="solid"/>
          </a:ln>
        </p:spPr>
      </p:sp>
      <p:sp>
        <p:nvSpPr>
          <p:cNvPr id="7" name="Shape 5"/>
          <p:cNvSpPr/>
          <p:nvPr/>
        </p:nvSpPr>
        <p:spPr>
          <a:xfrm>
            <a:off x="658368" y="1261872"/>
            <a:ext cx="2240280" cy="2057400"/>
          </a:xfrm>
          <a:prstGeom prst="roundRect">
            <a:avLst>
              <a:gd name="adj" fmla="val 5333"/>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8" name="Text 6"/>
          <p:cNvSpPr/>
          <p:nvPr/>
        </p:nvSpPr>
        <p:spPr>
          <a:xfrm>
            <a:off x="822960" y="1463040"/>
            <a:ext cx="1920240" cy="228600"/>
          </a:xfrm>
          <a:prstGeom prst="rect">
            <a:avLst/>
          </a:prstGeom>
          <a:noFill/>
          <a:ln/>
        </p:spPr>
        <p:txBody>
          <a:bodyPr wrap="square" lIns="0" tIns="0" rIns="0" bIns="0" rtlCol="0" anchor="ctr"/>
          <a:lstStyle/>
          <a:p>
            <a:pPr marL="0" indent="0">
              <a:buNone/>
            </a:pPr>
            <a:r>
              <a:rPr lang="en-US" sz="1300" b="1" dirty="0">
                <a:solidFill>
                  <a:srgbClr val="2563EB"/>
                </a:solidFill>
              </a:rPr>
              <a:t>Problem</a:t>
            </a:r>
            <a:endParaRPr lang="en-US" sz="1300" dirty="0"/>
          </a:p>
        </p:txBody>
      </p:sp>
      <p:sp>
        <p:nvSpPr>
          <p:cNvPr id="9" name="Text 7"/>
          <p:cNvSpPr/>
          <p:nvPr/>
        </p:nvSpPr>
        <p:spPr>
          <a:xfrm>
            <a:off x="822960" y="1874520"/>
            <a:ext cx="1874520" cy="822960"/>
          </a:xfrm>
          <a:prstGeom prst="rect">
            <a:avLst/>
          </a:prstGeom>
          <a:noFill/>
          <a:ln/>
        </p:spPr>
        <p:txBody>
          <a:bodyPr wrap="square" lIns="0" tIns="0" rIns="0" bIns="0" rtlCol="0" anchor="ctr">
            <a:normAutofit/>
          </a:bodyPr>
          <a:lstStyle/>
          <a:p>
            <a:pPr marL="0" indent="0">
              <a:buNone/>
            </a:pPr>
            <a:r>
              <a:rPr lang="en-US" sz="920" dirty="0">
                <a:solidFill>
                  <a:srgbClr val="475569"/>
                </a:solidFill>
              </a:rPr>
              <a:t>Static allocation does not reflect actual hybrid attendance or shift demand.</a:t>
            </a:r>
            <a:endParaRPr lang="en-US" sz="920" dirty="0"/>
          </a:p>
        </p:txBody>
      </p:sp>
      <p:sp>
        <p:nvSpPr>
          <p:cNvPr id="10" name="Shape 8"/>
          <p:cNvSpPr/>
          <p:nvPr/>
        </p:nvSpPr>
        <p:spPr>
          <a:xfrm>
            <a:off x="3200400" y="1261872"/>
            <a:ext cx="2240280" cy="2057400"/>
          </a:xfrm>
          <a:prstGeom prst="roundRect">
            <a:avLst>
              <a:gd name="adj" fmla="val 5333"/>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11" name="Text 9"/>
          <p:cNvSpPr/>
          <p:nvPr/>
        </p:nvSpPr>
        <p:spPr>
          <a:xfrm>
            <a:off x="3364992" y="1463040"/>
            <a:ext cx="1920240" cy="228600"/>
          </a:xfrm>
          <a:prstGeom prst="rect">
            <a:avLst/>
          </a:prstGeom>
          <a:noFill/>
          <a:ln/>
        </p:spPr>
        <p:txBody>
          <a:bodyPr wrap="square" lIns="0" tIns="0" rIns="0" bIns="0" rtlCol="0" anchor="ctr"/>
          <a:lstStyle/>
          <a:p>
            <a:pPr marL="0" indent="0">
              <a:buNone/>
            </a:pPr>
            <a:r>
              <a:rPr lang="en-US" sz="1300" b="1" dirty="0">
                <a:solidFill>
                  <a:srgbClr val="14B8A6"/>
                </a:solidFill>
              </a:rPr>
              <a:t>Approach</a:t>
            </a:r>
            <a:endParaRPr lang="en-US" sz="1300" dirty="0"/>
          </a:p>
        </p:txBody>
      </p:sp>
      <p:sp>
        <p:nvSpPr>
          <p:cNvPr id="12" name="Text 10"/>
          <p:cNvSpPr/>
          <p:nvPr/>
        </p:nvSpPr>
        <p:spPr>
          <a:xfrm>
            <a:off x="3364992" y="1874520"/>
            <a:ext cx="1874520" cy="822960"/>
          </a:xfrm>
          <a:prstGeom prst="rect">
            <a:avLst/>
          </a:prstGeom>
          <a:noFill/>
          <a:ln/>
        </p:spPr>
        <p:txBody>
          <a:bodyPr wrap="square" lIns="0" tIns="0" rIns="0" bIns="0" rtlCol="0" anchor="ctr">
            <a:normAutofit/>
          </a:bodyPr>
          <a:lstStyle/>
          <a:p>
            <a:pPr marL="0" indent="0">
              <a:buNone/>
            </a:pPr>
            <a:r>
              <a:rPr lang="en-US" sz="920" dirty="0">
                <a:solidFill>
                  <a:srgbClr val="475569"/>
                </a:solidFill>
              </a:rPr>
              <a:t>Fuse QR scan, ID swipe, LAN connection, calendar context, and reminders.</a:t>
            </a:r>
            <a:endParaRPr lang="en-US" sz="920" dirty="0"/>
          </a:p>
        </p:txBody>
      </p:sp>
      <p:sp>
        <p:nvSpPr>
          <p:cNvPr id="13" name="Shape 11"/>
          <p:cNvSpPr/>
          <p:nvPr/>
        </p:nvSpPr>
        <p:spPr>
          <a:xfrm>
            <a:off x="5742432" y="1261872"/>
            <a:ext cx="2240280" cy="2057400"/>
          </a:xfrm>
          <a:prstGeom prst="roundRect">
            <a:avLst>
              <a:gd name="adj" fmla="val 5333"/>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14" name="Text 12"/>
          <p:cNvSpPr/>
          <p:nvPr/>
        </p:nvSpPr>
        <p:spPr>
          <a:xfrm>
            <a:off x="5907024" y="1463040"/>
            <a:ext cx="1920240" cy="228600"/>
          </a:xfrm>
          <a:prstGeom prst="rect">
            <a:avLst/>
          </a:prstGeom>
          <a:noFill/>
          <a:ln/>
        </p:spPr>
        <p:txBody>
          <a:bodyPr wrap="square" lIns="0" tIns="0" rIns="0" bIns="0" rtlCol="0" anchor="ctr"/>
          <a:lstStyle/>
          <a:p>
            <a:pPr marL="0" indent="0">
              <a:buNone/>
            </a:pPr>
            <a:r>
              <a:rPr lang="en-US" sz="1300" b="1" dirty="0">
                <a:solidFill>
                  <a:srgbClr val="8B5CF6"/>
                </a:solidFill>
              </a:rPr>
              <a:t>Decision logic</a:t>
            </a:r>
            <a:endParaRPr lang="en-US" sz="1300" dirty="0"/>
          </a:p>
        </p:txBody>
      </p:sp>
      <p:sp>
        <p:nvSpPr>
          <p:cNvPr id="15" name="Text 13"/>
          <p:cNvSpPr/>
          <p:nvPr/>
        </p:nvSpPr>
        <p:spPr>
          <a:xfrm>
            <a:off x="5907024" y="1874520"/>
            <a:ext cx="1874520" cy="822960"/>
          </a:xfrm>
          <a:prstGeom prst="rect">
            <a:avLst/>
          </a:prstGeom>
          <a:noFill/>
          <a:ln/>
        </p:spPr>
        <p:txBody>
          <a:bodyPr wrap="square" lIns="0" tIns="0" rIns="0" bIns="0" rtlCol="0" anchor="ctr">
            <a:normAutofit/>
          </a:bodyPr>
          <a:lstStyle/>
          <a:p>
            <a:pPr marL="0" indent="0">
              <a:buNone/>
            </a:pPr>
            <a:r>
              <a:rPr lang="en-US" sz="920" dirty="0">
                <a:solidFill>
                  <a:srgbClr val="475569"/>
                </a:solidFill>
              </a:rPr>
              <a:t>Keep seats occupied only when the employee is actually using or intentionally holding the desk.</a:t>
            </a:r>
            <a:endParaRPr lang="en-US" sz="920" dirty="0"/>
          </a:p>
        </p:txBody>
      </p:sp>
      <p:sp>
        <p:nvSpPr>
          <p:cNvPr id="16" name="Shape 14"/>
          <p:cNvSpPr/>
          <p:nvPr/>
        </p:nvSpPr>
        <p:spPr>
          <a:xfrm>
            <a:off x="8284464" y="1261872"/>
            <a:ext cx="2240280" cy="2057400"/>
          </a:xfrm>
          <a:prstGeom prst="roundRect">
            <a:avLst>
              <a:gd name="adj" fmla="val 5333"/>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17" name="Text 15"/>
          <p:cNvSpPr/>
          <p:nvPr/>
        </p:nvSpPr>
        <p:spPr>
          <a:xfrm>
            <a:off x="8449056" y="1463040"/>
            <a:ext cx="1920240" cy="228600"/>
          </a:xfrm>
          <a:prstGeom prst="rect">
            <a:avLst/>
          </a:prstGeom>
          <a:noFill/>
          <a:ln/>
        </p:spPr>
        <p:txBody>
          <a:bodyPr wrap="square" lIns="0" tIns="0" rIns="0" bIns="0" rtlCol="0" anchor="ctr"/>
          <a:lstStyle/>
          <a:p>
            <a:pPr marL="0" indent="0">
              <a:buNone/>
            </a:pPr>
            <a:r>
              <a:rPr lang="en-US" sz="1300" b="1" dirty="0">
                <a:solidFill>
                  <a:srgbClr val="22C55E"/>
                </a:solidFill>
              </a:rPr>
              <a:t>Business value</a:t>
            </a:r>
            <a:endParaRPr lang="en-US" sz="1300" dirty="0"/>
          </a:p>
        </p:txBody>
      </p:sp>
      <p:sp>
        <p:nvSpPr>
          <p:cNvPr id="18" name="Text 16"/>
          <p:cNvSpPr/>
          <p:nvPr/>
        </p:nvSpPr>
        <p:spPr>
          <a:xfrm>
            <a:off x="8449056" y="1874520"/>
            <a:ext cx="1874520" cy="822960"/>
          </a:xfrm>
          <a:prstGeom prst="rect">
            <a:avLst/>
          </a:prstGeom>
          <a:noFill/>
          <a:ln/>
        </p:spPr>
        <p:txBody>
          <a:bodyPr wrap="square" lIns="0" tIns="0" rIns="0" bIns="0" rtlCol="0" anchor="ctr">
            <a:normAutofit/>
          </a:bodyPr>
          <a:lstStyle/>
          <a:p>
            <a:pPr marL="0" indent="0">
              <a:buNone/>
            </a:pPr>
            <a:r>
              <a:rPr lang="en-US" sz="920" dirty="0">
                <a:solidFill>
                  <a:srgbClr val="475569"/>
                </a:solidFill>
              </a:rPr>
              <a:t>Improve employee seat discovery while reducing wasted desks and facility spend.</a:t>
            </a:r>
            <a:endParaRPr lang="en-US" sz="920" dirty="0"/>
          </a:p>
        </p:txBody>
      </p:sp>
      <p:sp>
        <p:nvSpPr>
          <p:cNvPr id="19" name="Shape 17"/>
          <p:cNvSpPr/>
          <p:nvPr/>
        </p:nvSpPr>
        <p:spPr>
          <a:xfrm>
            <a:off x="868680" y="4160520"/>
            <a:ext cx="2011680" cy="621792"/>
          </a:xfrm>
          <a:prstGeom prst="roundRect">
            <a:avLst>
              <a:gd name="adj" fmla="val 17647"/>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20" name="Text 18"/>
          <p:cNvSpPr/>
          <p:nvPr/>
        </p:nvSpPr>
        <p:spPr>
          <a:xfrm>
            <a:off x="1005840" y="4270248"/>
            <a:ext cx="1737360" cy="201168"/>
          </a:xfrm>
          <a:prstGeom prst="rect">
            <a:avLst/>
          </a:prstGeom>
          <a:noFill/>
          <a:ln/>
        </p:spPr>
        <p:txBody>
          <a:bodyPr wrap="square" lIns="0" tIns="0" rIns="0" bIns="0" rtlCol="0" anchor="ctr"/>
          <a:lstStyle/>
          <a:p>
            <a:pPr marL="0" indent="0" algn="ctr">
              <a:buNone/>
            </a:pPr>
            <a:r>
              <a:rPr lang="en-US" sz="1700" b="1" dirty="0">
                <a:solidFill>
                  <a:srgbClr val="2563EB"/>
                </a:solidFill>
              </a:rPr>
              <a:t>20–30%</a:t>
            </a:r>
            <a:endParaRPr lang="en-US" sz="1700" dirty="0"/>
          </a:p>
        </p:txBody>
      </p:sp>
      <p:sp>
        <p:nvSpPr>
          <p:cNvPr id="21" name="Text 19"/>
          <p:cNvSpPr/>
          <p:nvPr/>
        </p:nvSpPr>
        <p:spPr>
          <a:xfrm>
            <a:off x="1033272" y="4544568"/>
            <a:ext cx="1682496" cy="146304"/>
          </a:xfrm>
          <a:prstGeom prst="rect">
            <a:avLst/>
          </a:prstGeom>
          <a:noFill/>
          <a:ln/>
        </p:spPr>
        <p:txBody>
          <a:bodyPr wrap="square" lIns="0" tIns="0" rIns="0" bIns="0" rtlCol="0" anchor="ctr"/>
          <a:lstStyle/>
          <a:p>
            <a:pPr marL="0" indent="0" algn="ctr">
              <a:buNone/>
            </a:pPr>
            <a:r>
              <a:rPr lang="en-US" sz="730" dirty="0">
                <a:solidFill>
                  <a:srgbClr val="64748B"/>
                </a:solidFill>
              </a:rPr>
              <a:t>Desk inventory optimization</a:t>
            </a:r>
            <a:endParaRPr lang="en-US" sz="730" dirty="0"/>
          </a:p>
        </p:txBody>
      </p:sp>
      <p:sp>
        <p:nvSpPr>
          <p:cNvPr id="22" name="Shape 20"/>
          <p:cNvSpPr/>
          <p:nvPr/>
        </p:nvSpPr>
        <p:spPr>
          <a:xfrm>
            <a:off x="3154680" y="4160520"/>
            <a:ext cx="2011680" cy="621792"/>
          </a:xfrm>
          <a:prstGeom prst="roundRect">
            <a:avLst>
              <a:gd name="adj" fmla="val 17647"/>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23" name="Text 21"/>
          <p:cNvSpPr/>
          <p:nvPr/>
        </p:nvSpPr>
        <p:spPr>
          <a:xfrm>
            <a:off x="3291840" y="4270248"/>
            <a:ext cx="1737360" cy="201168"/>
          </a:xfrm>
          <a:prstGeom prst="rect">
            <a:avLst/>
          </a:prstGeom>
          <a:noFill/>
          <a:ln/>
        </p:spPr>
        <p:txBody>
          <a:bodyPr wrap="square" lIns="0" tIns="0" rIns="0" bIns="0" rtlCol="0" anchor="ctr"/>
          <a:lstStyle/>
          <a:p>
            <a:pPr marL="0" indent="0" algn="ctr">
              <a:buNone/>
            </a:pPr>
            <a:r>
              <a:rPr lang="en-US" sz="1700" b="1" dirty="0">
                <a:solidFill>
                  <a:srgbClr val="22C55E"/>
                </a:solidFill>
              </a:rPr>
              <a:t>10–18%</a:t>
            </a:r>
            <a:endParaRPr lang="en-US" sz="1700" dirty="0"/>
          </a:p>
        </p:txBody>
      </p:sp>
      <p:sp>
        <p:nvSpPr>
          <p:cNvPr id="24" name="Text 22"/>
          <p:cNvSpPr/>
          <p:nvPr/>
        </p:nvSpPr>
        <p:spPr>
          <a:xfrm>
            <a:off x="3319272" y="4544568"/>
            <a:ext cx="1682496" cy="146304"/>
          </a:xfrm>
          <a:prstGeom prst="rect">
            <a:avLst/>
          </a:prstGeom>
          <a:noFill/>
          <a:ln/>
        </p:spPr>
        <p:txBody>
          <a:bodyPr wrap="square" lIns="0" tIns="0" rIns="0" bIns="0" rtlCol="0" anchor="ctr"/>
          <a:lstStyle/>
          <a:p>
            <a:pPr marL="0" indent="0" algn="ctr">
              <a:buNone/>
            </a:pPr>
            <a:r>
              <a:rPr lang="en-US" sz="730" dirty="0">
                <a:solidFill>
                  <a:srgbClr val="64748B"/>
                </a:solidFill>
              </a:rPr>
              <a:t>Ops cost reduction potential</a:t>
            </a:r>
            <a:endParaRPr lang="en-US" sz="730" dirty="0"/>
          </a:p>
        </p:txBody>
      </p:sp>
      <p:sp>
        <p:nvSpPr>
          <p:cNvPr id="25" name="Shape 23"/>
          <p:cNvSpPr/>
          <p:nvPr/>
        </p:nvSpPr>
        <p:spPr>
          <a:xfrm>
            <a:off x="5440680" y="4160520"/>
            <a:ext cx="2011680" cy="621792"/>
          </a:xfrm>
          <a:prstGeom prst="roundRect">
            <a:avLst>
              <a:gd name="adj" fmla="val 17647"/>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26" name="Text 24"/>
          <p:cNvSpPr/>
          <p:nvPr/>
        </p:nvSpPr>
        <p:spPr>
          <a:xfrm>
            <a:off x="5577840" y="4270248"/>
            <a:ext cx="1737360" cy="201168"/>
          </a:xfrm>
          <a:prstGeom prst="rect">
            <a:avLst/>
          </a:prstGeom>
          <a:noFill/>
          <a:ln/>
        </p:spPr>
        <p:txBody>
          <a:bodyPr wrap="square" lIns="0" tIns="0" rIns="0" bIns="0" rtlCol="0" anchor="ctr"/>
          <a:lstStyle/>
          <a:p>
            <a:pPr marL="0" indent="0" algn="ctr">
              <a:buNone/>
            </a:pPr>
            <a:r>
              <a:rPr lang="en-US" sz="1700" b="1" dirty="0">
                <a:solidFill>
                  <a:srgbClr val="F59E0B"/>
                </a:solidFill>
              </a:rPr>
              <a:t>45 min</a:t>
            </a:r>
            <a:endParaRPr lang="en-US" sz="1700" dirty="0"/>
          </a:p>
        </p:txBody>
      </p:sp>
      <p:sp>
        <p:nvSpPr>
          <p:cNvPr id="27" name="Text 25"/>
          <p:cNvSpPr/>
          <p:nvPr/>
        </p:nvSpPr>
        <p:spPr>
          <a:xfrm>
            <a:off x="5605272" y="4544568"/>
            <a:ext cx="1682496" cy="146304"/>
          </a:xfrm>
          <a:prstGeom prst="rect">
            <a:avLst/>
          </a:prstGeom>
          <a:noFill/>
          <a:ln/>
        </p:spPr>
        <p:txBody>
          <a:bodyPr wrap="square" lIns="0" tIns="0" rIns="0" bIns="0" rtlCol="0" anchor="ctr"/>
          <a:lstStyle/>
          <a:p>
            <a:pPr marL="0" indent="0" algn="ctr">
              <a:buNone/>
            </a:pPr>
            <a:r>
              <a:rPr lang="en-US" sz="730" dirty="0">
                <a:solidFill>
                  <a:srgbClr val="64748B"/>
                </a:solidFill>
              </a:rPr>
              <a:t>No-show release policy</a:t>
            </a:r>
            <a:endParaRPr lang="en-US" sz="730" dirty="0"/>
          </a:p>
        </p:txBody>
      </p:sp>
      <p:sp>
        <p:nvSpPr>
          <p:cNvPr id="28" name="Shape 26"/>
          <p:cNvSpPr/>
          <p:nvPr/>
        </p:nvSpPr>
        <p:spPr>
          <a:xfrm>
            <a:off x="7726680" y="4160520"/>
            <a:ext cx="2011680" cy="621792"/>
          </a:xfrm>
          <a:prstGeom prst="roundRect">
            <a:avLst>
              <a:gd name="adj" fmla="val 17647"/>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29" name="Text 27"/>
          <p:cNvSpPr/>
          <p:nvPr/>
        </p:nvSpPr>
        <p:spPr>
          <a:xfrm>
            <a:off x="7863840" y="4270248"/>
            <a:ext cx="1737360" cy="201168"/>
          </a:xfrm>
          <a:prstGeom prst="rect">
            <a:avLst/>
          </a:prstGeom>
          <a:noFill/>
          <a:ln/>
        </p:spPr>
        <p:txBody>
          <a:bodyPr wrap="square" lIns="0" tIns="0" rIns="0" bIns="0" rtlCol="0" anchor="ctr"/>
          <a:lstStyle/>
          <a:p>
            <a:pPr marL="0" indent="0" algn="ctr">
              <a:buNone/>
            </a:pPr>
            <a:r>
              <a:rPr lang="en-US" sz="1700" b="1" dirty="0">
                <a:solidFill>
                  <a:srgbClr val="8B5CF6"/>
                </a:solidFill>
              </a:rPr>
              <a:t>5</a:t>
            </a:r>
            <a:endParaRPr lang="en-US" sz="1700" dirty="0"/>
          </a:p>
        </p:txBody>
      </p:sp>
      <p:sp>
        <p:nvSpPr>
          <p:cNvPr id="30" name="Text 28"/>
          <p:cNvSpPr/>
          <p:nvPr/>
        </p:nvSpPr>
        <p:spPr>
          <a:xfrm>
            <a:off x="7891272" y="4544568"/>
            <a:ext cx="1682496" cy="146304"/>
          </a:xfrm>
          <a:prstGeom prst="rect">
            <a:avLst/>
          </a:prstGeom>
          <a:noFill/>
          <a:ln/>
        </p:spPr>
        <p:txBody>
          <a:bodyPr wrap="square" lIns="0" tIns="0" rIns="0" bIns="0" rtlCol="0" anchor="ctr"/>
          <a:lstStyle/>
          <a:p>
            <a:pPr marL="0" indent="0" algn="ctr">
              <a:buNone/>
            </a:pPr>
            <a:r>
              <a:rPr lang="en-US" sz="730" dirty="0">
                <a:solidFill>
                  <a:srgbClr val="64748B"/>
                </a:solidFill>
              </a:rPr>
              <a:t>Primary validation signals</a:t>
            </a:r>
            <a:endParaRPr lang="en-US" sz="730" dirty="0"/>
          </a:p>
        </p:txBody>
      </p:sp>
      <p:sp>
        <p:nvSpPr>
          <p:cNvPr id="31" name="Text 29"/>
          <p:cNvSpPr/>
          <p:nvPr/>
        </p:nvSpPr>
        <p:spPr>
          <a:xfrm>
            <a:off x="868680" y="5074920"/>
            <a:ext cx="9235440" cy="347472"/>
          </a:xfrm>
          <a:prstGeom prst="rect">
            <a:avLst/>
          </a:prstGeom>
          <a:noFill/>
          <a:ln/>
        </p:spPr>
        <p:txBody>
          <a:bodyPr wrap="square" lIns="0" tIns="0" rIns="0" bIns="0" rtlCol="0" anchor="ctr"/>
          <a:lstStyle/>
          <a:p>
            <a:pPr marL="0" indent="0">
              <a:buNone/>
            </a:pPr>
            <a:r>
              <a:rPr lang="en-US" sz="870" i="1" dirty="0">
                <a:solidFill>
                  <a:srgbClr val="64748B"/>
                </a:solidFill>
              </a:rPr>
              <a:t>Cost figures are an estimate range for business-case discussion. Final value should be validated using actual desk count, lease/opex, utility, housekeeping, pantry, and adoption data.</a:t>
            </a:r>
            <a:endParaRPr lang="en-US" sz="870" dirty="0"/>
          </a:p>
        </p:txBody>
      </p:sp>
      <p:sp>
        <p:nvSpPr>
          <p:cNvPr id="32"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66928" y="301752"/>
            <a:ext cx="8412480" cy="384048"/>
          </a:xfrm>
          <a:prstGeom prst="rect">
            <a:avLst/>
          </a:prstGeom>
          <a:noFill/>
          <a:ln/>
        </p:spPr>
        <p:txBody>
          <a:bodyPr wrap="square" lIns="0" tIns="0" rIns="0" bIns="0"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Why this is needed</a:t>
            </a:r>
            <a:endParaRPr lang="en-US" sz="2300" dirty="0"/>
          </a:p>
        </p:txBody>
      </p:sp>
      <p:sp>
        <p:nvSpPr>
          <p:cNvPr id="4" name="Text 2"/>
          <p:cNvSpPr/>
          <p:nvPr/>
        </p:nvSpPr>
        <p:spPr>
          <a:xfrm>
            <a:off x="594360" y="749808"/>
            <a:ext cx="8138160" cy="237744"/>
          </a:xfrm>
          <a:prstGeom prst="rect">
            <a:avLst/>
          </a:prstGeom>
          <a:noFill/>
          <a:ln/>
        </p:spPr>
        <p:txBody>
          <a:bodyPr wrap="square" lIns="0" tIns="0" rIns="0" bIns="0" rtlCol="0" anchor="ctr"/>
          <a:lstStyle/>
          <a:p>
            <a:pPr marL="0" indent="0">
              <a:buNone/>
            </a:pPr>
            <a:r>
              <a:rPr lang="en-US" sz="980" dirty="0">
                <a:solidFill>
                  <a:srgbClr val="64748B"/>
                </a:solidFill>
              </a:rPr>
              <a:t>Hybrid attendance creates avoidable space waste unless office seating is managed using actual usage signals.</a:t>
            </a:r>
            <a:endParaRPr lang="en-US" sz="980" dirty="0"/>
          </a:p>
        </p:txBody>
      </p:sp>
      <p:sp>
        <p:nvSpPr>
          <p:cNvPr id="5" name="Shape 3"/>
          <p:cNvSpPr/>
          <p:nvPr/>
        </p:nvSpPr>
        <p:spPr>
          <a:xfrm>
            <a:off x="10927080" y="256032"/>
            <a:ext cx="658368" cy="658368"/>
          </a:xfrm>
          <a:prstGeom prst="arc">
            <a:avLst/>
          </a:prstGeom>
          <a:noFill/>
          <a:ln w="27940">
            <a:solidFill>
              <a:srgbClr val="14B8A6"/>
            </a:solidFill>
            <a:prstDash val="solid"/>
            <a:headEnd type="none"/>
            <a:tailEnd type="none"/>
          </a:ln>
        </p:spPr>
      </p:sp>
      <p:sp>
        <p:nvSpPr>
          <p:cNvPr id="6" name="Shape 4"/>
          <p:cNvSpPr/>
          <p:nvPr/>
        </p:nvSpPr>
        <p:spPr>
          <a:xfrm>
            <a:off x="11119104" y="429768"/>
            <a:ext cx="640080" cy="640080"/>
          </a:xfrm>
          <a:prstGeom prst="arc">
            <a:avLst/>
          </a:prstGeom>
          <a:noFill/>
          <a:ln w="27940">
            <a:solidFill>
              <a:srgbClr val="2563EB"/>
            </a:solidFill>
            <a:prstDash val="solid"/>
          </a:ln>
        </p:spPr>
      </p:sp>
      <p:sp>
        <p:nvSpPr>
          <p:cNvPr id="7" name="Shape 5"/>
          <p:cNvSpPr/>
          <p:nvPr/>
        </p:nvSpPr>
        <p:spPr>
          <a:xfrm>
            <a:off x="694944" y="1207008"/>
            <a:ext cx="4800600" cy="4892040"/>
          </a:xfrm>
          <a:prstGeom prst="roundRect">
            <a:avLst>
              <a:gd name="adj" fmla="val 2286"/>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8" name="Text 6"/>
          <p:cNvSpPr/>
          <p:nvPr/>
        </p:nvSpPr>
        <p:spPr>
          <a:xfrm>
            <a:off x="960120" y="1481328"/>
            <a:ext cx="4114800" cy="274320"/>
          </a:xfrm>
          <a:prstGeom prst="rect">
            <a:avLst/>
          </a:prstGeom>
          <a:noFill/>
          <a:ln/>
        </p:spPr>
        <p:txBody>
          <a:bodyPr wrap="square" lIns="0" tIns="0" rIns="0" bIns="0" rtlCol="0" anchor="ctr"/>
          <a:lstStyle/>
          <a:p>
            <a:pPr marL="0" indent="0">
              <a:buNone/>
            </a:pPr>
            <a:r>
              <a:rPr lang="en-US" sz="1700" b="1" dirty="0">
                <a:solidFill>
                  <a:srgbClr val="0F172A"/>
                </a:solidFill>
              </a:rPr>
              <a:t>Current challenges</a:t>
            </a:r>
            <a:endParaRPr lang="en-US" sz="1700" dirty="0"/>
          </a:p>
        </p:txBody>
      </p:sp>
      <p:sp>
        <p:nvSpPr>
          <p:cNvPr id="9" name="Shape 7"/>
          <p:cNvSpPr/>
          <p:nvPr/>
        </p:nvSpPr>
        <p:spPr>
          <a:xfrm>
            <a:off x="960120" y="2007108"/>
            <a:ext cx="100584" cy="100584"/>
          </a:xfrm>
          <a:prstGeom prst="ellipse">
            <a:avLst/>
          </a:prstGeom>
          <a:solidFill>
            <a:srgbClr val="EF4444"/>
          </a:solidFill>
          <a:ln w="12700">
            <a:solidFill>
              <a:srgbClr val="EF4444"/>
            </a:solidFill>
            <a:prstDash val="solid"/>
          </a:ln>
        </p:spPr>
      </p:sp>
      <p:sp>
        <p:nvSpPr>
          <p:cNvPr id="10" name="Text 8"/>
          <p:cNvSpPr/>
          <p:nvPr/>
        </p:nvSpPr>
        <p:spPr>
          <a:xfrm>
            <a:off x="1143000" y="1965960"/>
            <a:ext cx="420624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Cab booking is useful but incomplete because employees may use personal commute.</a:t>
            </a:r>
            <a:endParaRPr lang="en-US" sz="930" dirty="0"/>
          </a:p>
        </p:txBody>
      </p:sp>
      <p:sp>
        <p:nvSpPr>
          <p:cNvPr id="11" name="Shape 9"/>
          <p:cNvSpPr/>
          <p:nvPr/>
        </p:nvSpPr>
        <p:spPr>
          <a:xfrm>
            <a:off x="960120" y="2574036"/>
            <a:ext cx="100584" cy="100584"/>
          </a:xfrm>
          <a:prstGeom prst="ellipse">
            <a:avLst/>
          </a:prstGeom>
          <a:solidFill>
            <a:srgbClr val="EF4444"/>
          </a:solidFill>
          <a:ln w="12700">
            <a:solidFill>
              <a:srgbClr val="EF4444"/>
            </a:solidFill>
            <a:prstDash val="solid"/>
          </a:ln>
        </p:spPr>
      </p:sp>
      <p:sp>
        <p:nvSpPr>
          <p:cNvPr id="12" name="Text 10"/>
          <p:cNvSpPr/>
          <p:nvPr/>
        </p:nvSpPr>
        <p:spPr>
          <a:xfrm>
            <a:off x="1143000" y="2532888"/>
            <a:ext cx="420624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Assigned/static seats do not reveal real occupancy or no-shows.</a:t>
            </a:r>
            <a:endParaRPr lang="en-US" sz="930" dirty="0"/>
          </a:p>
        </p:txBody>
      </p:sp>
      <p:sp>
        <p:nvSpPr>
          <p:cNvPr id="13" name="Shape 11"/>
          <p:cNvSpPr/>
          <p:nvPr/>
        </p:nvSpPr>
        <p:spPr>
          <a:xfrm>
            <a:off x="960120" y="3140964"/>
            <a:ext cx="100584" cy="100584"/>
          </a:xfrm>
          <a:prstGeom prst="ellipse">
            <a:avLst/>
          </a:prstGeom>
          <a:solidFill>
            <a:srgbClr val="2563EB"/>
          </a:solidFill>
          <a:ln w="12700">
            <a:solidFill>
              <a:srgbClr val="2563EB"/>
            </a:solidFill>
            <a:prstDash val="solid"/>
          </a:ln>
        </p:spPr>
      </p:sp>
      <p:sp>
        <p:nvSpPr>
          <p:cNvPr id="14" name="Text 12"/>
          <p:cNvSpPr/>
          <p:nvPr/>
        </p:nvSpPr>
        <p:spPr>
          <a:xfrm>
            <a:off x="1143000" y="3099816"/>
            <a:ext cx="420624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Managers lack a practical view of where team members are seated.</a:t>
            </a:r>
            <a:endParaRPr lang="en-US" sz="930" dirty="0"/>
          </a:p>
        </p:txBody>
      </p:sp>
      <p:sp>
        <p:nvSpPr>
          <p:cNvPr id="15" name="Shape 13"/>
          <p:cNvSpPr/>
          <p:nvPr/>
        </p:nvSpPr>
        <p:spPr>
          <a:xfrm>
            <a:off x="960120" y="3707892"/>
            <a:ext cx="100584" cy="100584"/>
          </a:xfrm>
          <a:prstGeom prst="ellipse">
            <a:avLst/>
          </a:prstGeom>
          <a:solidFill>
            <a:srgbClr val="2563EB"/>
          </a:solidFill>
          <a:ln w="12700">
            <a:solidFill>
              <a:srgbClr val="2563EB"/>
            </a:solidFill>
            <a:prstDash val="solid"/>
          </a:ln>
        </p:spPr>
      </p:sp>
      <p:sp>
        <p:nvSpPr>
          <p:cNvPr id="16" name="Text 14"/>
          <p:cNvSpPr/>
          <p:nvPr/>
        </p:nvSpPr>
        <p:spPr>
          <a:xfrm>
            <a:off x="1143000" y="3666744"/>
            <a:ext cx="420624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Facilities operate power, HVAC, pantry, and housekeeping without zone-level demand intelligence.</a:t>
            </a:r>
            <a:endParaRPr lang="en-US" sz="930" dirty="0"/>
          </a:p>
        </p:txBody>
      </p:sp>
      <p:sp>
        <p:nvSpPr>
          <p:cNvPr id="17" name="Shape 15"/>
          <p:cNvSpPr/>
          <p:nvPr/>
        </p:nvSpPr>
        <p:spPr>
          <a:xfrm>
            <a:off x="960120" y="4274820"/>
            <a:ext cx="100584" cy="100584"/>
          </a:xfrm>
          <a:prstGeom prst="ellipse">
            <a:avLst/>
          </a:prstGeom>
          <a:solidFill>
            <a:srgbClr val="2563EB"/>
          </a:solidFill>
          <a:ln w="12700">
            <a:solidFill>
              <a:srgbClr val="2563EB"/>
            </a:solidFill>
            <a:prstDash val="solid"/>
          </a:ln>
        </p:spPr>
      </p:sp>
      <p:sp>
        <p:nvSpPr>
          <p:cNvPr id="18" name="Text 16"/>
          <p:cNvSpPr/>
          <p:nvPr/>
        </p:nvSpPr>
        <p:spPr>
          <a:xfrm>
            <a:off x="1143000" y="4233672"/>
            <a:ext cx="420624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Access violations require manual validation and follow-up.</a:t>
            </a:r>
            <a:endParaRPr lang="en-US" sz="930" dirty="0"/>
          </a:p>
        </p:txBody>
      </p:sp>
      <p:sp>
        <p:nvSpPr>
          <p:cNvPr id="19" name="Shape 17"/>
          <p:cNvSpPr/>
          <p:nvPr/>
        </p:nvSpPr>
        <p:spPr>
          <a:xfrm>
            <a:off x="5806440" y="1207008"/>
            <a:ext cx="5394960" cy="4892040"/>
          </a:xfrm>
          <a:prstGeom prst="roundRect">
            <a:avLst>
              <a:gd name="adj" fmla="val 2243"/>
            </a:avLst>
          </a:prstGeom>
          <a:solidFill>
            <a:srgbClr val="EFF6FF"/>
          </a:solidFill>
          <a:ln w="8890">
            <a:solidFill>
              <a:srgbClr val="E2E8F0"/>
            </a:solidFill>
            <a:prstDash val="solid"/>
          </a:ln>
          <a:effectLst>
            <a:outerShdw blurRad="19050" dist="8890" dir="2700000" algn="bl" rotWithShape="0">
              <a:srgbClr val="000000">
                <a:alpha val="10000"/>
              </a:srgbClr>
            </a:outerShdw>
          </a:effectLst>
        </p:spPr>
      </p:sp>
      <p:sp>
        <p:nvSpPr>
          <p:cNvPr id="20" name="Text 18"/>
          <p:cNvSpPr/>
          <p:nvPr/>
        </p:nvSpPr>
        <p:spPr>
          <a:xfrm>
            <a:off x="6108192" y="1481328"/>
            <a:ext cx="4114800" cy="274320"/>
          </a:xfrm>
          <a:prstGeom prst="rect">
            <a:avLst/>
          </a:prstGeom>
          <a:noFill/>
          <a:ln/>
        </p:spPr>
        <p:txBody>
          <a:bodyPr wrap="square" lIns="0" tIns="0" rIns="0" bIns="0" rtlCol="0" anchor="ctr"/>
          <a:lstStyle/>
          <a:p>
            <a:pPr marL="0" indent="0">
              <a:buNone/>
            </a:pPr>
            <a:r>
              <a:rPr lang="en-US" sz="1700" b="1" dirty="0">
                <a:solidFill>
                  <a:srgbClr val="2563EB"/>
                </a:solidFill>
              </a:rPr>
              <a:t>Opportunity</a:t>
            </a:r>
            <a:endParaRPr lang="en-US" sz="1700" dirty="0"/>
          </a:p>
        </p:txBody>
      </p:sp>
      <p:sp>
        <p:nvSpPr>
          <p:cNvPr id="21" name="Shape 19"/>
          <p:cNvSpPr/>
          <p:nvPr/>
        </p:nvSpPr>
        <p:spPr>
          <a:xfrm>
            <a:off x="6144768" y="2007108"/>
            <a:ext cx="100584" cy="100584"/>
          </a:xfrm>
          <a:prstGeom prst="ellipse">
            <a:avLst/>
          </a:prstGeom>
          <a:solidFill>
            <a:srgbClr val="22C55E"/>
          </a:solidFill>
          <a:ln w="12700">
            <a:solidFill>
              <a:srgbClr val="22C55E"/>
            </a:solidFill>
            <a:prstDash val="solid"/>
          </a:ln>
        </p:spPr>
      </p:sp>
      <p:sp>
        <p:nvSpPr>
          <p:cNvPr id="22" name="Text 20"/>
          <p:cNvSpPr/>
          <p:nvPr/>
        </p:nvSpPr>
        <p:spPr>
          <a:xfrm>
            <a:off x="6327648" y="1965960"/>
            <a:ext cx="45262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Use ID swipe as the strongest office-presence signal.</a:t>
            </a:r>
            <a:endParaRPr lang="en-US" sz="930" dirty="0"/>
          </a:p>
        </p:txBody>
      </p:sp>
      <p:sp>
        <p:nvSpPr>
          <p:cNvPr id="23" name="Shape 21"/>
          <p:cNvSpPr/>
          <p:nvPr/>
        </p:nvSpPr>
        <p:spPr>
          <a:xfrm>
            <a:off x="6144768" y="2574036"/>
            <a:ext cx="100584" cy="100584"/>
          </a:xfrm>
          <a:prstGeom prst="ellipse">
            <a:avLst/>
          </a:prstGeom>
          <a:solidFill>
            <a:srgbClr val="22C55E"/>
          </a:solidFill>
          <a:ln w="12700">
            <a:solidFill>
              <a:srgbClr val="22C55E"/>
            </a:solidFill>
            <a:prstDash val="solid"/>
          </a:ln>
        </p:spPr>
      </p:sp>
      <p:sp>
        <p:nvSpPr>
          <p:cNvPr id="24" name="Text 22"/>
          <p:cNvSpPr/>
          <p:nvPr/>
        </p:nvSpPr>
        <p:spPr>
          <a:xfrm>
            <a:off x="6327648" y="2532888"/>
            <a:ext cx="45262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Use QR scan to map employee ↔ desk ↔ zone.</a:t>
            </a:r>
            <a:endParaRPr lang="en-US" sz="930" dirty="0"/>
          </a:p>
        </p:txBody>
      </p:sp>
      <p:sp>
        <p:nvSpPr>
          <p:cNvPr id="25" name="Shape 23"/>
          <p:cNvSpPr/>
          <p:nvPr/>
        </p:nvSpPr>
        <p:spPr>
          <a:xfrm>
            <a:off x="6144768" y="3140964"/>
            <a:ext cx="100584" cy="100584"/>
          </a:xfrm>
          <a:prstGeom prst="ellipse">
            <a:avLst/>
          </a:prstGeom>
          <a:solidFill>
            <a:srgbClr val="22C55E"/>
          </a:solidFill>
          <a:ln w="12700">
            <a:solidFill>
              <a:srgbClr val="22C55E"/>
            </a:solidFill>
            <a:prstDash val="solid"/>
          </a:ln>
        </p:spPr>
      </p:sp>
      <p:sp>
        <p:nvSpPr>
          <p:cNvPr id="26" name="Text 24"/>
          <p:cNvSpPr/>
          <p:nvPr/>
        </p:nvSpPr>
        <p:spPr>
          <a:xfrm>
            <a:off x="6327648" y="3099816"/>
            <a:ext cx="45262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Use LAN connection as desk-occupancy evidence.</a:t>
            </a:r>
            <a:endParaRPr lang="en-US" sz="930" dirty="0"/>
          </a:p>
        </p:txBody>
      </p:sp>
      <p:sp>
        <p:nvSpPr>
          <p:cNvPr id="27" name="Shape 25"/>
          <p:cNvSpPr/>
          <p:nvPr/>
        </p:nvSpPr>
        <p:spPr>
          <a:xfrm>
            <a:off x="6144768" y="3707892"/>
            <a:ext cx="100584" cy="100584"/>
          </a:xfrm>
          <a:prstGeom prst="ellipse">
            <a:avLst/>
          </a:prstGeom>
          <a:solidFill>
            <a:srgbClr val="14B8A6"/>
          </a:solidFill>
          <a:ln w="12700">
            <a:solidFill>
              <a:srgbClr val="14B8A6"/>
            </a:solidFill>
            <a:prstDash val="solid"/>
          </a:ln>
        </p:spPr>
      </p:sp>
      <p:sp>
        <p:nvSpPr>
          <p:cNvPr id="28" name="Text 26"/>
          <p:cNvSpPr/>
          <p:nvPr/>
        </p:nvSpPr>
        <p:spPr>
          <a:xfrm>
            <a:off x="6327648" y="3666744"/>
            <a:ext cx="45262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Use calendar and reminders to avoid unfair auto-release.</a:t>
            </a:r>
            <a:endParaRPr lang="en-US" sz="930" dirty="0"/>
          </a:p>
        </p:txBody>
      </p:sp>
      <p:sp>
        <p:nvSpPr>
          <p:cNvPr id="29" name="Shape 27"/>
          <p:cNvSpPr/>
          <p:nvPr/>
        </p:nvSpPr>
        <p:spPr>
          <a:xfrm>
            <a:off x="6144768" y="4274820"/>
            <a:ext cx="100584" cy="100584"/>
          </a:xfrm>
          <a:prstGeom prst="ellipse">
            <a:avLst/>
          </a:prstGeom>
          <a:solidFill>
            <a:srgbClr val="14B8A6"/>
          </a:solidFill>
          <a:ln w="12700">
            <a:solidFill>
              <a:srgbClr val="14B8A6"/>
            </a:solidFill>
            <a:prstDash val="solid"/>
          </a:ln>
        </p:spPr>
      </p:sp>
      <p:sp>
        <p:nvSpPr>
          <p:cNvPr id="30" name="Text 28"/>
          <p:cNvSpPr/>
          <p:nvPr/>
        </p:nvSpPr>
        <p:spPr>
          <a:xfrm>
            <a:off x="6327648" y="4233672"/>
            <a:ext cx="45262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Use dashboards and reports to right-size seats by team, day, shift, floor, and zone.</a:t>
            </a:r>
            <a:endParaRPr lang="en-US" sz="930" dirty="0"/>
          </a:p>
        </p:txBody>
      </p:sp>
      <p:sp>
        <p:nvSpPr>
          <p:cNvPr id="31"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66928" y="301752"/>
            <a:ext cx="8412480" cy="384048"/>
          </a:xfrm>
          <a:prstGeom prst="rect">
            <a:avLst/>
          </a:prstGeom>
          <a:noFill/>
          <a:ln/>
        </p:spPr>
        <p:txBody>
          <a:bodyPr wrap="square" lIns="0" tIns="0" rIns="0" bIns="0"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Proposed solution architecture</a:t>
            </a:r>
            <a:endParaRPr lang="en-US" sz="2300" dirty="0"/>
          </a:p>
        </p:txBody>
      </p:sp>
      <p:sp>
        <p:nvSpPr>
          <p:cNvPr id="4" name="Text 2"/>
          <p:cNvSpPr/>
          <p:nvPr/>
        </p:nvSpPr>
        <p:spPr>
          <a:xfrm>
            <a:off x="594360" y="749808"/>
            <a:ext cx="8138160" cy="237744"/>
          </a:xfrm>
          <a:prstGeom prst="rect">
            <a:avLst/>
          </a:prstGeom>
          <a:noFill/>
          <a:ln/>
        </p:spPr>
        <p:txBody>
          <a:bodyPr wrap="square" lIns="0" tIns="0" rIns="0" bIns="0" rtlCol="0" anchor="ctr"/>
          <a:lstStyle/>
          <a:p>
            <a:pPr marL="0" indent="0">
              <a:buNone/>
            </a:pPr>
            <a:r>
              <a:rPr lang="en-US" sz="980" dirty="0">
                <a:solidFill>
                  <a:srgbClr val="64748B"/>
                </a:solidFill>
              </a:rPr>
              <a:t>A signal-fusion model improves accuracy while keeping the QR experience simple.</a:t>
            </a:r>
            <a:endParaRPr lang="en-US" sz="980" dirty="0"/>
          </a:p>
        </p:txBody>
      </p:sp>
      <p:sp>
        <p:nvSpPr>
          <p:cNvPr id="5" name="Shape 3"/>
          <p:cNvSpPr/>
          <p:nvPr/>
        </p:nvSpPr>
        <p:spPr>
          <a:xfrm>
            <a:off x="10927080" y="256032"/>
            <a:ext cx="658368" cy="658368"/>
          </a:xfrm>
          <a:prstGeom prst="arc">
            <a:avLst/>
          </a:prstGeom>
          <a:noFill/>
          <a:ln w="27940">
            <a:solidFill>
              <a:srgbClr val="14B8A6"/>
            </a:solidFill>
            <a:prstDash val="solid"/>
            <a:headEnd type="none"/>
            <a:tailEnd type="none"/>
          </a:ln>
        </p:spPr>
      </p:sp>
      <p:sp>
        <p:nvSpPr>
          <p:cNvPr id="6" name="Shape 4"/>
          <p:cNvSpPr/>
          <p:nvPr/>
        </p:nvSpPr>
        <p:spPr>
          <a:xfrm>
            <a:off x="11119104" y="429768"/>
            <a:ext cx="640080" cy="640080"/>
          </a:xfrm>
          <a:prstGeom prst="arc">
            <a:avLst/>
          </a:prstGeom>
          <a:noFill/>
          <a:ln w="27940">
            <a:solidFill>
              <a:srgbClr val="2563EB"/>
            </a:solidFill>
            <a:prstDash val="solid"/>
          </a:ln>
        </p:spPr>
      </p:sp>
      <p:pic>
        <p:nvPicPr>
          <p:cNvPr id="7" name="Image 0" descr="/mnt/data/89a436aa5b.png"/>
          <p:cNvPicPr>
            <a:picLocks noChangeAspect="1"/>
          </p:cNvPicPr>
          <p:nvPr/>
        </p:nvPicPr>
        <p:blipFill>
          <a:blip r:embed="rId3"/>
          <a:srcRect l="13914" r="13914"/>
          <a:stretch/>
        </p:blipFill>
        <p:spPr>
          <a:xfrm>
            <a:off x="566928" y="1143000"/>
            <a:ext cx="5394960" cy="4983480"/>
          </a:xfrm>
          <a:prstGeom prst="rect">
            <a:avLst/>
          </a:prstGeom>
        </p:spPr>
      </p:pic>
      <p:sp>
        <p:nvSpPr>
          <p:cNvPr id="8" name="Shape 5"/>
          <p:cNvSpPr/>
          <p:nvPr/>
        </p:nvSpPr>
        <p:spPr>
          <a:xfrm>
            <a:off x="6263640" y="1143000"/>
            <a:ext cx="5212080" cy="4983480"/>
          </a:xfrm>
          <a:prstGeom prst="roundRect">
            <a:avLst>
              <a:gd name="adj" fmla="val 2202"/>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9" name="Text 6"/>
          <p:cNvSpPr/>
          <p:nvPr/>
        </p:nvSpPr>
        <p:spPr>
          <a:xfrm>
            <a:off x="6565392" y="1426464"/>
            <a:ext cx="3200400" cy="219456"/>
          </a:xfrm>
          <a:prstGeom prst="rect">
            <a:avLst/>
          </a:prstGeom>
          <a:noFill/>
          <a:ln/>
        </p:spPr>
        <p:txBody>
          <a:bodyPr wrap="square" lIns="0" tIns="0" rIns="0" bIns="0" rtlCol="0" anchor="ctr"/>
          <a:lstStyle/>
          <a:p>
            <a:pPr marL="0" indent="0">
              <a:buNone/>
            </a:pPr>
            <a:r>
              <a:rPr lang="en-US" sz="850" b="1" dirty="0">
                <a:solidFill>
                  <a:srgbClr val="2563EB"/>
                </a:solidFill>
              </a:rPr>
              <a:t>Data signals</a:t>
            </a:r>
            <a:endParaRPr lang="en-US" sz="850" dirty="0"/>
          </a:p>
        </p:txBody>
      </p:sp>
      <p:sp>
        <p:nvSpPr>
          <p:cNvPr id="10" name="Shape 7"/>
          <p:cNvSpPr/>
          <p:nvPr/>
        </p:nvSpPr>
        <p:spPr>
          <a:xfrm>
            <a:off x="6565392" y="1682496"/>
            <a:ext cx="2971800" cy="0"/>
          </a:xfrm>
          <a:prstGeom prst="line">
            <a:avLst/>
          </a:prstGeom>
          <a:noFill/>
          <a:ln w="15240">
            <a:solidFill>
              <a:srgbClr val="2563EB"/>
            </a:solidFill>
            <a:prstDash val="solid"/>
          </a:ln>
        </p:spPr>
      </p:sp>
      <p:sp>
        <p:nvSpPr>
          <p:cNvPr id="11" name="Shape 8"/>
          <p:cNvSpPr/>
          <p:nvPr/>
        </p:nvSpPr>
        <p:spPr>
          <a:xfrm>
            <a:off x="6583680" y="1851660"/>
            <a:ext cx="100584" cy="100584"/>
          </a:xfrm>
          <a:prstGeom prst="ellipse">
            <a:avLst/>
          </a:prstGeom>
          <a:solidFill>
            <a:srgbClr val="2563EB"/>
          </a:solidFill>
          <a:ln w="12700">
            <a:solidFill>
              <a:srgbClr val="2563EB"/>
            </a:solidFill>
            <a:prstDash val="solid"/>
          </a:ln>
        </p:spPr>
      </p:sp>
      <p:sp>
        <p:nvSpPr>
          <p:cNvPr id="12" name="Text 9"/>
          <p:cNvSpPr/>
          <p:nvPr/>
        </p:nvSpPr>
        <p:spPr>
          <a:xfrm>
            <a:off x="6766560" y="1810512"/>
            <a:ext cx="42976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QR scan: desk, workstation, zone ID</a:t>
            </a:r>
            <a:endParaRPr lang="en-US" sz="930" dirty="0"/>
          </a:p>
        </p:txBody>
      </p:sp>
      <p:sp>
        <p:nvSpPr>
          <p:cNvPr id="13" name="Shape 10"/>
          <p:cNvSpPr/>
          <p:nvPr/>
        </p:nvSpPr>
        <p:spPr>
          <a:xfrm>
            <a:off x="6583680" y="2263140"/>
            <a:ext cx="100584" cy="100584"/>
          </a:xfrm>
          <a:prstGeom prst="ellipse">
            <a:avLst/>
          </a:prstGeom>
          <a:solidFill>
            <a:srgbClr val="14B8A6"/>
          </a:solidFill>
          <a:ln w="12700">
            <a:solidFill>
              <a:srgbClr val="14B8A6"/>
            </a:solidFill>
            <a:prstDash val="solid"/>
          </a:ln>
        </p:spPr>
      </p:sp>
      <p:sp>
        <p:nvSpPr>
          <p:cNvPr id="14" name="Text 11"/>
          <p:cNvSpPr/>
          <p:nvPr/>
        </p:nvSpPr>
        <p:spPr>
          <a:xfrm>
            <a:off x="6766560" y="2221992"/>
            <a:ext cx="42976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Okta-authenticated user claims</a:t>
            </a:r>
            <a:endParaRPr lang="en-US" sz="930" dirty="0"/>
          </a:p>
        </p:txBody>
      </p:sp>
      <p:sp>
        <p:nvSpPr>
          <p:cNvPr id="15" name="Shape 12"/>
          <p:cNvSpPr/>
          <p:nvPr/>
        </p:nvSpPr>
        <p:spPr>
          <a:xfrm>
            <a:off x="6583680" y="2674620"/>
            <a:ext cx="100584" cy="100584"/>
          </a:xfrm>
          <a:prstGeom prst="ellipse">
            <a:avLst/>
          </a:prstGeom>
          <a:solidFill>
            <a:srgbClr val="22C55E"/>
          </a:solidFill>
          <a:ln w="12700">
            <a:solidFill>
              <a:srgbClr val="22C55E"/>
            </a:solidFill>
            <a:prstDash val="solid"/>
          </a:ln>
        </p:spPr>
      </p:sp>
      <p:sp>
        <p:nvSpPr>
          <p:cNvPr id="16" name="Text 13"/>
          <p:cNvSpPr/>
          <p:nvPr/>
        </p:nvSpPr>
        <p:spPr>
          <a:xfrm>
            <a:off x="6766560" y="2633472"/>
            <a:ext cx="42976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ID card swipe: office presence validation</a:t>
            </a:r>
            <a:endParaRPr lang="en-US" sz="930" dirty="0"/>
          </a:p>
        </p:txBody>
      </p:sp>
      <p:sp>
        <p:nvSpPr>
          <p:cNvPr id="17" name="Shape 14"/>
          <p:cNvSpPr/>
          <p:nvPr/>
        </p:nvSpPr>
        <p:spPr>
          <a:xfrm>
            <a:off x="6583680" y="3086100"/>
            <a:ext cx="100584" cy="100584"/>
          </a:xfrm>
          <a:prstGeom prst="ellipse">
            <a:avLst/>
          </a:prstGeom>
          <a:solidFill>
            <a:srgbClr val="F59E0B"/>
          </a:solidFill>
          <a:ln w="12700">
            <a:solidFill>
              <a:srgbClr val="F59E0B"/>
            </a:solidFill>
            <a:prstDash val="solid"/>
          </a:ln>
        </p:spPr>
      </p:sp>
      <p:sp>
        <p:nvSpPr>
          <p:cNvPr id="18" name="Text 15"/>
          <p:cNvSpPr/>
          <p:nvPr/>
        </p:nvSpPr>
        <p:spPr>
          <a:xfrm>
            <a:off x="6766560" y="3044952"/>
            <a:ext cx="42976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LAN connection: desk occupancy evidence</a:t>
            </a:r>
            <a:endParaRPr lang="en-US" sz="930" dirty="0"/>
          </a:p>
        </p:txBody>
      </p:sp>
      <p:sp>
        <p:nvSpPr>
          <p:cNvPr id="19" name="Shape 16"/>
          <p:cNvSpPr/>
          <p:nvPr/>
        </p:nvSpPr>
        <p:spPr>
          <a:xfrm>
            <a:off x="6583680" y="3497580"/>
            <a:ext cx="100584" cy="100584"/>
          </a:xfrm>
          <a:prstGeom prst="ellipse">
            <a:avLst/>
          </a:prstGeom>
          <a:solidFill>
            <a:srgbClr val="8B5CF6"/>
          </a:solidFill>
          <a:ln w="12700">
            <a:solidFill>
              <a:srgbClr val="8B5CF6"/>
            </a:solidFill>
            <a:prstDash val="solid"/>
          </a:ln>
        </p:spPr>
      </p:sp>
      <p:sp>
        <p:nvSpPr>
          <p:cNvPr id="20" name="Text 17"/>
          <p:cNvSpPr/>
          <p:nvPr/>
        </p:nvSpPr>
        <p:spPr>
          <a:xfrm>
            <a:off x="6766560" y="3456432"/>
            <a:ext cx="42976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Calendar: meeting-aware release exceptions</a:t>
            </a:r>
            <a:endParaRPr lang="en-US" sz="930" dirty="0"/>
          </a:p>
        </p:txBody>
      </p:sp>
      <p:sp>
        <p:nvSpPr>
          <p:cNvPr id="21" name="Shape 18"/>
          <p:cNvSpPr/>
          <p:nvPr/>
        </p:nvSpPr>
        <p:spPr>
          <a:xfrm>
            <a:off x="6583680" y="3909060"/>
            <a:ext cx="100584" cy="100584"/>
          </a:xfrm>
          <a:prstGeom prst="ellipse">
            <a:avLst/>
          </a:prstGeom>
          <a:solidFill>
            <a:srgbClr val="EF4444"/>
          </a:solidFill>
          <a:ln w="12700">
            <a:solidFill>
              <a:srgbClr val="EF4444"/>
            </a:solidFill>
            <a:prstDash val="solid"/>
          </a:ln>
        </p:spPr>
      </p:sp>
      <p:sp>
        <p:nvSpPr>
          <p:cNvPr id="22" name="Text 19"/>
          <p:cNvSpPr/>
          <p:nvPr/>
        </p:nvSpPr>
        <p:spPr>
          <a:xfrm>
            <a:off x="6766560" y="3867912"/>
            <a:ext cx="42976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Teams/Slack bot: confirmation and alerts</a:t>
            </a:r>
            <a:endParaRPr lang="en-US" sz="930" dirty="0"/>
          </a:p>
        </p:txBody>
      </p:sp>
      <p:sp>
        <p:nvSpPr>
          <p:cNvPr id="23" name="Text 20"/>
          <p:cNvSpPr/>
          <p:nvPr/>
        </p:nvSpPr>
        <p:spPr>
          <a:xfrm>
            <a:off x="6565392" y="4370832"/>
            <a:ext cx="3200400" cy="219456"/>
          </a:xfrm>
          <a:prstGeom prst="rect">
            <a:avLst/>
          </a:prstGeom>
          <a:noFill/>
          <a:ln/>
        </p:spPr>
        <p:txBody>
          <a:bodyPr wrap="square" lIns="0" tIns="0" rIns="0" bIns="0" rtlCol="0" anchor="ctr"/>
          <a:lstStyle/>
          <a:p>
            <a:pPr marL="0" indent="0">
              <a:buNone/>
            </a:pPr>
            <a:r>
              <a:rPr lang="en-US" sz="850" b="1" dirty="0">
                <a:solidFill>
                  <a:srgbClr val="14B8A6"/>
                </a:solidFill>
              </a:rPr>
              <a:t>Core services</a:t>
            </a:r>
            <a:endParaRPr lang="en-US" sz="850" dirty="0"/>
          </a:p>
        </p:txBody>
      </p:sp>
      <p:sp>
        <p:nvSpPr>
          <p:cNvPr id="24" name="Shape 21"/>
          <p:cNvSpPr/>
          <p:nvPr/>
        </p:nvSpPr>
        <p:spPr>
          <a:xfrm>
            <a:off x="6565392" y="4626864"/>
            <a:ext cx="2971800" cy="0"/>
          </a:xfrm>
          <a:prstGeom prst="line">
            <a:avLst/>
          </a:prstGeom>
          <a:noFill/>
          <a:ln w="15240">
            <a:solidFill>
              <a:srgbClr val="14B8A6"/>
            </a:solidFill>
            <a:prstDash val="solid"/>
          </a:ln>
        </p:spPr>
      </p:sp>
      <p:sp>
        <p:nvSpPr>
          <p:cNvPr id="25" name="Shape 22"/>
          <p:cNvSpPr/>
          <p:nvPr/>
        </p:nvSpPr>
        <p:spPr>
          <a:xfrm>
            <a:off x="6583680" y="4754880"/>
            <a:ext cx="2057400" cy="292608"/>
          </a:xfrm>
          <a:prstGeom prst="roundRect">
            <a:avLst>
              <a:gd name="adj" fmla="val 25000"/>
            </a:avLst>
          </a:prstGeom>
          <a:solidFill>
            <a:srgbClr val="14B8A6"/>
          </a:solidFill>
          <a:ln w="12700">
            <a:solidFill>
              <a:srgbClr val="14B8A6"/>
            </a:solidFill>
            <a:prstDash val="solid"/>
          </a:ln>
          <a:effectLst>
            <a:outerShdw blurRad="12700" dist="6350" dir="2700000" algn="bl" rotWithShape="0">
              <a:srgbClr val="000000">
                <a:alpha val="10000"/>
              </a:srgbClr>
            </a:outerShdw>
          </a:effectLst>
        </p:spPr>
      </p:sp>
      <p:sp>
        <p:nvSpPr>
          <p:cNvPr id="26" name="Text 23"/>
          <p:cNvSpPr/>
          <p:nvPr/>
        </p:nvSpPr>
        <p:spPr>
          <a:xfrm>
            <a:off x="6675120" y="4823460"/>
            <a:ext cx="1874520" cy="109728"/>
          </a:xfrm>
          <a:prstGeom prst="rect">
            <a:avLst/>
          </a:prstGeom>
          <a:noFill/>
          <a:ln/>
        </p:spPr>
        <p:txBody>
          <a:bodyPr wrap="square" lIns="0" tIns="0" rIns="0" bIns="0" rtlCol="0" anchor="ctr"/>
          <a:lstStyle/>
          <a:p>
            <a:pPr marL="0" indent="0" algn="ctr">
              <a:buNone/>
            </a:pPr>
            <a:r>
              <a:rPr lang="en-US" sz="750" b="1" dirty="0">
                <a:solidFill>
                  <a:srgbClr val="FFFFFF"/>
                </a:solidFill>
              </a:rPr>
              <a:t>Occupancy engine</a:t>
            </a:r>
            <a:endParaRPr lang="en-US" sz="750" dirty="0"/>
          </a:p>
        </p:txBody>
      </p:sp>
      <p:sp>
        <p:nvSpPr>
          <p:cNvPr id="27" name="Shape 24"/>
          <p:cNvSpPr/>
          <p:nvPr/>
        </p:nvSpPr>
        <p:spPr>
          <a:xfrm>
            <a:off x="9006840" y="4754880"/>
            <a:ext cx="2057400" cy="292608"/>
          </a:xfrm>
          <a:prstGeom prst="roundRect">
            <a:avLst>
              <a:gd name="adj" fmla="val 25000"/>
            </a:avLst>
          </a:prstGeom>
          <a:solidFill>
            <a:srgbClr val="2563EB"/>
          </a:solidFill>
          <a:ln w="12700">
            <a:solidFill>
              <a:srgbClr val="2563EB"/>
            </a:solidFill>
            <a:prstDash val="solid"/>
          </a:ln>
          <a:effectLst>
            <a:outerShdw blurRad="12700" dist="6350" dir="2700000" algn="bl" rotWithShape="0">
              <a:srgbClr val="000000">
                <a:alpha val="10000"/>
              </a:srgbClr>
            </a:outerShdw>
          </a:effectLst>
        </p:spPr>
      </p:sp>
      <p:sp>
        <p:nvSpPr>
          <p:cNvPr id="28" name="Text 25"/>
          <p:cNvSpPr/>
          <p:nvPr/>
        </p:nvSpPr>
        <p:spPr>
          <a:xfrm>
            <a:off x="9098280" y="4823460"/>
            <a:ext cx="1874520" cy="109728"/>
          </a:xfrm>
          <a:prstGeom prst="rect">
            <a:avLst/>
          </a:prstGeom>
          <a:noFill/>
          <a:ln/>
        </p:spPr>
        <p:txBody>
          <a:bodyPr wrap="square" lIns="0" tIns="0" rIns="0" bIns="0" rtlCol="0" anchor="ctr"/>
          <a:lstStyle/>
          <a:p>
            <a:pPr marL="0" indent="0" algn="ctr">
              <a:buNone/>
            </a:pPr>
            <a:r>
              <a:rPr lang="en-US" sz="750" b="1" dirty="0">
                <a:solidFill>
                  <a:srgbClr val="FFFFFF"/>
                </a:solidFill>
              </a:rPr>
              <a:t>Seat allocation rules</a:t>
            </a:r>
            <a:endParaRPr lang="en-US" sz="750" dirty="0"/>
          </a:p>
        </p:txBody>
      </p:sp>
      <p:sp>
        <p:nvSpPr>
          <p:cNvPr id="29" name="Shape 26"/>
          <p:cNvSpPr/>
          <p:nvPr/>
        </p:nvSpPr>
        <p:spPr>
          <a:xfrm>
            <a:off x="6583680" y="5230368"/>
            <a:ext cx="2057400" cy="292608"/>
          </a:xfrm>
          <a:prstGeom prst="roundRect">
            <a:avLst>
              <a:gd name="adj" fmla="val 25000"/>
            </a:avLst>
          </a:prstGeom>
          <a:solidFill>
            <a:srgbClr val="14B8A6"/>
          </a:solidFill>
          <a:ln w="12700">
            <a:solidFill>
              <a:srgbClr val="14B8A6"/>
            </a:solidFill>
            <a:prstDash val="solid"/>
          </a:ln>
          <a:effectLst>
            <a:outerShdw blurRad="12700" dist="6350" dir="2700000" algn="bl" rotWithShape="0">
              <a:srgbClr val="000000">
                <a:alpha val="10000"/>
              </a:srgbClr>
            </a:outerShdw>
          </a:effectLst>
        </p:spPr>
      </p:sp>
      <p:sp>
        <p:nvSpPr>
          <p:cNvPr id="30" name="Text 27"/>
          <p:cNvSpPr/>
          <p:nvPr/>
        </p:nvSpPr>
        <p:spPr>
          <a:xfrm>
            <a:off x="6675120" y="5298948"/>
            <a:ext cx="1874520" cy="109728"/>
          </a:xfrm>
          <a:prstGeom prst="rect">
            <a:avLst/>
          </a:prstGeom>
          <a:noFill/>
          <a:ln/>
        </p:spPr>
        <p:txBody>
          <a:bodyPr wrap="square" lIns="0" tIns="0" rIns="0" bIns="0" rtlCol="0" anchor="ctr"/>
          <a:lstStyle/>
          <a:p>
            <a:pPr marL="0" indent="0" algn="ctr">
              <a:buNone/>
            </a:pPr>
            <a:r>
              <a:rPr lang="en-US" sz="750" b="1" dirty="0">
                <a:solidFill>
                  <a:srgbClr val="FFFFFF"/>
                </a:solidFill>
              </a:rPr>
              <a:t>Notification workflow</a:t>
            </a:r>
            <a:endParaRPr lang="en-US" sz="750" dirty="0"/>
          </a:p>
        </p:txBody>
      </p:sp>
      <p:sp>
        <p:nvSpPr>
          <p:cNvPr id="31" name="Shape 28"/>
          <p:cNvSpPr/>
          <p:nvPr/>
        </p:nvSpPr>
        <p:spPr>
          <a:xfrm>
            <a:off x="9006840" y="5230368"/>
            <a:ext cx="2057400" cy="292608"/>
          </a:xfrm>
          <a:prstGeom prst="roundRect">
            <a:avLst>
              <a:gd name="adj" fmla="val 25000"/>
            </a:avLst>
          </a:prstGeom>
          <a:solidFill>
            <a:srgbClr val="2563EB"/>
          </a:solidFill>
          <a:ln w="12700">
            <a:solidFill>
              <a:srgbClr val="2563EB"/>
            </a:solidFill>
            <a:prstDash val="solid"/>
          </a:ln>
          <a:effectLst>
            <a:outerShdw blurRad="12700" dist="6350" dir="2700000" algn="bl" rotWithShape="0">
              <a:srgbClr val="000000">
                <a:alpha val="10000"/>
              </a:srgbClr>
            </a:outerShdw>
          </a:effectLst>
        </p:spPr>
      </p:sp>
      <p:sp>
        <p:nvSpPr>
          <p:cNvPr id="32" name="Text 29"/>
          <p:cNvSpPr/>
          <p:nvPr/>
        </p:nvSpPr>
        <p:spPr>
          <a:xfrm>
            <a:off x="9098280" y="5298948"/>
            <a:ext cx="1874520" cy="109728"/>
          </a:xfrm>
          <a:prstGeom prst="rect">
            <a:avLst/>
          </a:prstGeom>
          <a:noFill/>
          <a:ln/>
        </p:spPr>
        <p:txBody>
          <a:bodyPr wrap="square" lIns="0" tIns="0" rIns="0" bIns="0" rtlCol="0" anchor="ctr"/>
          <a:lstStyle/>
          <a:p>
            <a:pPr marL="0" indent="0" algn="ctr">
              <a:buNone/>
            </a:pPr>
            <a:r>
              <a:rPr lang="en-US" sz="750" b="1" dirty="0">
                <a:solidFill>
                  <a:srgbClr val="FFFFFF"/>
                </a:solidFill>
              </a:rPr>
              <a:t>Analytics and dashboards</a:t>
            </a:r>
            <a:endParaRPr lang="en-US" sz="750" dirty="0"/>
          </a:p>
        </p:txBody>
      </p:sp>
      <p:sp>
        <p:nvSpPr>
          <p:cNvPr id="33"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66928" y="301752"/>
            <a:ext cx="8412480" cy="384048"/>
          </a:xfrm>
          <a:prstGeom prst="rect">
            <a:avLst/>
          </a:prstGeom>
          <a:noFill/>
          <a:ln/>
        </p:spPr>
        <p:txBody>
          <a:bodyPr wrap="square" lIns="0" tIns="0" rIns="0" bIns="0"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Employee journey and authentication</a:t>
            </a:r>
            <a:endParaRPr lang="en-US" sz="2300" dirty="0"/>
          </a:p>
        </p:txBody>
      </p:sp>
      <p:sp>
        <p:nvSpPr>
          <p:cNvPr id="4" name="Text 2"/>
          <p:cNvSpPr/>
          <p:nvPr/>
        </p:nvSpPr>
        <p:spPr>
          <a:xfrm>
            <a:off x="594360" y="749808"/>
            <a:ext cx="8138160" cy="237744"/>
          </a:xfrm>
          <a:prstGeom prst="rect">
            <a:avLst/>
          </a:prstGeom>
          <a:noFill/>
          <a:ln/>
        </p:spPr>
        <p:txBody>
          <a:bodyPr wrap="square" lIns="0" tIns="0" rIns="0" bIns="0" rtlCol="0" anchor="ctr"/>
          <a:lstStyle/>
          <a:p>
            <a:pPr marL="0" indent="0">
              <a:buNone/>
            </a:pPr>
            <a:r>
              <a:rPr lang="en-US" sz="980" dirty="0">
                <a:solidFill>
                  <a:srgbClr val="64748B"/>
                </a:solidFill>
              </a:rPr>
              <a:t>The QR code is only the entry point. Identity is validated through Okta authorization flow.</a:t>
            </a:r>
            <a:endParaRPr lang="en-US" sz="980" dirty="0"/>
          </a:p>
        </p:txBody>
      </p:sp>
      <p:sp>
        <p:nvSpPr>
          <p:cNvPr id="5" name="Shape 3"/>
          <p:cNvSpPr/>
          <p:nvPr/>
        </p:nvSpPr>
        <p:spPr>
          <a:xfrm>
            <a:off x="10927080" y="256032"/>
            <a:ext cx="658368" cy="658368"/>
          </a:xfrm>
          <a:prstGeom prst="arc">
            <a:avLst/>
          </a:prstGeom>
          <a:noFill/>
          <a:ln w="27940">
            <a:solidFill>
              <a:srgbClr val="14B8A6"/>
            </a:solidFill>
            <a:prstDash val="solid"/>
            <a:headEnd type="none"/>
            <a:tailEnd type="none"/>
          </a:ln>
        </p:spPr>
      </p:sp>
      <p:sp>
        <p:nvSpPr>
          <p:cNvPr id="6" name="Shape 4"/>
          <p:cNvSpPr/>
          <p:nvPr/>
        </p:nvSpPr>
        <p:spPr>
          <a:xfrm>
            <a:off x="11119104" y="429768"/>
            <a:ext cx="640080" cy="640080"/>
          </a:xfrm>
          <a:prstGeom prst="arc">
            <a:avLst/>
          </a:prstGeom>
          <a:noFill/>
          <a:ln w="27940">
            <a:solidFill>
              <a:srgbClr val="2563EB"/>
            </a:solidFill>
            <a:prstDash val="solid"/>
          </a:ln>
        </p:spPr>
      </p:sp>
      <p:sp>
        <p:nvSpPr>
          <p:cNvPr id="7" name="Shape 5"/>
          <p:cNvSpPr/>
          <p:nvPr/>
        </p:nvSpPr>
        <p:spPr>
          <a:xfrm>
            <a:off x="658368" y="1572768"/>
            <a:ext cx="1444752" cy="1143000"/>
          </a:xfrm>
          <a:prstGeom prst="roundRect">
            <a:avLst>
              <a:gd name="adj" fmla="val 9600"/>
            </a:avLst>
          </a:prstGeom>
          <a:solidFill>
            <a:srgbClr val="ECFEFF"/>
          </a:solidFill>
          <a:ln w="8890">
            <a:solidFill>
              <a:srgbClr val="E2E8F0"/>
            </a:solidFill>
            <a:prstDash val="solid"/>
          </a:ln>
          <a:effectLst>
            <a:outerShdw blurRad="19050" dist="8890" dir="2700000" algn="bl" rotWithShape="0">
              <a:srgbClr val="000000">
                <a:alpha val="10000"/>
              </a:srgbClr>
            </a:outerShdw>
          </a:effectLst>
        </p:spPr>
      </p:sp>
      <p:sp>
        <p:nvSpPr>
          <p:cNvPr id="8" name="Shape 6"/>
          <p:cNvSpPr/>
          <p:nvPr/>
        </p:nvSpPr>
        <p:spPr>
          <a:xfrm>
            <a:off x="1161288" y="1773936"/>
            <a:ext cx="438912" cy="438912"/>
          </a:xfrm>
          <a:prstGeom prst="ellipse">
            <a:avLst/>
          </a:prstGeom>
          <a:solidFill>
            <a:srgbClr val="2563EB"/>
          </a:solidFill>
          <a:ln w="12700">
            <a:solidFill>
              <a:srgbClr val="2563EB"/>
            </a:solidFill>
            <a:prstDash val="solid"/>
          </a:ln>
        </p:spPr>
      </p:sp>
      <p:sp>
        <p:nvSpPr>
          <p:cNvPr id="9" name="Text 7"/>
          <p:cNvSpPr/>
          <p:nvPr/>
        </p:nvSpPr>
        <p:spPr>
          <a:xfrm>
            <a:off x="1298448" y="1865376"/>
            <a:ext cx="146304" cy="73152"/>
          </a:xfrm>
          <a:prstGeom prst="rect">
            <a:avLst/>
          </a:prstGeom>
          <a:noFill/>
          <a:ln/>
        </p:spPr>
        <p:txBody>
          <a:bodyPr wrap="square" lIns="0" tIns="0" rIns="0" bIns="0" rtlCol="0" anchor="ctr"/>
          <a:lstStyle/>
          <a:p>
            <a:pPr marL="0" indent="0" algn="ctr">
              <a:buNone/>
            </a:pPr>
            <a:r>
              <a:rPr lang="en-US" sz="800" b="1" dirty="0">
                <a:solidFill>
                  <a:srgbClr val="FFFFFF"/>
                </a:solidFill>
              </a:rPr>
              <a:t>1</a:t>
            </a:r>
            <a:endParaRPr lang="en-US" sz="800" dirty="0"/>
          </a:p>
        </p:txBody>
      </p:sp>
      <p:sp>
        <p:nvSpPr>
          <p:cNvPr id="10" name="Text 8"/>
          <p:cNvSpPr/>
          <p:nvPr/>
        </p:nvSpPr>
        <p:spPr>
          <a:xfrm>
            <a:off x="786384" y="2331720"/>
            <a:ext cx="1188720" cy="228600"/>
          </a:xfrm>
          <a:prstGeom prst="rect">
            <a:avLst/>
          </a:prstGeom>
          <a:noFill/>
          <a:ln/>
        </p:spPr>
        <p:txBody>
          <a:bodyPr wrap="square" lIns="0" tIns="0" rIns="0" bIns="0" rtlCol="0" anchor="ctr">
            <a:normAutofit/>
          </a:bodyPr>
          <a:lstStyle/>
          <a:p>
            <a:pPr marL="0" indent="0" algn="ctr">
              <a:buNone/>
            </a:pPr>
            <a:r>
              <a:rPr lang="en-US" sz="820" b="1" dirty="0">
                <a:solidFill>
                  <a:srgbClr val="0F172A"/>
                </a:solidFill>
              </a:rPr>
              <a:t>Scan desk QR</a:t>
            </a:r>
            <a:endParaRPr lang="en-US" sz="820" dirty="0"/>
          </a:p>
        </p:txBody>
      </p:sp>
      <p:sp>
        <p:nvSpPr>
          <p:cNvPr id="11" name="Shape 9"/>
          <p:cNvSpPr/>
          <p:nvPr/>
        </p:nvSpPr>
        <p:spPr>
          <a:xfrm>
            <a:off x="2075688" y="1956816"/>
            <a:ext cx="310896" cy="256032"/>
          </a:xfrm>
          <a:prstGeom prst="chevron">
            <a:avLst/>
          </a:prstGeom>
          <a:solidFill>
            <a:srgbClr val="BFDBFE"/>
          </a:solidFill>
          <a:ln w="12700">
            <a:solidFill>
              <a:srgbClr val="BFDBFE"/>
            </a:solidFill>
            <a:prstDash val="solid"/>
          </a:ln>
        </p:spPr>
      </p:sp>
      <p:sp>
        <p:nvSpPr>
          <p:cNvPr id="12" name="Shape 10"/>
          <p:cNvSpPr/>
          <p:nvPr/>
        </p:nvSpPr>
        <p:spPr>
          <a:xfrm>
            <a:off x="2532888" y="1572768"/>
            <a:ext cx="1444752" cy="1143000"/>
          </a:xfrm>
          <a:prstGeom prst="roundRect">
            <a:avLst>
              <a:gd name="adj" fmla="val 9600"/>
            </a:avLst>
          </a:prstGeom>
          <a:solidFill>
            <a:srgbClr val="EEF2FF"/>
          </a:solidFill>
          <a:ln w="8890">
            <a:solidFill>
              <a:srgbClr val="E2E8F0"/>
            </a:solidFill>
            <a:prstDash val="solid"/>
          </a:ln>
          <a:effectLst>
            <a:outerShdw blurRad="19050" dist="8890" dir="2700000" algn="bl" rotWithShape="0">
              <a:srgbClr val="000000">
                <a:alpha val="10000"/>
              </a:srgbClr>
            </a:outerShdw>
          </a:effectLst>
        </p:spPr>
      </p:sp>
      <p:sp>
        <p:nvSpPr>
          <p:cNvPr id="13" name="Shape 11"/>
          <p:cNvSpPr/>
          <p:nvPr/>
        </p:nvSpPr>
        <p:spPr>
          <a:xfrm>
            <a:off x="3035808" y="1773936"/>
            <a:ext cx="438912" cy="438912"/>
          </a:xfrm>
          <a:prstGeom prst="ellipse">
            <a:avLst/>
          </a:prstGeom>
          <a:solidFill>
            <a:srgbClr val="14B8A6"/>
          </a:solidFill>
          <a:ln w="12700">
            <a:solidFill>
              <a:srgbClr val="14B8A6"/>
            </a:solidFill>
            <a:prstDash val="solid"/>
          </a:ln>
        </p:spPr>
      </p:sp>
      <p:sp>
        <p:nvSpPr>
          <p:cNvPr id="14" name="Text 12"/>
          <p:cNvSpPr/>
          <p:nvPr/>
        </p:nvSpPr>
        <p:spPr>
          <a:xfrm>
            <a:off x="3172968" y="1865376"/>
            <a:ext cx="146304" cy="73152"/>
          </a:xfrm>
          <a:prstGeom prst="rect">
            <a:avLst/>
          </a:prstGeom>
          <a:noFill/>
          <a:ln/>
        </p:spPr>
        <p:txBody>
          <a:bodyPr wrap="square" lIns="0" tIns="0" rIns="0" bIns="0" rtlCol="0" anchor="ctr"/>
          <a:lstStyle/>
          <a:p>
            <a:pPr marL="0" indent="0" algn="ctr">
              <a:buNone/>
            </a:pPr>
            <a:r>
              <a:rPr lang="en-US" sz="800" b="1" dirty="0">
                <a:solidFill>
                  <a:srgbClr val="FFFFFF"/>
                </a:solidFill>
              </a:rPr>
              <a:t>2</a:t>
            </a:r>
            <a:endParaRPr lang="en-US" sz="800" dirty="0"/>
          </a:p>
        </p:txBody>
      </p:sp>
      <p:sp>
        <p:nvSpPr>
          <p:cNvPr id="15" name="Text 13"/>
          <p:cNvSpPr/>
          <p:nvPr/>
        </p:nvSpPr>
        <p:spPr>
          <a:xfrm>
            <a:off x="2660904" y="2331720"/>
            <a:ext cx="1188720" cy="228600"/>
          </a:xfrm>
          <a:prstGeom prst="rect">
            <a:avLst/>
          </a:prstGeom>
          <a:noFill/>
          <a:ln/>
        </p:spPr>
        <p:txBody>
          <a:bodyPr wrap="square" lIns="0" tIns="0" rIns="0" bIns="0" rtlCol="0" anchor="ctr">
            <a:normAutofit/>
          </a:bodyPr>
          <a:lstStyle/>
          <a:p>
            <a:pPr marL="0" indent="0" algn="ctr">
              <a:buNone/>
            </a:pPr>
            <a:r>
              <a:rPr lang="en-US" sz="820" b="1" dirty="0">
                <a:solidFill>
                  <a:srgbClr val="0F172A"/>
                </a:solidFill>
              </a:rPr>
              <a:t>Check authenticated session</a:t>
            </a:r>
            <a:endParaRPr lang="en-US" sz="820" dirty="0"/>
          </a:p>
        </p:txBody>
      </p:sp>
      <p:sp>
        <p:nvSpPr>
          <p:cNvPr id="16" name="Shape 14"/>
          <p:cNvSpPr/>
          <p:nvPr/>
        </p:nvSpPr>
        <p:spPr>
          <a:xfrm>
            <a:off x="3950208" y="1956816"/>
            <a:ext cx="310896" cy="256032"/>
          </a:xfrm>
          <a:prstGeom prst="chevron">
            <a:avLst/>
          </a:prstGeom>
          <a:solidFill>
            <a:srgbClr val="BFDBFE"/>
          </a:solidFill>
          <a:ln w="12700">
            <a:solidFill>
              <a:srgbClr val="BFDBFE"/>
            </a:solidFill>
            <a:prstDash val="solid"/>
          </a:ln>
        </p:spPr>
      </p:sp>
      <p:sp>
        <p:nvSpPr>
          <p:cNvPr id="17" name="Shape 15"/>
          <p:cNvSpPr/>
          <p:nvPr/>
        </p:nvSpPr>
        <p:spPr>
          <a:xfrm>
            <a:off x="4407408" y="1572768"/>
            <a:ext cx="1444752" cy="1143000"/>
          </a:xfrm>
          <a:prstGeom prst="roundRect">
            <a:avLst>
              <a:gd name="adj" fmla="val 9600"/>
            </a:avLst>
          </a:prstGeom>
          <a:solidFill>
            <a:srgbClr val="ECFEFF"/>
          </a:solidFill>
          <a:ln w="8890">
            <a:solidFill>
              <a:srgbClr val="E2E8F0"/>
            </a:solidFill>
            <a:prstDash val="solid"/>
          </a:ln>
          <a:effectLst>
            <a:outerShdw blurRad="19050" dist="8890" dir="2700000" algn="bl" rotWithShape="0">
              <a:srgbClr val="000000">
                <a:alpha val="10000"/>
              </a:srgbClr>
            </a:outerShdw>
          </a:effectLst>
        </p:spPr>
      </p:sp>
      <p:sp>
        <p:nvSpPr>
          <p:cNvPr id="18" name="Shape 16"/>
          <p:cNvSpPr/>
          <p:nvPr/>
        </p:nvSpPr>
        <p:spPr>
          <a:xfrm>
            <a:off x="4910328" y="1773936"/>
            <a:ext cx="438912" cy="438912"/>
          </a:xfrm>
          <a:prstGeom prst="ellipse">
            <a:avLst/>
          </a:prstGeom>
          <a:solidFill>
            <a:srgbClr val="8B5CF6"/>
          </a:solidFill>
          <a:ln w="12700">
            <a:solidFill>
              <a:srgbClr val="8B5CF6"/>
            </a:solidFill>
            <a:prstDash val="solid"/>
          </a:ln>
        </p:spPr>
      </p:sp>
      <p:sp>
        <p:nvSpPr>
          <p:cNvPr id="19" name="Text 17"/>
          <p:cNvSpPr/>
          <p:nvPr/>
        </p:nvSpPr>
        <p:spPr>
          <a:xfrm>
            <a:off x="5047488" y="1865376"/>
            <a:ext cx="146304" cy="73152"/>
          </a:xfrm>
          <a:prstGeom prst="rect">
            <a:avLst/>
          </a:prstGeom>
          <a:noFill/>
          <a:ln/>
        </p:spPr>
        <p:txBody>
          <a:bodyPr wrap="square" lIns="0" tIns="0" rIns="0" bIns="0" rtlCol="0" anchor="ctr"/>
          <a:lstStyle/>
          <a:p>
            <a:pPr marL="0" indent="0" algn="ctr">
              <a:buNone/>
            </a:pPr>
            <a:r>
              <a:rPr lang="en-US" sz="800" b="1" dirty="0">
                <a:solidFill>
                  <a:srgbClr val="FFFFFF"/>
                </a:solidFill>
              </a:rPr>
              <a:t>3</a:t>
            </a:r>
            <a:endParaRPr lang="en-US" sz="800" dirty="0"/>
          </a:p>
        </p:txBody>
      </p:sp>
      <p:sp>
        <p:nvSpPr>
          <p:cNvPr id="20" name="Text 18"/>
          <p:cNvSpPr/>
          <p:nvPr/>
        </p:nvSpPr>
        <p:spPr>
          <a:xfrm>
            <a:off x="4535424" y="2331720"/>
            <a:ext cx="1188720" cy="228600"/>
          </a:xfrm>
          <a:prstGeom prst="rect">
            <a:avLst/>
          </a:prstGeom>
          <a:noFill/>
          <a:ln/>
        </p:spPr>
        <p:txBody>
          <a:bodyPr wrap="square" lIns="0" tIns="0" rIns="0" bIns="0" rtlCol="0" anchor="ctr">
            <a:normAutofit/>
          </a:bodyPr>
          <a:lstStyle/>
          <a:p>
            <a:pPr marL="0" indent="0" algn="ctr">
              <a:buNone/>
            </a:pPr>
            <a:r>
              <a:rPr lang="en-US" sz="820" b="1" dirty="0">
                <a:solidFill>
                  <a:srgbClr val="0F172A"/>
                </a:solidFill>
              </a:rPr>
              <a:t>Redirect to Okta if needed</a:t>
            </a:r>
            <a:endParaRPr lang="en-US" sz="820" dirty="0"/>
          </a:p>
        </p:txBody>
      </p:sp>
      <p:sp>
        <p:nvSpPr>
          <p:cNvPr id="21" name="Shape 19"/>
          <p:cNvSpPr/>
          <p:nvPr/>
        </p:nvSpPr>
        <p:spPr>
          <a:xfrm>
            <a:off x="5824728" y="1956816"/>
            <a:ext cx="310896" cy="256032"/>
          </a:xfrm>
          <a:prstGeom prst="chevron">
            <a:avLst/>
          </a:prstGeom>
          <a:solidFill>
            <a:srgbClr val="BFDBFE"/>
          </a:solidFill>
          <a:ln w="12700">
            <a:solidFill>
              <a:srgbClr val="BFDBFE"/>
            </a:solidFill>
            <a:prstDash val="solid"/>
          </a:ln>
        </p:spPr>
      </p:sp>
      <p:sp>
        <p:nvSpPr>
          <p:cNvPr id="22" name="Shape 20"/>
          <p:cNvSpPr/>
          <p:nvPr/>
        </p:nvSpPr>
        <p:spPr>
          <a:xfrm>
            <a:off x="6281928" y="1572768"/>
            <a:ext cx="1444752" cy="1143000"/>
          </a:xfrm>
          <a:prstGeom prst="roundRect">
            <a:avLst>
              <a:gd name="adj" fmla="val 9600"/>
            </a:avLst>
          </a:prstGeom>
          <a:solidFill>
            <a:srgbClr val="EEF2FF"/>
          </a:solidFill>
          <a:ln w="8890">
            <a:solidFill>
              <a:srgbClr val="E2E8F0"/>
            </a:solidFill>
            <a:prstDash val="solid"/>
          </a:ln>
          <a:effectLst>
            <a:outerShdw blurRad="19050" dist="8890" dir="2700000" algn="bl" rotWithShape="0">
              <a:srgbClr val="000000">
                <a:alpha val="10000"/>
              </a:srgbClr>
            </a:outerShdw>
          </a:effectLst>
        </p:spPr>
      </p:sp>
      <p:sp>
        <p:nvSpPr>
          <p:cNvPr id="23" name="Shape 21"/>
          <p:cNvSpPr/>
          <p:nvPr/>
        </p:nvSpPr>
        <p:spPr>
          <a:xfrm>
            <a:off x="6784848" y="1773936"/>
            <a:ext cx="438912" cy="438912"/>
          </a:xfrm>
          <a:prstGeom prst="ellipse">
            <a:avLst/>
          </a:prstGeom>
          <a:solidFill>
            <a:srgbClr val="22C55E"/>
          </a:solidFill>
          <a:ln w="12700">
            <a:solidFill>
              <a:srgbClr val="22C55E"/>
            </a:solidFill>
            <a:prstDash val="solid"/>
          </a:ln>
        </p:spPr>
      </p:sp>
      <p:sp>
        <p:nvSpPr>
          <p:cNvPr id="24" name="Text 22"/>
          <p:cNvSpPr/>
          <p:nvPr/>
        </p:nvSpPr>
        <p:spPr>
          <a:xfrm>
            <a:off x="6922008" y="1865376"/>
            <a:ext cx="146304" cy="73152"/>
          </a:xfrm>
          <a:prstGeom prst="rect">
            <a:avLst/>
          </a:prstGeom>
          <a:noFill/>
          <a:ln/>
        </p:spPr>
        <p:txBody>
          <a:bodyPr wrap="square" lIns="0" tIns="0" rIns="0" bIns="0" rtlCol="0" anchor="ctr"/>
          <a:lstStyle/>
          <a:p>
            <a:pPr marL="0" indent="0" algn="ctr">
              <a:buNone/>
            </a:pPr>
            <a:r>
              <a:rPr lang="en-US" sz="800" b="1" dirty="0">
                <a:solidFill>
                  <a:srgbClr val="FFFFFF"/>
                </a:solidFill>
              </a:rPr>
              <a:t>4</a:t>
            </a:r>
            <a:endParaRPr lang="en-US" sz="800" dirty="0"/>
          </a:p>
        </p:txBody>
      </p:sp>
      <p:sp>
        <p:nvSpPr>
          <p:cNvPr id="25" name="Text 23"/>
          <p:cNvSpPr/>
          <p:nvPr/>
        </p:nvSpPr>
        <p:spPr>
          <a:xfrm>
            <a:off x="6409944" y="2331720"/>
            <a:ext cx="1188720" cy="228600"/>
          </a:xfrm>
          <a:prstGeom prst="rect">
            <a:avLst/>
          </a:prstGeom>
          <a:noFill/>
          <a:ln/>
        </p:spPr>
        <p:txBody>
          <a:bodyPr wrap="square" lIns="0" tIns="0" rIns="0" bIns="0" rtlCol="0" anchor="ctr">
            <a:normAutofit/>
          </a:bodyPr>
          <a:lstStyle/>
          <a:p>
            <a:pPr marL="0" indent="0" algn="ctr">
              <a:buNone/>
            </a:pPr>
            <a:r>
              <a:rPr lang="en-US" sz="820" b="1" dirty="0">
                <a:solidFill>
                  <a:srgbClr val="0F172A"/>
                </a:solidFill>
              </a:rPr>
              <a:t>Read user claims</a:t>
            </a:r>
            <a:endParaRPr lang="en-US" sz="820" dirty="0"/>
          </a:p>
        </p:txBody>
      </p:sp>
      <p:sp>
        <p:nvSpPr>
          <p:cNvPr id="26" name="Shape 24"/>
          <p:cNvSpPr/>
          <p:nvPr/>
        </p:nvSpPr>
        <p:spPr>
          <a:xfrm>
            <a:off x="7699248" y="1956816"/>
            <a:ext cx="310896" cy="256032"/>
          </a:xfrm>
          <a:prstGeom prst="chevron">
            <a:avLst/>
          </a:prstGeom>
          <a:solidFill>
            <a:srgbClr val="BFDBFE"/>
          </a:solidFill>
          <a:ln w="12700">
            <a:solidFill>
              <a:srgbClr val="BFDBFE"/>
            </a:solidFill>
            <a:prstDash val="solid"/>
          </a:ln>
        </p:spPr>
      </p:sp>
      <p:sp>
        <p:nvSpPr>
          <p:cNvPr id="27" name="Shape 25"/>
          <p:cNvSpPr/>
          <p:nvPr/>
        </p:nvSpPr>
        <p:spPr>
          <a:xfrm>
            <a:off x="8156448" y="1572768"/>
            <a:ext cx="1444752" cy="1143000"/>
          </a:xfrm>
          <a:prstGeom prst="roundRect">
            <a:avLst>
              <a:gd name="adj" fmla="val 9600"/>
            </a:avLst>
          </a:prstGeom>
          <a:solidFill>
            <a:srgbClr val="ECFEFF"/>
          </a:solidFill>
          <a:ln w="8890">
            <a:solidFill>
              <a:srgbClr val="E2E8F0"/>
            </a:solidFill>
            <a:prstDash val="solid"/>
          </a:ln>
          <a:effectLst>
            <a:outerShdw blurRad="19050" dist="8890" dir="2700000" algn="bl" rotWithShape="0">
              <a:srgbClr val="000000">
                <a:alpha val="10000"/>
              </a:srgbClr>
            </a:outerShdw>
          </a:effectLst>
        </p:spPr>
      </p:sp>
      <p:sp>
        <p:nvSpPr>
          <p:cNvPr id="28" name="Shape 26"/>
          <p:cNvSpPr/>
          <p:nvPr/>
        </p:nvSpPr>
        <p:spPr>
          <a:xfrm>
            <a:off x="8659368" y="1773936"/>
            <a:ext cx="438912" cy="438912"/>
          </a:xfrm>
          <a:prstGeom prst="ellipse">
            <a:avLst/>
          </a:prstGeom>
          <a:solidFill>
            <a:srgbClr val="F59E0B"/>
          </a:solidFill>
          <a:ln w="12700">
            <a:solidFill>
              <a:srgbClr val="F59E0B"/>
            </a:solidFill>
            <a:prstDash val="solid"/>
          </a:ln>
        </p:spPr>
      </p:sp>
      <p:sp>
        <p:nvSpPr>
          <p:cNvPr id="29" name="Text 27"/>
          <p:cNvSpPr/>
          <p:nvPr/>
        </p:nvSpPr>
        <p:spPr>
          <a:xfrm>
            <a:off x="8796528" y="1865376"/>
            <a:ext cx="146304" cy="73152"/>
          </a:xfrm>
          <a:prstGeom prst="rect">
            <a:avLst/>
          </a:prstGeom>
          <a:noFill/>
          <a:ln/>
        </p:spPr>
        <p:txBody>
          <a:bodyPr wrap="square" lIns="0" tIns="0" rIns="0" bIns="0" rtlCol="0" anchor="ctr"/>
          <a:lstStyle/>
          <a:p>
            <a:pPr marL="0" indent="0" algn="ctr">
              <a:buNone/>
            </a:pPr>
            <a:r>
              <a:rPr lang="en-US" sz="800" b="1" dirty="0">
                <a:solidFill>
                  <a:srgbClr val="FFFFFF"/>
                </a:solidFill>
              </a:rPr>
              <a:t>5</a:t>
            </a:r>
            <a:endParaRPr lang="en-US" sz="800" dirty="0"/>
          </a:p>
        </p:txBody>
      </p:sp>
      <p:sp>
        <p:nvSpPr>
          <p:cNvPr id="30" name="Text 28"/>
          <p:cNvSpPr/>
          <p:nvPr/>
        </p:nvSpPr>
        <p:spPr>
          <a:xfrm>
            <a:off x="8284464" y="2331720"/>
            <a:ext cx="1188720" cy="228600"/>
          </a:xfrm>
          <a:prstGeom prst="rect">
            <a:avLst/>
          </a:prstGeom>
          <a:noFill/>
          <a:ln/>
        </p:spPr>
        <p:txBody>
          <a:bodyPr wrap="square" lIns="0" tIns="0" rIns="0" bIns="0" rtlCol="0" anchor="ctr">
            <a:normAutofit/>
          </a:bodyPr>
          <a:lstStyle/>
          <a:p>
            <a:pPr marL="0" indent="0" algn="ctr">
              <a:buNone/>
            </a:pPr>
            <a:r>
              <a:rPr lang="en-US" sz="820" b="1" dirty="0">
                <a:solidFill>
                  <a:srgbClr val="0F172A"/>
                </a:solidFill>
              </a:rPr>
              <a:t>Map desk to employee</a:t>
            </a:r>
            <a:endParaRPr lang="en-US" sz="820" dirty="0"/>
          </a:p>
        </p:txBody>
      </p:sp>
      <p:sp>
        <p:nvSpPr>
          <p:cNvPr id="31" name="Shape 29"/>
          <p:cNvSpPr/>
          <p:nvPr/>
        </p:nvSpPr>
        <p:spPr>
          <a:xfrm>
            <a:off x="9573768" y="1956816"/>
            <a:ext cx="310896" cy="256032"/>
          </a:xfrm>
          <a:prstGeom prst="chevron">
            <a:avLst/>
          </a:prstGeom>
          <a:solidFill>
            <a:srgbClr val="BFDBFE"/>
          </a:solidFill>
          <a:ln w="12700">
            <a:solidFill>
              <a:srgbClr val="BFDBFE"/>
            </a:solidFill>
            <a:prstDash val="solid"/>
          </a:ln>
        </p:spPr>
      </p:sp>
      <p:sp>
        <p:nvSpPr>
          <p:cNvPr id="32" name="Shape 30"/>
          <p:cNvSpPr/>
          <p:nvPr/>
        </p:nvSpPr>
        <p:spPr>
          <a:xfrm>
            <a:off x="10030968" y="1572768"/>
            <a:ext cx="1444752" cy="1143000"/>
          </a:xfrm>
          <a:prstGeom prst="roundRect">
            <a:avLst>
              <a:gd name="adj" fmla="val 9600"/>
            </a:avLst>
          </a:prstGeom>
          <a:solidFill>
            <a:srgbClr val="EEF2FF"/>
          </a:solidFill>
          <a:ln w="8890">
            <a:solidFill>
              <a:srgbClr val="E2E8F0"/>
            </a:solidFill>
            <a:prstDash val="solid"/>
          </a:ln>
          <a:effectLst>
            <a:outerShdw blurRad="19050" dist="8890" dir="2700000" algn="bl" rotWithShape="0">
              <a:srgbClr val="000000">
                <a:alpha val="10000"/>
              </a:srgbClr>
            </a:outerShdw>
          </a:effectLst>
        </p:spPr>
      </p:sp>
      <p:sp>
        <p:nvSpPr>
          <p:cNvPr id="33" name="Shape 31"/>
          <p:cNvSpPr/>
          <p:nvPr/>
        </p:nvSpPr>
        <p:spPr>
          <a:xfrm>
            <a:off x="10533888" y="1773936"/>
            <a:ext cx="438912" cy="438912"/>
          </a:xfrm>
          <a:prstGeom prst="ellipse">
            <a:avLst/>
          </a:prstGeom>
          <a:solidFill>
            <a:srgbClr val="0EA5E9"/>
          </a:solidFill>
          <a:ln w="12700">
            <a:solidFill>
              <a:srgbClr val="0EA5E9"/>
            </a:solidFill>
            <a:prstDash val="solid"/>
          </a:ln>
        </p:spPr>
      </p:sp>
      <p:sp>
        <p:nvSpPr>
          <p:cNvPr id="34" name="Text 32"/>
          <p:cNvSpPr/>
          <p:nvPr/>
        </p:nvSpPr>
        <p:spPr>
          <a:xfrm>
            <a:off x="10671048" y="1865376"/>
            <a:ext cx="146304" cy="73152"/>
          </a:xfrm>
          <a:prstGeom prst="rect">
            <a:avLst/>
          </a:prstGeom>
          <a:noFill/>
          <a:ln/>
        </p:spPr>
        <p:txBody>
          <a:bodyPr wrap="square" lIns="0" tIns="0" rIns="0" bIns="0" rtlCol="0" anchor="ctr"/>
          <a:lstStyle/>
          <a:p>
            <a:pPr marL="0" indent="0" algn="ctr">
              <a:buNone/>
            </a:pPr>
            <a:r>
              <a:rPr lang="en-US" sz="800" b="1" dirty="0">
                <a:solidFill>
                  <a:srgbClr val="FFFFFF"/>
                </a:solidFill>
              </a:rPr>
              <a:t>6</a:t>
            </a:r>
            <a:endParaRPr lang="en-US" sz="800" dirty="0"/>
          </a:p>
        </p:txBody>
      </p:sp>
      <p:sp>
        <p:nvSpPr>
          <p:cNvPr id="35" name="Text 33"/>
          <p:cNvSpPr/>
          <p:nvPr/>
        </p:nvSpPr>
        <p:spPr>
          <a:xfrm>
            <a:off x="10158984" y="2331720"/>
            <a:ext cx="1188720" cy="228600"/>
          </a:xfrm>
          <a:prstGeom prst="rect">
            <a:avLst/>
          </a:prstGeom>
          <a:noFill/>
          <a:ln/>
        </p:spPr>
        <p:txBody>
          <a:bodyPr wrap="square" lIns="0" tIns="0" rIns="0" bIns="0" rtlCol="0" anchor="ctr">
            <a:normAutofit/>
          </a:bodyPr>
          <a:lstStyle/>
          <a:p>
            <a:pPr marL="0" indent="0" algn="ctr">
              <a:buNone/>
            </a:pPr>
            <a:r>
              <a:rPr lang="en-US" sz="820" b="1" dirty="0">
                <a:solidFill>
                  <a:srgbClr val="0F172A"/>
                </a:solidFill>
              </a:rPr>
              <a:t>Update dashboard</a:t>
            </a:r>
            <a:endParaRPr lang="en-US" sz="820" dirty="0"/>
          </a:p>
        </p:txBody>
      </p:sp>
      <p:sp>
        <p:nvSpPr>
          <p:cNvPr id="36" name="Shape 34"/>
          <p:cNvSpPr/>
          <p:nvPr/>
        </p:nvSpPr>
        <p:spPr>
          <a:xfrm>
            <a:off x="960120" y="3703320"/>
            <a:ext cx="4800600" cy="1417320"/>
          </a:xfrm>
          <a:prstGeom prst="roundRect">
            <a:avLst>
              <a:gd name="adj" fmla="val 7742"/>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37" name="Text 35"/>
          <p:cNvSpPr/>
          <p:nvPr/>
        </p:nvSpPr>
        <p:spPr>
          <a:xfrm>
            <a:off x="1188720" y="3950208"/>
            <a:ext cx="1737360" cy="228600"/>
          </a:xfrm>
          <a:prstGeom prst="rect">
            <a:avLst/>
          </a:prstGeom>
          <a:noFill/>
          <a:ln/>
        </p:spPr>
        <p:txBody>
          <a:bodyPr wrap="square" lIns="0" tIns="0" rIns="0" bIns="0" rtlCol="0" anchor="ctr"/>
          <a:lstStyle/>
          <a:p>
            <a:pPr marL="0" indent="0">
              <a:buNone/>
            </a:pPr>
            <a:r>
              <a:rPr lang="en-US" sz="1300" b="1" dirty="0">
                <a:solidFill>
                  <a:srgbClr val="2563EB"/>
                </a:solidFill>
              </a:rPr>
              <a:t>Single-tenant Okta</a:t>
            </a:r>
            <a:endParaRPr lang="en-US" sz="1300" dirty="0"/>
          </a:p>
        </p:txBody>
      </p:sp>
      <p:sp>
        <p:nvSpPr>
          <p:cNvPr id="38" name="Text 36"/>
          <p:cNvSpPr/>
          <p:nvPr/>
        </p:nvSpPr>
        <p:spPr>
          <a:xfrm>
            <a:off x="1188720" y="4343400"/>
            <a:ext cx="4206240" cy="384048"/>
          </a:xfrm>
          <a:prstGeom prst="rect">
            <a:avLst/>
          </a:prstGeom>
          <a:noFill/>
          <a:ln/>
        </p:spPr>
        <p:txBody>
          <a:bodyPr wrap="square" lIns="0" tIns="0" rIns="0" bIns="0" rtlCol="0" anchor="ctr">
            <a:normAutofit/>
          </a:bodyPr>
          <a:lstStyle/>
          <a:p>
            <a:pPr marL="0" indent="0">
              <a:buNone/>
            </a:pPr>
            <a:r>
              <a:rPr lang="en-US" sz="870" dirty="0">
                <a:solidFill>
                  <a:srgbClr val="475569"/>
                </a:solidFill>
              </a:rPr>
              <a:t>Everyone belongs to one organization tenant. The backend redirects unauthenticated users to the configured authorization endpoint and uses claims like email/name/group after login.</a:t>
            </a:r>
            <a:endParaRPr lang="en-US" sz="870" dirty="0"/>
          </a:p>
        </p:txBody>
      </p:sp>
      <p:sp>
        <p:nvSpPr>
          <p:cNvPr id="39" name="Shape 37"/>
          <p:cNvSpPr/>
          <p:nvPr/>
        </p:nvSpPr>
        <p:spPr>
          <a:xfrm>
            <a:off x="6400800" y="3703320"/>
            <a:ext cx="4800600" cy="1417320"/>
          </a:xfrm>
          <a:prstGeom prst="roundRect">
            <a:avLst>
              <a:gd name="adj" fmla="val 7742"/>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40" name="Text 38"/>
          <p:cNvSpPr/>
          <p:nvPr/>
        </p:nvSpPr>
        <p:spPr>
          <a:xfrm>
            <a:off x="6629400" y="3950208"/>
            <a:ext cx="1737360" cy="228600"/>
          </a:xfrm>
          <a:prstGeom prst="rect">
            <a:avLst/>
          </a:prstGeom>
          <a:noFill/>
          <a:ln/>
        </p:spPr>
        <p:txBody>
          <a:bodyPr wrap="square" lIns="0" tIns="0" rIns="0" bIns="0" rtlCol="0" anchor="ctr"/>
          <a:lstStyle/>
          <a:p>
            <a:pPr marL="0" indent="0">
              <a:buNone/>
            </a:pPr>
            <a:r>
              <a:rPr lang="en-US" sz="1300" b="1" dirty="0">
                <a:solidFill>
                  <a:srgbClr val="14B8A6"/>
                </a:solidFill>
              </a:rPr>
              <a:t>Multi-tenant option</a:t>
            </a:r>
            <a:endParaRPr lang="en-US" sz="1300" dirty="0"/>
          </a:p>
        </p:txBody>
      </p:sp>
      <p:sp>
        <p:nvSpPr>
          <p:cNvPr id="41" name="Text 39"/>
          <p:cNvSpPr/>
          <p:nvPr/>
        </p:nvSpPr>
        <p:spPr>
          <a:xfrm>
            <a:off x="6629400" y="4343400"/>
            <a:ext cx="4206240" cy="384048"/>
          </a:xfrm>
          <a:prstGeom prst="rect">
            <a:avLst/>
          </a:prstGeom>
          <a:noFill/>
          <a:ln/>
        </p:spPr>
        <p:txBody>
          <a:bodyPr wrap="square" lIns="0" tIns="0" rIns="0" bIns="0" rtlCol="0" anchor="ctr">
            <a:normAutofit/>
          </a:bodyPr>
          <a:lstStyle/>
          <a:p>
            <a:pPr marL="0" indent="0">
              <a:buNone/>
            </a:pPr>
            <a:r>
              <a:rPr lang="en-US" sz="870" dirty="0">
                <a:solidFill>
                  <a:srgbClr val="475569"/>
                </a:solidFill>
              </a:rPr>
              <a:t>If multiple customer organizations exist, the QR URL can include tenant ID or the user email domain can route to the correct Okta organization.</a:t>
            </a:r>
            <a:endParaRPr lang="en-US" sz="870" dirty="0"/>
          </a:p>
        </p:txBody>
      </p:sp>
      <p:sp>
        <p:nvSpPr>
          <p:cNvPr id="42"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66928" y="301752"/>
            <a:ext cx="8412480" cy="384048"/>
          </a:xfrm>
          <a:prstGeom prst="rect">
            <a:avLst/>
          </a:prstGeom>
          <a:noFill/>
          <a:ln/>
        </p:spPr>
        <p:txBody>
          <a:bodyPr wrap="square" lIns="0" tIns="0" rIns="0" bIns="0"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Desk occupancy and release logic</a:t>
            </a:r>
            <a:endParaRPr lang="en-US" sz="2300" dirty="0"/>
          </a:p>
        </p:txBody>
      </p:sp>
      <p:sp>
        <p:nvSpPr>
          <p:cNvPr id="4" name="Text 2"/>
          <p:cNvSpPr/>
          <p:nvPr/>
        </p:nvSpPr>
        <p:spPr>
          <a:xfrm>
            <a:off x="594360" y="749808"/>
            <a:ext cx="8138160" cy="237744"/>
          </a:xfrm>
          <a:prstGeom prst="rect">
            <a:avLst/>
          </a:prstGeom>
          <a:noFill/>
          <a:ln/>
        </p:spPr>
        <p:txBody>
          <a:bodyPr wrap="square" lIns="0" tIns="0" rIns="0" bIns="0" rtlCol="0" anchor="ctr"/>
          <a:lstStyle/>
          <a:p>
            <a:pPr marL="0" indent="0">
              <a:buNone/>
            </a:pPr>
            <a:r>
              <a:rPr lang="en-US" sz="980" dirty="0">
                <a:solidFill>
                  <a:srgbClr val="64748B"/>
                </a:solidFill>
              </a:rPr>
              <a:t>A fair release algorithm prevents phantom occupancy while protecting legitimate meeting scenarios.</a:t>
            </a:r>
            <a:endParaRPr lang="en-US" sz="980" dirty="0"/>
          </a:p>
        </p:txBody>
      </p:sp>
      <p:sp>
        <p:nvSpPr>
          <p:cNvPr id="5" name="Shape 3"/>
          <p:cNvSpPr/>
          <p:nvPr/>
        </p:nvSpPr>
        <p:spPr>
          <a:xfrm>
            <a:off x="10927080" y="256032"/>
            <a:ext cx="658368" cy="658368"/>
          </a:xfrm>
          <a:prstGeom prst="arc">
            <a:avLst/>
          </a:prstGeom>
          <a:noFill/>
          <a:ln w="27940">
            <a:solidFill>
              <a:srgbClr val="14B8A6"/>
            </a:solidFill>
            <a:prstDash val="solid"/>
            <a:headEnd type="none"/>
            <a:tailEnd type="none"/>
          </a:ln>
        </p:spPr>
      </p:sp>
      <p:sp>
        <p:nvSpPr>
          <p:cNvPr id="6" name="Shape 4"/>
          <p:cNvSpPr/>
          <p:nvPr/>
        </p:nvSpPr>
        <p:spPr>
          <a:xfrm>
            <a:off x="11119104" y="429768"/>
            <a:ext cx="640080" cy="640080"/>
          </a:xfrm>
          <a:prstGeom prst="arc">
            <a:avLst/>
          </a:prstGeom>
          <a:noFill/>
          <a:ln w="27940">
            <a:solidFill>
              <a:srgbClr val="2563EB"/>
            </a:solidFill>
            <a:prstDash val="solid"/>
          </a:ln>
        </p:spPr>
      </p:sp>
      <p:sp>
        <p:nvSpPr>
          <p:cNvPr id="7" name="Shape 5"/>
          <p:cNvSpPr/>
          <p:nvPr/>
        </p:nvSpPr>
        <p:spPr>
          <a:xfrm>
            <a:off x="731520" y="1325880"/>
            <a:ext cx="1481328" cy="731520"/>
          </a:xfrm>
          <a:prstGeom prst="roundRect">
            <a:avLst>
              <a:gd name="adj" fmla="val 15000"/>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8" name="Text 6"/>
          <p:cNvSpPr/>
          <p:nvPr/>
        </p:nvSpPr>
        <p:spPr>
          <a:xfrm>
            <a:off x="841248" y="1545336"/>
            <a:ext cx="1261872" cy="164592"/>
          </a:xfrm>
          <a:prstGeom prst="rect">
            <a:avLst/>
          </a:prstGeom>
          <a:noFill/>
          <a:ln/>
        </p:spPr>
        <p:txBody>
          <a:bodyPr wrap="square" lIns="0" tIns="0" rIns="0" bIns="0" rtlCol="0" anchor="ctr">
            <a:normAutofit/>
          </a:bodyPr>
          <a:lstStyle/>
          <a:p>
            <a:pPr marL="0" indent="0" algn="ctr">
              <a:buNone/>
            </a:pPr>
            <a:r>
              <a:rPr lang="en-US" sz="820" b="1" dirty="0">
                <a:solidFill>
                  <a:srgbClr val="2563EB"/>
                </a:solidFill>
              </a:rPr>
              <a:t>Desk booked or scanned</a:t>
            </a:r>
            <a:endParaRPr lang="en-US" sz="820" dirty="0"/>
          </a:p>
        </p:txBody>
      </p:sp>
      <p:sp>
        <p:nvSpPr>
          <p:cNvPr id="9" name="Shape 7"/>
          <p:cNvSpPr/>
          <p:nvPr/>
        </p:nvSpPr>
        <p:spPr>
          <a:xfrm>
            <a:off x="2267712" y="1581912"/>
            <a:ext cx="320040" cy="201168"/>
          </a:xfrm>
          <a:prstGeom prst="chevron">
            <a:avLst/>
          </a:prstGeom>
          <a:solidFill>
            <a:srgbClr val="BFDBFE"/>
          </a:solidFill>
          <a:ln w="12700">
            <a:solidFill>
              <a:srgbClr val="BFDBFE"/>
            </a:solidFill>
            <a:prstDash val="solid"/>
          </a:ln>
        </p:spPr>
      </p:sp>
      <p:sp>
        <p:nvSpPr>
          <p:cNvPr id="10" name="Shape 8"/>
          <p:cNvSpPr/>
          <p:nvPr/>
        </p:nvSpPr>
        <p:spPr>
          <a:xfrm>
            <a:off x="2743200" y="1325880"/>
            <a:ext cx="1481328" cy="731520"/>
          </a:xfrm>
          <a:prstGeom prst="roundRect">
            <a:avLst>
              <a:gd name="adj" fmla="val 15000"/>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11" name="Text 9"/>
          <p:cNvSpPr/>
          <p:nvPr/>
        </p:nvSpPr>
        <p:spPr>
          <a:xfrm>
            <a:off x="2852928" y="1545336"/>
            <a:ext cx="1261872" cy="164592"/>
          </a:xfrm>
          <a:prstGeom prst="rect">
            <a:avLst/>
          </a:prstGeom>
          <a:noFill/>
          <a:ln/>
        </p:spPr>
        <p:txBody>
          <a:bodyPr wrap="square" lIns="0" tIns="0" rIns="0" bIns="0" rtlCol="0" anchor="ctr">
            <a:normAutofit/>
          </a:bodyPr>
          <a:lstStyle/>
          <a:p>
            <a:pPr marL="0" indent="0" algn="ctr">
              <a:buNone/>
            </a:pPr>
            <a:r>
              <a:rPr lang="en-US" sz="820" b="1" dirty="0">
                <a:solidFill>
                  <a:srgbClr val="14B8A6"/>
                </a:solidFill>
              </a:rPr>
              <a:t>Swipe-in exists?</a:t>
            </a:r>
            <a:endParaRPr lang="en-US" sz="820" dirty="0"/>
          </a:p>
        </p:txBody>
      </p:sp>
      <p:sp>
        <p:nvSpPr>
          <p:cNvPr id="12" name="Shape 10"/>
          <p:cNvSpPr/>
          <p:nvPr/>
        </p:nvSpPr>
        <p:spPr>
          <a:xfrm>
            <a:off x="4279392" y="1581912"/>
            <a:ext cx="320040" cy="201168"/>
          </a:xfrm>
          <a:prstGeom prst="chevron">
            <a:avLst/>
          </a:prstGeom>
          <a:solidFill>
            <a:srgbClr val="BFDBFE"/>
          </a:solidFill>
          <a:ln w="12700">
            <a:solidFill>
              <a:srgbClr val="BFDBFE"/>
            </a:solidFill>
            <a:prstDash val="solid"/>
          </a:ln>
        </p:spPr>
      </p:sp>
      <p:sp>
        <p:nvSpPr>
          <p:cNvPr id="13" name="Shape 11"/>
          <p:cNvSpPr/>
          <p:nvPr/>
        </p:nvSpPr>
        <p:spPr>
          <a:xfrm>
            <a:off x="4663440" y="1325880"/>
            <a:ext cx="1481328" cy="731520"/>
          </a:xfrm>
          <a:prstGeom prst="roundRect">
            <a:avLst>
              <a:gd name="adj" fmla="val 15000"/>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14" name="Text 12"/>
          <p:cNvSpPr/>
          <p:nvPr/>
        </p:nvSpPr>
        <p:spPr>
          <a:xfrm>
            <a:off x="4773168" y="1545336"/>
            <a:ext cx="1261872" cy="164592"/>
          </a:xfrm>
          <a:prstGeom prst="rect">
            <a:avLst/>
          </a:prstGeom>
          <a:noFill/>
          <a:ln/>
        </p:spPr>
        <p:txBody>
          <a:bodyPr wrap="square" lIns="0" tIns="0" rIns="0" bIns="0" rtlCol="0" anchor="ctr">
            <a:normAutofit/>
          </a:bodyPr>
          <a:lstStyle/>
          <a:p>
            <a:pPr marL="0" indent="0" algn="ctr">
              <a:buNone/>
            </a:pPr>
            <a:r>
              <a:rPr lang="en-US" sz="820" b="1" dirty="0">
                <a:solidFill>
                  <a:srgbClr val="22C55E"/>
                </a:solidFill>
              </a:rPr>
              <a:t>LAN active?</a:t>
            </a:r>
            <a:endParaRPr lang="en-US" sz="820" dirty="0"/>
          </a:p>
        </p:txBody>
      </p:sp>
      <p:sp>
        <p:nvSpPr>
          <p:cNvPr id="15" name="Shape 13"/>
          <p:cNvSpPr/>
          <p:nvPr/>
        </p:nvSpPr>
        <p:spPr>
          <a:xfrm>
            <a:off x="6199632" y="1581912"/>
            <a:ext cx="320040" cy="201168"/>
          </a:xfrm>
          <a:prstGeom prst="chevron">
            <a:avLst/>
          </a:prstGeom>
          <a:solidFill>
            <a:srgbClr val="BFDBFE"/>
          </a:solidFill>
          <a:ln w="12700">
            <a:solidFill>
              <a:srgbClr val="BFDBFE"/>
            </a:solidFill>
            <a:prstDash val="solid"/>
          </a:ln>
        </p:spPr>
      </p:sp>
      <p:sp>
        <p:nvSpPr>
          <p:cNvPr id="16" name="Shape 14"/>
          <p:cNvSpPr/>
          <p:nvPr/>
        </p:nvSpPr>
        <p:spPr>
          <a:xfrm>
            <a:off x="6583680" y="1325880"/>
            <a:ext cx="1481328" cy="731520"/>
          </a:xfrm>
          <a:prstGeom prst="roundRect">
            <a:avLst>
              <a:gd name="adj" fmla="val 15000"/>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17" name="Text 15"/>
          <p:cNvSpPr/>
          <p:nvPr/>
        </p:nvSpPr>
        <p:spPr>
          <a:xfrm>
            <a:off x="6693408" y="1545336"/>
            <a:ext cx="1261872" cy="164592"/>
          </a:xfrm>
          <a:prstGeom prst="rect">
            <a:avLst/>
          </a:prstGeom>
          <a:noFill/>
          <a:ln/>
        </p:spPr>
        <p:txBody>
          <a:bodyPr wrap="square" lIns="0" tIns="0" rIns="0" bIns="0" rtlCol="0" anchor="ctr">
            <a:normAutofit/>
          </a:bodyPr>
          <a:lstStyle/>
          <a:p>
            <a:pPr marL="0" indent="0" algn="ctr">
              <a:buNone/>
            </a:pPr>
            <a:r>
              <a:rPr lang="en-US" sz="820" b="1" dirty="0">
                <a:solidFill>
                  <a:srgbClr val="F59E0B"/>
                </a:solidFill>
              </a:rPr>
              <a:t>Inactive 45 min?</a:t>
            </a:r>
            <a:endParaRPr lang="en-US" sz="820" dirty="0"/>
          </a:p>
        </p:txBody>
      </p:sp>
      <p:sp>
        <p:nvSpPr>
          <p:cNvPr id="18" name="Shape 16"/>
          <p:cNvSpPr/>
          <p:nvPr/>
        </p:nvSpPr>
        <p:spPr>
          <a:xfrm>
            <a:off x="8119872" y="1581912"/>
            <a:ext cx="320040" cy="201168"/>
          </a:xfrm>
          <a:prstGeom prst="chevron">
            <a:avLst/>
          </a:prstGeom>
          <a:solidFill>
            <a:srgbClr val="BFDBFE"/>
          </a:solidFill>
          <a:ln w="12700">
            <a:solidFill>
              <a:srgbClr val="BFDBFE"/>
            </a:solidFill>
            <a:prstDash val="solid"/>
          </a:ln>
        </p:spPr>
      </p:sp>
      <p:sp>
        <p:nvSpPr>
          <p:cNvPr id="19" name="Shape 17"/>
          <p:cNvSpPr/>
          <p:nvPr/>
        </p:nvSpPr>
        <p:spPr>
          <a:xfrm>
            <a:off x="8503920" y="1325880"/>
            <a:ext cx="1481328" cy="731520"/>
          </a:xfrm>
          <a:prstGeom prst="roundRect">
            <a:avLst>
              <a:gd name="adj" fmla="val 15000"/>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20" name="Text 18"/>
          <p:cNvSpPr/>
          <p:nvPr/>
        </p:nvSpPr>
        <p:spPr>
          <a:xfrm>
            <a:off x="8613648" y="1545336"/>
            <a:ext cx="1261872" cy="164592"/>
          </a:xfrm>
          <a:prstGeom prst="rect">
            <a:avLst/>
          </a:prstGeom>
          <a:noFill/>
          <a:ln/>
        </p:spPr>
        <p:txBody>
          <a:bodyPr wrap="square" lIns="0" tIns="0" rIns="0" bIns="0" rtlCol="0" anchor="ctr">
            <a:normAutofit/>
          </a:bodyPr>
          <a:lstStyle/>
          <a:p>
            <a:pPr marL="0" indent="0" algn="ctr">
              <a:buNone/>
            </a:pPr>
            <a:r>
              <a:rPr lang="en-US" sz="820" b="1" dirty="0">
                <a:solidFill>
                  <a:srgbClr val="8B5CF6"/>
                </a:solidFill>
              </a:rPr>
              <a:t>Calendar conflict?</a:t>
            </a:r>
            <a:endParaRPr lang="en-US" sz="820" dirty="0"/>
          </a:p>
        </p:txBody>
      </p:sp>
      <p:sp>
        <p:nvSpPr>
          <p:cNvPr id="21" name="Shape 19"/>
          <p:cNvSpPr/>
          <p:nvPr/>
        </p:nvSpPr>
        <p:spPr>
          <a:xfrm>
            <a:off x="10040112" y="1581912"/>
            <a:ext cx="320040" cy="201168"/>
          </a:xfrm>
          <a:prstGeom prst="chevron">
            <a:avLst/>
          </a:prstGeom>
          <a:solidFill>
            <a:srgbClr val="BFDBFE"/>
          </a:solidFill>
          <a:ln w="12700">
            <a:solidFill>
              <a:srgbClr val="BFDBFE"/>
            </a:solidFill>
            <a:prstDash val="solid"/>
          </a:ln>
        </p:spPr>
      </p:sp>
      <p:sp>
        <p:nvSpPr>
          <p:cNvPr id="22" name="Shape 20"/>
          <p:cNvSpPr/>
          <p:nvPr/>
        </p:nvSpPr>
        <p:spPr>
          <a:xfrm>
            <a:off x="10058400" y="1325880"/>
            <a:ext cx="1481328" cy="731520"/>
          </a:xfrm>
          <a:prstGeom prst="roundRect">
            <a:avLst>
              <a:gd name="adj" fmla="val 15000"/>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23" name="Text 21"/>
          <p:cNvSpPr/>
          <p:nvPr/>
        </p:nvSpPr>
        <p:spPr>
          <a:xfrm>
            <a:off x="10168128" y="1545336"/>
            <a:ext cx="1261872" cy="164592"/>
          </a:xfrm>
          <a:prstGeom prst="rect">
            <a:avLst/>
          </a:prstGeom>
          <a:noFill/>
          <a:ln/>
        </p:spPr>
        <p:txBody>
          <a:bodyPr wrap="square" lIns="0" tIns="0" rIns="0" bIns="0" rtlCol="0" anchor="ctr">
            <a:normAutofit/>
          </a:bodyPr>
          <a:lstStyle/>
          <a:p>
            <a:pPr marL="0" indent="0" algn="ctr">
              <a:buNone/>
            </a:pPr>
            <a:r>
              <a:rPr lang="en-US" sz="820" b="1" dirty="0">
                <a:solidFill>
                  <a:srgbClr val="EF4444"/>
                </a:solidFill>
              </a:rPr>
              <a:t>Notify user / release</a:t>
            </a:r>
            <a:endParaRPr lang="en-US" sz="820" dirty="0"/>
          </a:p>
        </p:txBody>
      </p:sp>
      <p:sp>
        <p:nvSpPr>
          <p:cNvPr id="24" name="Shape 22"/>
          <p:cNvSpPr/>
          <p:nvPr/>
        </p:nvSpPr>
        <p:spPr>
          <a:xfrm>
            <a:off x="841248" y="2788920"/>
            <a:ext cx="4937760" cy="2560320"/>
          </a:xfrm>
          <a:prstGeom prst="roundRect">
            <a:avLst>
              <a:gd name="adj" fmla="val 4286"/>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25" name="Text 23"/>
          <p:cNvSpPr/>
          <p:nvPr/>
        </p:nvSpPr>
        <p:spPr>
          <a:xfrm>
            <a:off x="1097280" y="3063240"/>
            <a:ext cx="2286000" cy="228600"/>
          </a:xfrm>
          <a:prstGeom prst="rect">
            <a:avLst/>
          </a:prstGeom>
          <a:noFill/>
          <a:ln/>
        </p:spPr>
        <p:txBody>
          <a:bodyPr wrap="square" lIns="0" tIns="0" rIns="0" bIns="0" rtlCol="0" anchor="ctr"/>
          <a:lstStyle/>
          <a:p>
            <a:pPr marL="0" indent="0">
              <a:buNone/>
            </a:pPr>
            <a:r>
              <a:rPr lang="en-US" sz="1500" b="1" dirty="0">
                <a:solidFill>
                  <a:srgbClr val="0F172A"/>
                </a:solidFill>
              </a:rPr>
              <a:t>Release rules</a:t>
            </a:r>
            <a:endParaRPr lang="en-US" sz="1500" dirty="0"/>
          </a:p>
        </p:txBody>
      </p:sp>
      <p:sp>
        <p:nvSpPr>
          <p:cNvPr id="26" name="Shape 24"/>
          <p:cNvSpPr/>
          <p:nvPr/>
        </p:nvSpPr>
        <p:spPr>
          <a:xfrm>
            <a:off x="1097280" y="3534156"/>
            <a:ext cx="100584" cy="100584"/>
          </a:xfrm>
          <a:prstGeom prst="ellipse">
            <a:avLst/>
          </a:prstGeom>
          <a:solidFill>
            <a:srgbClr val="22C55E"/>
          </a:solidFill>
          <a:ln w="12700">
            <a:solidFill>
              <a:srgbClr val="22C55E"/>
            </a:solidFill>
            <a:prstDash val="solid"/>
          </a:ln>
        </p:spPr>
      </p:sp>
      <p:sp>
        <p:nvSpPr>
          <p:cNvPr id="27" name="Text 25"/>
          <p:cNvSpPr/>
          <p:nvPr/>
        </p:nvSpPr>
        <p:spPr>
          <a:xfrm>
            <a:off x="1280160" y="3493008"/>
            <a:ext cx="41148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Release if no swipe-in after configured grace period.</a:t>
            </a:r>
            <a:endParaRPr lang="en-US" sz="930" dirty="0"/>
          </a:p>
        </p:txBody>
      </p:sp>
      <p:sp>
        <p:nvSpPr>
          <p:cNvPr id="28" name="Shape 26"/>
          <p:cNvSpPr/>
          <p:nvPr/>
        </p:nvSpPr>
        <p:spPr>
          <a:xfrm>
            <a:off x="1097280" y="3963924"/>
            <a:ext cx="100584" cy="100584"/>
          </a:xfrm>
          <a:prstGeom prst="ellipse">
            <a:avLst/>
          </a:prstGeom>
          <a:solidFill>
            <a:srgbClr val="F59E0B"/>
          </a:solidFill>
          <a:ln w="12700">
            <a:solidFill>
              <a:srgbClr val="F59E0B"/>
            </a:solidFill>
            <a:prstDash val="solid"/>
          </a:ln>
        </p:spPr>
      </p:sp>
      <p:sp>
        <p:nvSpPr>
          <p:cNvPr id="29" name="Text 27"/>
          <p:cNvSpPr/>
          <p:nvPr/>
        </p:nvSpPr>
        <p:spPr>
          <a:xfrm>
            <a:off x="1280160" y="3922776"/>
            <a:ext cx="41148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Release if LAN is inactive beyond 45 minutes and no valid hold signal exists.</a:t>
            </a:r>
            <a:endParaRPr lang="en-US" sz="930" dirty="0"/>
          </a:p>
        </p:txBody>
      </p:sp>
      <p:sp>
        <p:nvSpPr>
          <p:cNvPr id="30" name="Shape 28"/>
          <p:cNvSpPr/>
          <p:nvPr/>
        </p:nvSpPr>
        <p:spPr>
          <a:xfrm>
            <a:off x="1097280" y="4393692"/>
            <a:ext cx="100584" cy="100584"/>
          </a:xfrm>
          <a:prstGeom prst="ellipse">
            <a:avLst/>
          </a:prstGeom>
          <a:solidFill>
            <a:srgbClr val="8B5CF6"/>
          </a:solidFill>
          <a:ln w="12700">
            <a:solidFill>
              <a:srgbClr val="8B5CF6"/>
            </a:solidFill>
            <a:prstDash val="solid"/>
          </a:ln>
        </p:spPr>
      </p:sp>
      <p:sp>
        <p:nvSpPr>
          <p:cNvPr id="31" name="Text 29"/>
          <p:cNvSpPr/>
          <p:nvPr/>
        </p:nvSpPr>
        <p:spPr>
          <a:xfrm>
            <a:off x="1280160" y="4352544"/>
            <a:ext cx="41148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Pause release if employee is in a scheduled meeting.</a:t>
            </a:r>
            <a:endParaRPr lang="en-US" sz="930" dirty="0"/>
          </a:p>
        </p:txBody>
      </p:sp>
      <p:sp>
        <p:nvSpPr>
          <p:cNvPr id="32" name="Shape 30"/>
          <p:cNvSpPr/>
          <p:nvPr/>
        </p:nvSpPr>
        <p:spPr>
          <a:xfrm>
            <a:off x="1097280" y="4823460"/>
            <a:ext cx="100584" cy="100584"/>
          </a:xfrm>
          <a:prstGeom prst="ellipse">
            <a:avLst/>
          </a:prstGeom>
          <a:solidFill>
            <a:srgbClr val="2563EB"/>
          </a:solidFill>
          <a:ln w="12700">
            <a:solidFill>
              <a:srgbClr val="2563EB"/>
            </a:solidFill>
            <a:prstDash val="solid"/>
          </a:ln>
        </p:spPr>
      </p:sp>
      <p:sp>
        <p:nvSpPr>
          <p:cNvPr id="33" name="Text 31"/>
          <p:cNvSpPr/>
          <p:nvPr/>
        </p:nvSpPr>
        <p:spPr>
          <a:xfrm>
            <a:off x="1280160" y="4782312"/>
            <a:ext cx="41148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Send heartbeat reminder for unscheduled meeting or ambiguous absence.</a:t>
            </a:r>
            <a:endParaRPr lang="en-US" sz="930" dirty="0"/>
          </a:p>
        </p:txBody>
      </p:sp>
      <p:sp>
        <p:nvSpPr>
          <p:cNvPr id="34" name="Shape 32"/>
          <p:cNvSpPr/>
          <p:nvPr/>
        </p:nvSpPr>
        <p:spPr>
          <a:xfrm>
            <a:off x="6263640" y="2788920"/>
            <a:ext cx="4937760" cy="2560320"/>
          </a:xfrm>
          <a:prstGeom prst="roundRect">
            <a:avLst>
              <a:gd name="adj" fmla="val 4286"/>
            </a:avLst>
          </a:prstGeom>
          <a:solidFill>
            <a:srgbClr val="FEFCE8"/>
          </a:solidFill>
          <a:ln w="8890">
            <a:solidFill>
              <a:srgbClr val="E2E8F0"/>
            </a:solidFill>
            <a:prstDash val="solid"/>
          </a:ln>
          <a:effectLst>
            <a:outerShdw blurRad="19050" dist="8890" dir="2700000" algn="bl" rotWithShape="0">
              <a:srgbClr val="000000">
                <a:alpha val="10000"/>
              </a:srgbClr>
            </a:outerShdw>
          </a:effectLst>
        </p:spPr>
      </p:sp>
      <p:sp>
        <p:nvSpPr>
          <p:cNvPr id="35" name="Text 33"/>
          <p:cNvSpPr/>
          <p:nvPr/>
        </p:nvSpPr>
        <p:spPr>
          <a:xfrm>
            <a:off x="6537960" y="3063240"/>
            <a:ext cx="2560320" cy="228600"/>
          </a:xfrm>
          <a:prstGeom prst="rect">
            <a:avLst/>
          </a:prstGeom>
          <a:noFill/>
          <a:ln/>
        </p:spPr>
        <p:txBody>
          <a:bodyPr wrap="square" lIns="0" tIns="0" rIns="0" bIns="0" rtlCol="0" anchor="ctr"/>
          <a:lstStyle/>
          <a:p>
            <a:pPr marL="0" indent="0">
              <a:buNone/>
            </a:pPr>
            <a:r>
              <a:rPr lang="en-US" sz="1500" b="1" dirty="0">
                <a:solidFill>
                  <a:srgbClr val="F59E0B"/>
                </a:solidFill>
              </a:rPr>
              <a:t>Governance guardrails</a:t>
            </a:r>
            <a:endParaRPr lang="en-US" sz="1500" dirty="0"/>
          </a:p>
        </p:txBody>
      </p:sp>
      <p:sp>
        <p:nvSpPr>
          <p:cNvPr id="36" name="Shape 34"/>
          <p:cNvSpPr/>
          <p:nvPr/>
        </p:nvSpPr>
        <p:spPr>
          <a:xfrm>
            <a:off x="6537960" y="3534156"/>
            <a:ext cx="100584" cy="100584"/>
          </a:xfrm>
          <a:prstGeom prst="ellipse">
            <a:avLst/>
          </a:prstGeom>
          <a:solidFill>
            <a:srgbClr val="F59E0B"/>
          </a:solidFill>
          <a:ln w="12700">
            <a:solidFill>
              <a:srgbClr val="F59E0B"/>
            </a:solidFill>
            <a:prstDash val="solid"/>
          </a:ln>
        </p:spPr>
      </p:sp>
      <p:sp>
        <p:nvSpPr>
          <p:cNvPr id="37" name="Text 35"/>
          <p:cNvSpPr/>
          <p:nvPr/>
        </p:nvSpPr>
        <p:spPr>
          <a:xfrm>
            <a:off x="6720840" y="3493008"/>
            <a:ext cx="420624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Use clear employee communication before enforcing auto-release.</a:t>
            </a:r>
            <a:endParaRPr lang="en-US" sz="930" dirty="0"/>
          </a:p>
        </p:txBody>
      </p:sp>
      <p:sp>
        <p:nvSpPr>
          <p:cNvPr id="38" name="Shape 36"/>
          <p:cNvSpPr/>
          <p:nvPr/>
        </p:nvSpPr>
        <p:spPr>
          <a:xfrm>
            <a:off x="6537960" y="3963924"/>
            <a:ext cx="100584" cy="100584"/>
          </a:xfrm>
          <a:prstGeom prst="ellipse">
            <a:avLst/>
          </a:prstGeom>
          <a:solidFill>
            <a:srgbClr val="2563EB"/>
          </a:solidFill>
          <a:ln w="12700">
            <a:solidFill>
              <a:srgbClr val="2563EB"/>
            </a:solidFill>
            <a:prstDash val="solid"/>
          </a:ln>
        </p:spPr>
      </p:sp>
      <p:sp>
        <p:nvSpPr>
          <p:cNvPr id="39" name="Text 37"/>
          <p:cNvSpPr/>
          <p:nvPr/>
        </p:nvSpPr>
        <p:spPr>
          <a:xfrm>
            <a:off x="6720840" y="3922776"/>
            <a:ext cx="420624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Keep privacy by limiting reporting to operational need.</a:t>
            </a:r>
            <a:endParaRPr lang="en-US" sz="930" dirty="0"/>
          </a:p>
        </p:txBody>
      </p:sp>
      <p:sp>
        <p:nvSpPr>
          <p:cNvPr id="40" name="Shape 38"/>
          <p:cNvSpPr/>
          <p:nvPr/>
        </p:nvSpPr>
        <p:spPr>
          <a:xfrm>
            <a:off x="6537960" y="4393692"/>
            <a:ext cx="100584" cy="100584"/>
          </a:xfrm>
          <a:prstGeom prst="ellipse">
            <a:avLst/>
          </a:prstGeom>
          <a:solidFill>
            <a:srgbClr val="14B8A6"/>
          </a:solidFill>
          <a:ln w="12700">
            <a:solidFill>
              <a:srgbClr val="14B8A6"/>
            </a:solidFill>
            <a:prstDash val="solid"/>
          </a:ln>
        </p:spPr>
      </p:sp>
      <p:sp>
        <p:nvSpPr>
          <p:cNvPr id="41" name="Text 39"/>
          <p:cNvSpPr/>
          <p:nvPr/>
        </p:nvSpPr>
        <p:spPr>
          <a:xfrm>
            <a:off x="6720840" y="4352544"/>
            <a:ext cx="420624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Allow manager review for access violation workflow.</a:t>
            </a:r>
            <a:endParaRPr lang="en-US" sz="930" dirty="0"/>
          </a:p>
        </p:txBody>
      </p:sp>
      <p:sp>
        <p:nvSpPr>
          <p:cNvPr id="42" name="Shape 40"/>
          <p:cNvSpPr/>
          <p:nvPr/>
        </p:nvSpPr>
        <p:spPr>
          <a:xfrm>
            <a:off x="6537960" y="4823460"/>
            <a:ext cx="100584" cy="100584"/>
          </a:xfrm>
          <a:prstGeom prst="ellipse">
            <a:avLst/>
          </a:prstGeom>
          <a:solidFill>
            <a:srgbClr val="22C55E"/>
          </a:solidFill>
          <a:ln w="12700">
            <a:solidFill>
              <a:srgbClr val="22C55E"/>
            </a:solidFill>
            <a:prstDash val="solid"/>
          </a:ln>
        </p:spPr>
      </p:sp>
      <p:sp>
        <p:nvSpPr>
          <p:cNvPr id="43" name="Text 41"/>
          <p:cNvSpPr/>
          <p:nvPr/>
        </p:nvSpPr>
        <p:spPr>
          <a:xfrm>
            <a:off x="6720840" y="4782312"/>
            <a:ext cx="420624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Maintain audit trail for release, override, and notification actions.</a:t>
            </a:r>
            <a:endParaRPr lang="en-US" sz="930" dirty="0"/>
          </a:p>
        </p:txBody>
      </p:sp>
      <p:sp>
        <p:nvSpPr>
          <p:cNvPr id="44"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66928" y="301752"/>
            <a:ext cx="8412480" cy="384048"/>
          </a:xfrm>
          <a:prstGeom prst="rect">
            <a:avLst/>
          </a:prstGeom>
          <a:noFill/>
          <a:ln/>
        </p:spPr>
        <p:txBody>
          <a:bodyPr wrap="square" lIns="0" tIns="0" rIns="0" bIns="0"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Live dashboards and reporting</a:t>
            </a:r>
            <a:endParaRPr lang="en-US" sz="2300" dirty="0"/>
          </a:p>
        </p:txBody>
      </p:sp>
      <p:sp>
        <p:nvSpPr>
          <p:cNvPr id="4" name="Text 2"/>
          <p:cNvSpPr/>
          <p:nvPr/>
        </p:nvSpPr>
        <p:spPr>
          <a:xfrm>
            <a:off x="594360" y="749808"/>
            <a:ext cx="8138160" cy="237744"/>
          </a:xfrm>
          <a:prstGeom prst="rect">
            <a:avLst/>
          </a:prstGeom>
          <a:noFill/>
          <a:ln/>
        </p:spPr>
        <p:txBody>
          <a:bodyPr wrap="square" lIns="0" tIns="0" rIns="0" bIns="0" rtlCol="0" anchor="ctr"/>
          <a:lstStyle/>
          <a:p>
            <a:pPr marL="0" indent="0">
              <a:buNone/>
            </a:pPr>
            <a:r>
              <a:rPr lang="en-US" sz="980" dirty="0">
                <a:solidFill>
                  <a:srgbClr val="64748B"/>
                </a:solidFill>
              </a:rPr>
              <a:t>Facility teams and managers get a practical, role-based view of availability, utilization, and exceptions.</a:t>
            </a:r>
            <a:endParaRPr lang="en-US" sz="980" dirty="0"/>
          </a:p>
        </p:txBody>
      </p:sp>
      <p:sp>
        <p:nvSpPr>
          <p:cNvPr id="5" name="Shape 3"/>
          <p:cNvSpPr/>
          <p:nvPr/>
        </p:nvSpPr>
        <p:spPr>
          <a:xfrm>
            <a:off x="10927080" y="256032"/>
            <a:ext cx="658368" cy="658368"/>
          </a:xfrm>
          <a:prstGeom prst="arc">
            <a:avLst/>
          </a:prstGeom>
          <a:noFill/>
          <a:ln w="27940">
            <a:solidFill>
              <a:srgbClr val="14B8A6"/>
            </a:solidFill>
            <a:prstDash val="solid"/>
            <a:headEnd type="none"/>
            <a:tailEnd type="none"/>
          </a:ln>
        </p:spPr>
      </p:sp>
      <p:sp>
        <p:nvSpPr>
          <p:cNvPr id="6" name="Shape 4"/>
          <p:cNvSpPr/>
          <p:nvPr/>
        </p:nvSpPr>
        <p:spPr>
          <a:xfrm>
            <a:off x="11119104" y="429768"/>
            <a:ext cx="640080" cy="640080"/>
          </a:xfrm>
          <a:prstGeom prst="arc">
            <a:avLst/>
          </a:prstGeom>
          <a:noFill/>
          <a:ln w="27940">
            <a:solidFill>
              <a:srgbClr val="2563EB"/>
            </a:solidFill>
            <a:prstDash val="solid"/>
          </a:ln>
        </p:spPr>
      </p:sp>
      <p:pic>
        <p:nvPicPr>
          <p:cNvPr id="7" name="Image 0" descr="/mnt/data/38e8c81e6c.png"/>
          <p:cNvPicPr>
            <a:picLocks noChangeAspect="1"/>
          </p:cNvPicPr>
          <p:nvPr/>
        </p:nvPicPr>
        <p:blipFill>
          <a:blip r:embed="rId3"/>
          <a:srcRect l="12393" r="12393"/>
          <a:stretch/>
        </p:blipFill>
        <p:spPr>
          <a:xfrm>
            <a:off x="530352" y="1005840"/>
            <a:ext cx="6035040" cy="5349240"/>
          </a:xfrm>
          <a:prstGeom prst="rect">
            <a:avLst/>
          </a:prstGeom>
        </p:spPr>
      </p:pic>
      <p:sp>
        <p:nvSpPr>
          <p:cNvPr id="8" name="Shape 5"/>
          <p:cNvSpPr/>
          <p:nvPr/>
        </p:nvSpPr>
        <p:spPr>
          <a:xfrm>
            <a:off x="6812280" y="1024128"/>
            <a:ext cx="4526280" cy="5376672"/>
          </a:xfrm>
          <a:prstGeom prst="roundRect">
            <a:avLst>
              <a:gd name="adj" fmla="val 2424"/>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9" name="Text 6"/>
          <p:cNvSpPr/>
          <p:nvPr/>
        </p:nvSpPr>
        <p:spPr>
          <a:xfrm>
            <a:off x="7086600" y="1307592"/>
            <a:ext cx="3291840" cy="256032"/>
          </a:xfrm>
          <a:prstGeom prst="rect">
            <a:avLst/>
          </a:prstGeom>
          <a:noFill/>
          <a:ln/>
        </p:spPr>
        <p:txBody>
          <a:bodyPr wrap="square" lIns="0" tIns="0" rIns="0" bIns="0" rtlCol="0" anchor="ctr"/>
          <a:lstStyle/>
          <a:p>
            <a:pPr marL="0" indent="0">
              <a:buNone/>
            </a:pPr>
            <a:r>
              <a:rPr lang="en-US" sz="1500" b="1" dirty="0">
                <a:solidFill>
                  <a:srgbClr val="0F172A"/>
                </a:solidFill>
              </a:rPr>
              <a:t>Dashboard views</a:t>
            </a:r>
            <a:endParaRPr lang="en-US" sz="1500" dirty="0"/>
          </a:p>
        </p:txBody>
      </p:sp>
      <p:sp>
        <p:nvSpPr>
          <p:cNvPr id="10" name="Shape 7"/>
          <p:cNvSpPr/>
          <p:nvPr/>
        </p:nvSpPr>
        <p:spPr>
          <a:xfrm>
            <a:off x="7114032" y="1783080"/>
            <a:ext cx="164592" cy="164592"/>
          </a:xfrm>
          <a:prstGeom prst="ellipse">
            <a:avLst/>
          </a:prstGeom>
          <a:solidFill>
            <a:srgbClr val="22C55E"/>
          </a:solidFill>
          <a:ln w="12700">
            <a:solidFill>
              <a:srgbClr val="22C55E"/>
            </a:solidFill>
            <a:prstDash val="solid"/>
          </a:ln>
        </p:spPr>
      </p:sp>
      <p:sp>
        <p:nvSpPr>
          <p:cNvPr id="11" name="Text 8"/>
          <p:cNvSpPr/>
          <p:nvPr/>
        </p:nvSpPr>
        <p:spPr>
          <a:xfrm>
            <a:off x="7148779" y="1794967"/>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12" name="Text 9"/>
          <p:cNvSpPr/>
          <p:nvPr/>
        </p:nvSpPr>
        <p:spPr>
          <a:xfrm>
            <a:off x="7388352" y="1751076"/>
            <a:ext cx="39319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Floor/wing/zone-wise availability</a:t>
            </a:r>
            <a:endParaRPr lang="en-US" sz="880" dirty="0"/>
          </a:p>
        </p:txBody>
      </p:sp>
      <p:sp>
        <p:nvSpPr>
          <p:cNvPr id="13" name="Shape 10"/>
          <p:cNvSpPr/>
          <p:nvPr/>
        </p:nvSpPr>
        <p:spPr>
          <a:xfrm>
            <a:off x="7114032" y="2258568"/>
            <a:ext cx="164592" cy="164592"/>
          </a:xfrm>
          <a:prstGeom prst="ellipse">
            <a:avLst/>
          </a:prstGeom>
          <a:solidFill>
            <a:srgbClr val="22C55E"/>
          </a:solidFill>
          <a:ln w="12700">
            <a:solidFill>
              <a:srgbClr val="22C55E"/>
            </a:solidFill>
            <a:prstDash val="solid"/>
          </a:ln>
        </p:spPr>
      </p:sp>
      <p:sp>
        <p:nvSpPr>
          <p:cNvPr id="14" name="Text 11"/>
          <p:cNvSpPr/>
          <p:nvPr/>
        </p:nvSpPr>
        <p:spPr>
          <a:xfrm>
            <a:off x="7148779" y="2270455"/>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15" name="Text 12"/>
          <p:cNvSpPr/>
          <p:nvPr/>
        </p:nvSpPr>
        <p:spPr>
          <a:xfrm>
            <a:off x="7388352" y="2226564"/>
            <a:ext cx="39319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Seat numbering and layout map</a:t>
            </a:r>
            <a:endParaRPr lang="en-US" sz="880" dirty="0"/>
          </a:p>
        </p:txBody>
      </p:sp>
      <p:sp>
        <p:nvSpPr>
          <p:cNvPr id="16" name="Shape 13"/>
          <p:cNvSpPr/>
          <p:nvPr/>
        </p:nvSpPr>
        <p:spPr>
          <a:xfrm>
            <a:off x="7114032" y="2734056"/>
            <a:ext cx="164592" cy="164592"/>
          </a:xfrm>
          <a:prstGeom prst="ellipse">
            <a:avLst/>
          </a:prstGeom>
          <a:solidFill>
            <a:srgbClr val="22C55E"/>
          </a:solidFill>
          <a:ln w="12700">
            <a:solidFill>
              <a:srgbClr val="22C55E"/>
            </a:solidFill>
            <a:prstDash val="solid"/>
          </a:ln>
        </p:spPr>
      </p:sp>
      <p:sp>
        <p:nvSpPr>
          <p:cNvPr id="17" name="Text 14"/>
          <p:cNvSpPr/>
          <p:nvPr/>
        </p:nvSpPr>
        <p:spPr>
          <a:xfrm>
            <a:off x="7148779" y="2745943"/>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18" name="Text 15"/>
          <p:cNvSpPr/>
          <p:nvPr/>
        </p:nvSpPr>
        <p:spPr>
          <a:xfrm>
            <a:off x="7388352" y="2702052"/>
            <a:ext cx="39319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Manager seat allocation view</a:t>
            </a:r>
            <a:endParaRPr lang="en-US" sz="880" dirty="0"/>
          </a:p>
        </p:txBody>
      </p:sp>
      <p:sp>
        <p:nvSpPr>
          <p:cNvPr id="19" name="Shape 16"/>
          <p:cNvSpPr/>
          <p:nvPr/>
        </p:nvSpPr>
        <p:spPr>
          <a:xfrm>
            <a:off x="7114032" y="3209544"/>
            <a:ext cx="164592" cy="164592"/>
          </a:xfrm>
          <a:prstGeom prst="ellipse">
            <a:avLst/>
          </a:prstGeom>
          <a:solidFill>
            <a:srgbClr val="22C55E"/>
          </a:solidFill>
          <a:ln w="12700">
            <a:solidFill>
              <a:srgbClr val="22C55E"/>
            </a:solidFill>
            <a:prstDash val="solid"/>
          </a:ln>
        </p:spPr>
      </p:sp>
      <p:sp>
        <p:nvSpPr>
          <p:cNvPr id="20" name="Text 17"/>
          <p:cNvSpPr/>
          <p:nvPr/>
        </p:nvSpPr>
        <p:spPr>
          <a:xfrm>
            <a:off x="7148779" y="3221431"/>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21" name="Text 18"/>
          <p:cNvSpPr/>
          <p:nvPr/>
        </p:nvSpPr>
        <p:spPr>
          <a:xfrm>
            <a:off x="7388352" y="3177540"/>
            <a:ext cx="39319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Employee hot seat booking</a:t>
            </a:r>
            <a:endParaRPr lang="en-US" sz="880" dirty="0"/>
          </a:p>
        </p:txBody>
      </p:sp>
      <p:sp>
        <p:nvSpPr>
          <p:cNvPr id="22" name="Shape 19"/>
          <p:cNvSpPr/>
          <p:nvPr/>
        </p:nvSpPr>
        <p:spPr>
          <a:xfrm>
            <a:off x="7114032" y="3685032"/>
            <a:ext cx="164592" cy="164592"/>
          </a:xfrm>
          <a:prstGeom prst="ellipse">
            <a:avLst/>
          </a:prstGeom>
          <a:solidFill>
            <a:srgbClr val="22C55E"/>
          </a:solidFill>
          <a:ln w="12700">
            <a:solidFill>
              <a:srgbClr val="22C55E"/>
            </a:solidFill>
            <a:prstDash val="solid"/>
          </a:ln>
        </p:spPr>
      </p:sp>
      <p:sp>
        <p:nvSpPr>
          <p:cNvPr id="23" name="Text 20"/>
          <p:cNvSpPr/>
          <p:nvPr/>
        </p:nvSpPr>
        <p:spPr>
          <a:xfrm>
            <a:off x="7148779" y="3696919"/>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24" name="Text 21"/>
          <p:cNvSpPr/>
          <p:nvPr/>
        </p:nvSpPr>
        <p:spPr>
          <a:xfrm>
            <a:off x="7388352" y="3653028"/>
            <a:ext cx="39319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Swipe-in validation against booking</a:t>
            </a:r>
            <a:endParaRPr lang="en-US" sz="880" dirty="0"/>
          </a:p>
        </p:txBody>
      </p:sp>
      <p:sp>
        <p:nvSpPr>
          <p:cNvPr id="25" name="Shape 22"/>
          <p:cNvSpPr/>
          <p:nvPr/>
        </p:nvSpPr>
        <p:spPr>
          <a:xfrm>
            <a:off x="7114032" y="4160520"/>
            <a:ext cx="164592" cy="164592"/>
          </a:xfrm>
          <a:prstGeom prst="ellipse">
            <a:avLst/>
          </a:prstGeom>
          <a:solidFill>
            <a:srgbClr val="22C55E"/>
          </a:solidFill>
          <a:ln w="12700">
            <a:solidFill>
              <a:srgbClr val="22C55E"/>
            </a:solidFill>
            <a:prstDash val="solid"/>
          </a:ln>
        </p:spPr>
      </p:sp>
      <p:sp>
        <p:nvSpPr>
          <p:cNvPr id="26" name="Text 23"/>
          <p:cNvSpPr/>
          <p:nvPr/>
        </p:nvSpPr>
        <p:spPr>
          <a:xfrm>
            <a:off x="7148779" y="4172407"/>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27" name="Text 24"/>
          <p:cNvSpPr/>
          <p:nvPr/>
        </p:nvSpPr>
        <p:spPr>
          <a:xfrm>
            <a:off x="7388352" y="4128516"/>
            <a:ext cx="39319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Utilization by team, shift, floor, zone</a:t>
            </a:r>
            <a:endParaRPr lang="en-US" sz="880" dirty="0"/>
          </a:p>
        </p:txBody>
      </p:sp>
      <p:sp>
        <p:nvSpPr>
          <p:cNvPr id="28" name="Shape 25"/>
          <p:cNvSpPr/>
          <p:nvPr/>
        </p:nvSpPr>
        <p:spPr>
          <a:xfrm>
            <a:off x="7114032" y="4636008"/>
            <a:ext cx="164592" cy="164592"/>
          </a:xfrm>
          <a:prstGeom prst="ellipse">
            <a:avLst/>
          </a:prstGeom>
          <a:solidFill>
            <a:srgbClr val="22C55E"/>
          </a:solidFill>
          <a:ln w="12700">
            <a:solidFill>
              <a:srgbClr val="22C55E"/>
            </a:solidFill>
            <a:prstDash val="solid"/>
          </a:ln>
        </p:spPr>
      </p:sp>
      <p:sp>
        <p:nvSpPr>
          <p:cNvPr id="29" name="Text 26"/>
          <p:cNvSpPr/>
          <p:nvPr/>
        </p:nvSpPr>
        <p:spPr>
          <a:xfrm>
            <a:off x="7148779" y="4647895"/>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30" name="Text 27"/>
          <p:cNvSpPr/>
          <p:nvPr/>
        </p:nvSpPr>
        <p:spPr>
          <a:xfrm>
            <a:off x="7388352" y="4604004"/>
            <a:ext cx="39319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Access violation workflow queue</a:t>
            </a:r>
            <a:endParaRPr lang="en-US" sz="880" dirty="0"/>
          </a:p>
        </p:txBody>
      </p:sp>
      <p:sp>
        <p:nvSpPr>
          <p:cNvPr id="31"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66928" y="301752"/>
            <a:ext cx="8412480" cy="384048"/>
          </a:xfrm>
          <a:prstGeom prst="rect">
            <a:avLst/>
          </a:prstGeom>
          <a:noFill/>
          <a:ln/>
        </p:spPr>
        <p:txBody>
          <a:bodyPr wrap="square" lIns="0" tIns="0" rIns="0" bIns="0"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AI-assisted workplace experience</a:t>
            </a:r>
            <a:endParaRPr lang="en-US" sz="2300" dirty="0"/>
          </a:p>
        </p:txBody>
      </p:sp>
      <p:sp>
        <p:nvSpPr>
          <p:cNvPr id="4" name="Text 2"/>
          <p:cNvSpPr/>
          <p:nvPr/>
        </p:nvSpPr>
        <p:spPr>
          <a:xfrm>
            <a:off x="594360" y="749808"/>
            <a:ext cx="8138160" cy="237744"/>
          </a:xfrm>
          <a:prstGeom prst="rect">
            <a:avLst/>
          </a:prstGeom>
          <a:noFill/>
          <a:ln/>
        </p:spPr>
        <p:txBody>
          <a:bodyPr wrap="square" lIns="0" tIns="0" rIns="0" bIns="0" rtlCol="0" anchor="ctr"/>
          <a:lstStyle/>
          <a:p>
            <a:pPr marL="0" indent="0">
              <a:buNone/>
            </a:pPr>
            <a:r>
              <a:rPr lang="en-US" sz="980" dirty="0">
                <a:solidFill>
                  <a:srgbClr val="64748B"/>
                </a:solidFill>
              </a:rPr>
              <a:t>AI makes the system proactive, not just transactional.</a:t>
            </a:r>
            <a:endParaRPr lang="en-US" sz="980" dirty="0"/>
          </a:p>
        </p:txBody>
      </p:sp>
      <p:sp>
        <p:nvSpPr>
          <p:cNvPr id="5" name="Shape 3"/>
          <p:cNvSpPr/>
          <p:nvPr/>
        </p:nvSpPr>
        <p:spPr>
          <a:xfrm>
            <a:off x="10927080" y="256032"/>
            <a:ext cx="658368" cy="658368"/>
          </a:xfrm>
          <a:prstGeom prst="arc">
            <a:avLst/>
          </a:prstGeom>
          <a:noFill/>
          <a:ln w="27940">
            <a:solidFill>
              <a:srgbClr val="14B8A6"/>
            </a:solidFill>
            <a:prstDash val="solid"/>
            <a:headEnd type="none"/>
            <a:tailEnd type="none"/>
          </a:ln>
        </p:spPr>
      </p:sp>
      <p:sp>
        <p:nvSpPr>
          <p:cNvPr id="6" name="Shape 4"/>
          <p:cNvSpPr/>
          <p:nvPr/>
        </p:nvSpPr>
        <p:spPr>
          <a:xfrm>
            <a:off x="11119104" y="429768"/>
            <a:ext cx="640080" cy="640080"/>
          </a:xfrm>
          <a:prstGeom prst="arc">
            <a:avLst/>
          </a:prstGeom>
          <a:noFill/>
          <a:ln w="27940">
            <a:solidFill>
              <a:srgbClr val="2563EB"/>
            </a:solidFill>
            <a:prstDash val="solid"/>
          </a:ln>
        </p:spPr>
      </p:sp>
      <p:sp>
        <p:nvSpPr>
          <p:cNvPr id="7" name="Shape 5"/>
          <p:cNvSpPr/>
          <p:nvPr/>
        </p:nvSpPr>
        <p:spPr>
          <a:xfrm>
            <a:off x="685800" y="1280160"/>
            <a:ext cx="3429000" cy="4526280"/>
          </a:xfrm>
          <a:prstGeom prst="roundRect">
            <a:avLst>
              <a:gd name="adj" fmla="val 3200"/>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8" name="Shape 6"/>
          <p:cNvSpPr/>
          <p:nvPr/>
        </p:nvSpPr>
        <p:spPr>
          <a:xfrm>
            <a:off x="886968" y="1508760"/>
            <a:ext cx="493776" cy="493776"/>
          </a:xfrm>
          <a:prstGeom prst="roundRect">
            <a:avLst>
              <a:gd name="adj" fmla="val 22222"/>
            </a:avLst>
          </a:prstGeom>
          <a:solidFill>
            <a:srgbClr val="2563EB"/>
          </a:solidFill>
          <a:ln w="12700">
            <a:solidFill>
              <a:srgbClr val="2563EB"/>
            </a:solidFill>
            <a:prstDash val="solid"/>
          </a:ln>
        </p:spPr>
      </p:sp>
      <p:sp>
        <p:nvSpPr>
          <p:cNvPr id="9" name="Text 7"/>
          <p:cNvSpPr/>
          <p:nvPr/>
        </p:nvSpPr>
        <p:spPr>
          <a:xfrm>
            <a:off x="978408" y="1673352"/>
            <a:ext cx="292608" cy="100584"/>
          </a:xfrm>
          <a:prstGeom prst="rect">
            <a:avLst/>
          </a:prstGeom>
          <a:noFill/>
          <a:ln/>
        </p:spPr>
        <p:txBody>
          <a:bodyPr wrap="square" lIns="0" tIns="0" rIns="0" bIns="0" rtlCol="0" anchor="ctr"/>
          <a:lstStyle/>
          <a:p>
            <a:pPr marL="0" indent="0">
              <a:buNone/>
            </a:pPr>
            <a:r>
              <a:rPr lang="en-US" sz="800" b="1" dirty="0">
                <a:solidFill>
                  <a:srgbClr val="FFFFFF"/>
                </a:solidFill>
              </a:rPr>
              <a:t>AI</a:t>
            </a:r>
            <a:endParaRPr lang="en-US" sz="800" dirty="0"/>
          </a:p>
        </p:txBody>
      </p:sp>
      <p:sp>
        <p:nvSpPr>
          <p:cNvPr id="10" name="Text 8"/>
          <p:cNvSpPr/>
          <p:nvPr/>
        </p:nvSpPr>
        <p:spPr>
          <a:xfrm>
            <a:off x="1527048" y="1645920"/>
            <a:ext cx="2194560" cy="228600"/>
          </a:xfrm>
          <a:prstGeom prst="rect">
            <a:avLst/>
          </a:prstGeom>
          <a:noFill/>
          <a:ln/>
        </p:spPr>
        <p:txBody>
          <a:bodyPr wrap="square" lIns="0" tIns="0" rIns="0" bIns="0" rtlCol="0" anchor="ctr"/>
          <a:lstStyle/>
          <a:p>
            <a:pPr marL="0" indent="0">
              <a:buNone/>
            </a:pPr>
            <a:r>
              <a:rPr lang="en-US" sz="1400" b="1" dirty="0">
                <a:solidFill>
                  <a:srgbClr val="0F172A"/>
                </a:solidFill>
              </a:rPr>
              <a:t>Employee Copilot</a:t>
            </a:r>
            <a:endParaRPr lang="en-US" sz="1400" dirty="0"/>
          </a:p>
        </p:txBody>
      </p:sp>
      <p:sp>
        <p:nvSpPr>
          <p:cNvPr id="11" name="Shape 9"/>
          <p:cNvSpPr/>
          <p:nvPr/>
        </p:nvSpPr>
        <p:spPr>
          <a:xfrm>
            <a:off x="1005840" y="2281428"/>
            <a:ext cx="100584" cy="100584"/>
          </a:xfrm>
          <a:prstGeom prst="ellipse">
            <a:avLst/>
          </a:prstGeom>
          <a:solidFill>
            <a:srgbClr val="2563EB"/>
          </a:solidFill>
          <a:ln w="12700">
            <a:solidFill>
              <a:srgbClr val="2563EB"/>
            </a:solidFill>
            <a:prstDash val="solid"/>
          </a:ln>
        </p:spPr>
      </p:sp>
      <p:sp>
        <p:nvSpPr>
          <p:cNvPr id="12" name="Text 10"/>
          <p:cNvSpPr/>
          <p:nvPr/>
        </p:nvSpPr>
        <p:spPr>
          <a:xfrm>
            <a:off x="1188720" y="2240280"/>
            <a:ext cx="27432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Suggest nearest available seat near teammates.</a:t>
            </a:r>
            <a:endParaRPr lang="en-US" sz="930" dirty="0"/>
          </a:p>
        </p:txBody>
      </p:sp>
      <p:sp>
        <p:nvSpPr>
          <p:cNvPr id="13" name="Shape 11"/>
          <p:cNvSpPr/>
          <p:nvPr/>
        </p:nvSpPr>
        <p:spPr>
          <a:xfrm>
            <a:off x="1005840" y="2894076"/>
            <a:ext cx="100584" cy="100584"/>
          </a:xfrm>
          <a:prstGeom prst="ellipse">
            <a:avLst/>
          </a:prstGeom>
          <a:solidFill>
            <a:srgbClr val="2563EB"/>
          </a:solidFill>
          <a:ln w="12700">
            <a:solidFill>
              <a:srgbClr val="2563EB"/>
            </a:solidFill>
            <a:prstDash val="solid"/>
          </a:ln>
        </p:spPr>
      </p:sp>
      <p:sp>
        <p:nvSpPr>
          <p:cNvPr id="14" name="Text 12"/>
          <p:cNvSpPr/>
          <p:nvPr/>
        </p:nvSpPr>
        <p:spPr>
          <a:xfrm>
            <a:off x="1188720" y="2852928"/>
            <a:ext cx="27432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Remember favorite seat traits such as window/friends/team zone.</a:t>
            </a:r>
            <a:endParaRPr lang="en-US" sz="930" dirty="0"/>
          </a:p>
        </p:txBody>
      </p:sp>
      <p:sp>
        <p:nvSpPr>
          <p:cNvPr id="15" name="Shape 13"/>
          <p:cNvSpPr/>
          <p:nvPr/>
        </p:nvSpPr>
        <p:spPr>
          <a:xfrm>
            <a:off x="1005840" y="3506724"/>
            <a:ext cx="100584" cy="100584"/>
          </a:xfrm>
          <a:prstGeom prst="ellipse">
            <a:avLst/>
          </a:prstGeom>
          <a:solidFill>
            <a:srgbClr val="2563EB"/>
          </a:solidFill>
          <a:ln w="12700">
            <a:solidFill>
              <a:srgbClr val="2563EB"/>
            </a:solidFill>
            <a:prstDash val="solid"/>
          </a:ln>
        </p:spPr>
      </p:sp>
      <p:sp>
        <p:nvSpPr>
          <p:cNvPr id="16" name="Text 14"/>
          <p:cNvSpPr/>
          <p:nvPr/>
        </p:nvSpPr>
        <p:spPr>
          <a:xfrm>
            <a:off x="1188720" y="3465576"/>
            <a:ext cx="27432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Recommend adjacent seats when team cluster is visible.</a:t>
            </a:r>
            <a:endParaRPr lang="en-US" sz="930" dirty="0"/>
          </a:p>
        </p:txBody>
      </p:sp>
      <p:sp>
        <p:nvSpPr>
          <p:cNvPr id="17" name="Shape 15"/>
          <p:cNvSpPr/>
          <p:nvPr/>
        </p:nvSpPr>
        <p:spPr>
          <a:xfrm>
            <a:off x="1005840" y="4119372"/>
            <a:ext cx="100584" cy="100584"/>
          </a:xfrm>
          <a:prstGeom prst="ellipse">
            <a:avLst/>
          </a:prstGeom>
          <a:solidFill>
            <a:srgbClr val="2563EB"/>
          </a:solidFill>
          <a:ln w="12700">
            <a:solidFill>
              <a:srgbClr val="2563EB"/>
            </a:solidFill>
            <a:prstDash val="solid"/>
          </a:ln>
        </p:spPr>
      </p:sp>
      <p:sp>
        <p:nvSpPr>
          <p:cNvPr id="18" name="Text 16"/>
          <p:cNvSpPr/>
          <p:nvPr/>
        </p:nvSpPr>
        <p:spPr>
          <a:xfrm>
            <a:off x="1188720" y="4078224"/>
            <a:ext cx="27432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Reduce desk-hunting time on peak days.</a:t>
            </a:r>
            <a:endParaRPr lang="en-US" sz="930" dirty="0"/>
          </a:p>
        </p:txBody>
      </p:sp>
      <p:sp>
        <p:nvSpPr>
          <p:cNvPr id="19" name="Shape 17"/>
          <p:cNvSpPr/>
          <p:nvPr/>
        </p:nvSpPr>
        <p:spPr>
          <a:xfrm>
            <a:off x="4160520" y="1280160"/>
            <a:ext cx="3429000" cy="4526280"/>
          </a:xfrm>
          <a:prstGeom prst="roundRect">
            <a:avLst>
              <a:gd name="adj" fmla="val 3200"/>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20" name="Shape 18"/>
          <p:cNvSpPr/>
          <p:nvPr/>
        </p:nvSpPr>
        <p:spPr>
          <a:xfrm>
            <a:off x="4361688" y="1508760"/>
            <a:ext cx="493776" cy="493776"/>
          </a:xfrm>
          <a:prstGeom prst="roundRect">
            <a:avLst>
              <a:gd name="adj" fmla="val 22222"/>
            </a:avLst>
          </a:prstGeom>
          <a:solidFill>
            <a:srgbClr val="14B8A6"/>
          </a:solidFill>
          <a:ln w="12700">
            <a:solidFill>
              <a:srgbClr val="14B8A6"/>
            </a:solidFill>
            <a:prstDash val="solid"/>
          </a:ln>
        </p:spPr>
      </p:sp>
      <p:sp>
        <p:nvSpPr>
          <p:cNvPr id="21" name="Text 19"/>
          <p:cNvSpPr/>
          <p:nvPr/>
        </p:nvSpPr>
        <p:spPr>
          <a:xfrm>
            <a:off x="4453128" y="1673352"/>
            <a:ext cx="292608" cy="100584"/>
          </a:xfrm>
          <a:prstGeom prst="rect">
            <a:avLst/>
          </a:prstGeom>
          <a:noFill/>
          <a:ln/>
        </p:spPr>
        <p:txBody>
          <a:bodyPr wrap="square" lIns="0" tIns="0" rIns="0" bIns="0" rtlCol="0" anchor="ctr"/>
          <a:lstStyle/>
          <a:p>
            <a:pPr marL="0" indent="0">
              <a:buNone/>
            </a:pPr>
            <a:r>
              <a:rPr lang="en-US" sz="800" b="1" dirty="0">
                <a:solidFill>
                  <a:srgbClr val="FFFFFF"/>
                </a:solidFill>
              </a:rPr>
              <a:t>AI</a:t>
            </a:r>
            <a:endParaRPr lang="en-US" sz="800" dirty="0"/>
          </a:p>
        </p:txBody>
      </p:sp>
      <p:sp>
        <p:nvSpPr>
          <p:cNvPr id="22" name="Text 20"/>
          <p:cNvSpPr/>
          <p:nvPr/>
        </p:nvSpPr>
        <p:spPr>
          <a:xfrm>
            <a:off x="5001768" y="1645920"/>
            <a:ext cx="2194560" cy="228600"/>
          </a:xfrm>
          <a:prstGeom prst="rect">
            <a:avLst/>
          </a:prstGeom>
          <a:noFill/>
          <a:ln/>
        </p:spPr>
        <p:txBody>
          <a:bodyPr wrap="square" lIns="0" tIns="0" rIns="0" bIns="0" rtlCol="0" anchor="ctr"/>
          <a:lstStyle/>
          <a:p>
            <a:pPr marL="0" indent="0">
              <a:buNone/>
            </a:pPr>
            <a:r>
              <a:rPr lang="en-US" sz="1400" b="1" dirty="0">
                <a:solidFill>
                  <a:srgbClr val="0F172A"/>
                </a:solidFill>
              </a:rPr>
              <a:t>Manager Copilot</a:t>
            </a:r>
            <a:endParaRPr lang="en-US" sz="1400" dirty="0"/>
          </a:p>
        </p:txBody>
      </p:sp>
      <p:sp>
        <p:nvSpPr>
          <p:cNvPr id="23" name="Shape 21"/>
          <p:cNvSpPr/>
          <p:nvPr/>
        </p:nvSpPr>
        <p:spPr>
          <a:xfrm>
            <a:off x="4480560" y="2281428"/>
            <a:ext cx="100584" cy="100584"/>
          </a:xfrm>
          <a:prstGeom prst="ellipse">
            <a:avLst/>
          </a:prstGeom>
          <a:solidFill>
            <a:srgbClr val="14B8A6"/>
          </a:solidFill>
          <a:ln w="12700">
            <a:solidFill>
              <a:srgbClr val="14B8A6"/>
            </a:solidFill>
            <a:prstDash val="solid"/>
          </a:ln>
        </p:spPr>
      </p:sp>
      <p:sp>
        <p:nvSpPr>
          <p:cNvPr id="24" name="Text 22"/>
          <p:cNvSpPr/>
          <p:nvPr/>
        </p:nvSpPr>
        <p:spPr>
          <a:xfrm>
            <a:off x="4663440" y="2240280"/>
            <a:ext cx="27432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Plan team co-location by sprint/project days.</a:t>
            </a:r>
            <a:endParaRPr lang="en-US" sz="930" dirty="0"/>
          </a:p>
        </p:txBody>
      </p:sp>
      <p:sp>
        <p:nvSpPr>
          <p:cNvPr id="25" name="Shape 23"/>
          <p:cNvSpPr/>
          <p:nvPr/>
        </p:nvSpPr>
        <p:spPr>
          <a:xfrm>
            <a:off x="4480560" y="2894076"/>
            <a:ext cx="100584" cy="100584"/>
          </a:xfrm>
          <a:prstGeom prst="ellipse">
            <a:avLst/>
          </a:prstGeom>
          <a:solidFill>
            <a:srgbClr val="14B8A6"/>
          </a:solidFill>
          <a:ln w="12700">
            <a:solidFill>
              <a:srgbClr val="14B8A6"/>
            </a:solidFill>
            <a:prstDash val="solid"/>
          </a:ln>
        </p:spPr>
      </p:sp>
      <p:sp>
        <p:nvSpPr>
          <p:cNvPr id="26" name="Text 24"/>
          <p:cNvSpPr/>
          <p:nvPr/>
        </p:nvSpPr>
        <p:spPr>
          <a:xfrm>
            <a:off x="4663440" y="2852928"/>
            <a:ext cx="27432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Identify teams repeatedly split across zones.</a:t>
            </a:r>
            <a:endParaRPr lang="en-US" sz="930" dirty="0"/>
          </a:p>
        </p:txBody>
      </p:sp>
      <p:sp>
        <p:nvSpPr>
          <p:cNvPr id="27" name="Shape 25"/>
          <p:cNvSpPr/>
          <p:nvPr/>
        </p:nvSpPr>
        <p:spPr>
          <a:xfrm>
            <a:off x="4480560" y="3506724"/>
            <a:ext cx="100584" cy="100584"/>
          </a:xfrm>
          <a:prstGeom prst="ellipse">
            <a:avLst/>
          </a:prstGeom>
          <a:solidFill>
            <a:srgbClr val="14B8A6"/>
          </a:solidFill>
          <a:ln w="12700">
            <a:solidFill>
              <a:srgbClr val="14B8A6"/>
            </a:solidFill>
            <a:prstDash val="solid"/>
          </a:ln>
        </p:spPr>
      </p:sp>
      <p:sp>
        <p:nvSpPr>
          <p:cNvPr id="28" name="Text 26"/>
          <p:cNvSpPr/>
          <p:nvPr/>
        </p:nvSpPr>
        <p:spPr>
          <a:xfrm>
            <a:off x="4663440" y="3465576"/>
            <a:ext cx="27432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Assign new joiners near buddy or manager.</a:t>
            </a:r>
            <a:endParaRPr lang="en-US" sz="930" dirty="0"/>
          </a:p>
        </p:txBody>
      </p:sp>
      <p:sp>
        <p:nvSpPr>
          <p:cNvPr id="29" name="Shape 27"/>
          <p:cNvSpPr/>
          <p:nvPr/>
        </p:nvSpPr>
        <p:spPr>
          <a:xfrm>
            <a:off x="4480560" y="4119372"/>
            <a:ext cx="100584" cy="100584"/>
          </a:xfrm>
          <a:prstGeom prst="ellipse">
            <a:avLst/>
          </a:prstGeom>
          <a:solidFill>
            <a:srgbClr val="14B8A6"/>
          </a:solidFill>
          <a:ln w="12700">
            <a:solidFill>
              <a:srgbClr val="14B8A6"/>
            </a:solidFill>
            <a:prstDash val="solid"/>
          </a:ln>
        </p:spPr>
      </p:sp>
      <p:sp>
        <p:nvSpPr>
          <p:cNvPr id="30" name="Text 28"/>
          <p:cNvSpPr/>
          <p:nvPr/>
        </p:nvSpPr>
        <p:spPr>
          <a:xfrm>
            <a:off x="4663440" y="4078224"/>
            <a:ext cx="27432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Approve exceptions faster with context.</a:t>
            </a:r>
            <a:endParaRPr lang="en-US" sz="930" dirty="0"/>
          </a:p>
        </p:txBody>
      </p:sp>
      <p:sp>
        <p:nvSpPr>
          <p:cNvPr id="31" name="Shape 29"/>
          <p:cNvSpPr/>
          <p:nvPr/>
        </p:nvSpPr>
        <p:spPr>
          <a:xfrm>
            <a:off x="7635240" y="1280160"/>
            <a:ext cx="3429000" cy="4526280"/>
          </a:xfrm>
          <a:prstGeom prst="roundRect">
            <a:avLst>
              <a:gd name="adj" fmla="val 3200"/>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32" name="Shape 30"/>
          <p:cNvSpPr/>
          <p:nvPr/>
        </p:nvSpPr>
        <p:spPr>
          <a:xfrm>
            <a:off x="7836408" y="1508760"/>
            <a:ext cx="493776" cy="493776"/>
          </a:xfrm>
          <a:prstGeom prst="roundRect">
            <a:avLst>
              <a:gd name="adj" fmla="val 22222"/>
            </a:avLst>
          </a:prstGeom>
          <a:solidFill>
            <a:srgbClr val="22C55E"/>
          </a:solidFill>
          <a:ln w="12700">
            <a:solidFill>
              <a:srgbClr val="22C55E"/>
            </a:solidFill>
            <a:prstDash val="solid"/>
          </a:ln>
        </p:spPr>
      </p:sp>
      <p:sp>
        <p:nvSpPr>
          <p:cNvPr id="33" name="Text 31"/>
          <p:cNvSpPr/>
          <p:nvPr/>
        </p:nvSpPr>
        <p:spPr>
          <a:xfrm>
            <a:off x="7927848" y="1673352"/>
            <a:ext cx="292608" cy="100584"/>
          </a:xfrm>
          <a:prstGeom prst="rect">
            <a:avLst/>
          </a:prstGeom>
          <a:noFill/>
          <a:ln/>
        </p:spPr>
        <p:txBody>
          <a:bodyPr wrap="square" lIns="0" tIns="0" rIns="0" bIns="0" rtlCol="0" anchor="ctr"/>
          <a:lstStyle/>
          <a:p>
            <a:pPr marL="0" indent="0">
              <a:buNone/>
            </a:pPr>
            <a:r>
              <a:rPr lang="en-US" sz="800" b="1" dirty="0">
                <a:solidFill>
                  <a:srgbClr val="FFFFFF"/>
                </a:solidFill>
              </a:rPr>
              <a:t>AI</a:t>
            </a:r>
            <a:endParaRPr lang="en-US" sz="800" dirty="0"/>
          </a:p>
        </p:txBody>
      </p:sp>
      <p:sp>
        <p:nvSpPr>
          <p:cNvPr id="34" name="Text 32"/>
          <p:cNvSpPr/>
          <p:nvPr/>
        </p:nvSpPr>
        <p:spPr>
          <a:xfrm>
            <a:off x="8476488" y="1645920"/>
            <a:ext cx="2194560" cy="228600"/>
          </a:xfrm>
          <a:prstGeom prst="rect">
            <a:avLst/>
          </a:prstGeom>
          <a:noFill/>
          <a:ln/>
        </p:spPr>
        <p:txBody>
          <a:bodyPr wrap="square" lIns="0" tIns="0" rIns="0" bIns="0" rtlCol="0" anchor="ctr"/>
          <a:lstStyle/>
          <a:p>
            <a:pPr marL="0" indent="0">
              <a:buNone/>
            </a:pPr>
            <a:r>
              <a:rPr lang="en-US" sz="1400" b="1" dirty="0">
                <a:solidFill>
                  <a:srgbClr val="0F172A"/>
                </a:solidFill>
              </a:rPr>
              <a:t>Facilities Copilot</a:t>
            </a:r>
            <a:endParaRPr lang="en-US" sz="1400" dirty="0"/>
          </a:p>
        </p:txBody>
      </p:sp>
      <p:sp>
        <p:nvSpPr>
          <p:cNvPr id="35" name="Shape 33"/>
          <p:cNvSpPr/>
          <p:nvPr/>
        </p:nvSpPr>
        <p:spPr>
          <a:xfrm>
            <a:off x="7955280" y="2281428"/>
            <a:ext cx="100584" cy="100584"/>
          </a:xfrm>
          <a:prstGeom prst="ellipse">
            <a:avLst/>
          </a:prstGeom>
          <a:solidFill>
            <a:srgbClr val="22C55E"/>
          </a:solidFill>
          <a:ln w="12700">
            <a:solidFill>
              <a:srgbClr val="22C55E"/>
            </a:solidFill>
            <a:prstDash val="solid"/>
          </a:ln>
        </p:spPr>
      </p:sp>
      <p:sp>
        <p:nvSpPr>
          <p:cNvPr id="36" name="Text 34"/>
          <p:cNvSpPr/>
          <p:nvPr/>
        </p:nvSpPr>
        <p:spPr>
          <a:xfrm>
            <a:off x="8138160" y="2240280"/>
            <a:ext cx="27432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Predict zone load by day and shift.</a:t>
            </a:r>
            <a:endParaRPr lang="en-US" sz="930" dirty="0"/>
          </a:p>
        </p:txBody>
      </p:sp>
      <p:sp>
        <p:nvSpPr>
          <p:cNvPr id="37" name="Shape 35"/>
          <p:cNvSpPr/>
          <p:nvPr/>
        </p:nvSpPr>
        <p:spPr>
          <a:xfrm>
            <a:off x="7955280" y="2894076"/>
            <a:ext cx="100584" cy="100584"/>
          </a:xfrm>
          <a:prstGeom prst="ellipse">
            <a:avLst/>
          </a:prstGeom>
          <a:solidFill>
            <a:srgbClr val="22C55E"/>
          </a:solidFill>
          <a:ln w="12700">
            <a:solidFill>
              <a:srgbClr val="22C55E"/>
            </a:solidFill>
            <a:prstDash val="solid"/>
          </a:ln>
        </p:spPr>
      </p:sp>
      <p:sp>
        <p:nvSpPr>
          <p:cNvPr id="38" name="Text 36"/>
          <p:cNvSpPr/>
          <p:nvPr/>
        </p:nvSpPr>
        <p:spPr>
          <a:xfrm>
            <a:off x="8138160" y="2852928"/>
            <a:ext cx="27432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Identify underused zones and overused amenities.</a:t>
            </a:r>
            <a:endParaRPr lang="en-US" sz="930" dirty="0"/>
          </a:p>
        </p:txBody>
      </p:sp>
      <p:sp>
        <p:nvSpPr>
          <p:cNvPr id="39" name="Shape 37"/>
          <p:cNvSpPr/>
          <p:nvPr/>
        </p:nvSpPr>
        <p:spPr>
          <a:xfrm>
            <a:off x="7955280" y="3506724"/>
            <a:ext cx="100584" cy="100584"/>
          </a:xfrm>
          <a:prstGeom prst="ellipse">
            <a:avLst/>
          </a:prstGeom>
          <a:solidFill>
            <a:srgbClr val="22C55E"/>
          </a:solidFill>
          <a:ln w="12700">
            <a:solidFill>
              <a:srgbClr val="22C55E"/>
            </a:solidFill>
            <a:prstDash val="solid"/>
          </a:ln>
        </p:spPr>
      </p:sp>
      <p:sp>
        <p:nvSpPr>
          <p:cNvPr id="40" name="Text 38"/>
          <p:cNvSpPr/>
          <p:nvPr/>
        </p:nvSpPr>
        <p:spPr>
          <a:xfrm>
            <a:off x="8138160" y="3465576"/>
            <a:ext cx="27432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Tune housekeeping/pantry/HVAC based on demand.</a:t>
            </a:r>
            <a:endParaRPr lang="en-US" sz="930" dirty="0"/>
          </a:p>
        </p:txBody>
      </p:sp>
      <p:sp>
        <p:nvSpPr>
          <p:cNvPr id="41" name="Shape 39"/>
          <p:cNvSpPr/>
          <p:nvPr/>
        </p:nvSpPr>
        <p:spPr>
          <a:xfrm>
            <a:off x="7955280" y="4119372"/>
            <a:ext cx="100584" cy="100584"/>
          </a:xfrm>
          <a:prstGeom prst="ellipse">
            <a:avLst/>
          </a:prstGeom>
          <a:solidFill>
            <a:srgbClr val="22C55E"/>
          </a:solidFill>
          <a:ln w="12700">
            <a:solidFill>
              <a:srgbClr val="22C55E"/>
            </a:solidFill>
            <a:prstDash val="solid"/>
          </a:ln>
        </p:spPr>
      </p:sp>
      <p:sp>
        <p:nvSpPr>
          <p:cNvPr id="42" name="Text 40"/>
          <p:cNvSpPr/>
          <p:nvPr/>
        </p:nvSpPr>
        <p:spPr>
          <a:xfrm>
            <a:off x="8138160" y="4078224"/>
            <a:ext cx="27432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Highlight access anomalies for validation.</a:t>
            </a:r>
            <a:endParaRPr lang="en-US" sz="930" dirty="0"/>
          </a:p>
        </p:txBody>
      </p:sp>
      <p:sp>
        <p:nvSpPr>
          <p:cNvPr id="43"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66928" y="301752"/>
            <a:ext cx="8412480" cy="384048"/>
          </a:xfrm>
          <a:prstGeom prst="rect">
            <a:avLst/>
          </a:prstGeom>
          <a:noFill/>
          <a:ln/>
        </p:spPr>
        <p:txBody>
          <a:bodyPr wrap="square" lIns="0" tIns="0" rIns="0" bIns="0"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Cost-cutting potential</a:t>
            </a:r>
            <a:endParaRPr lang="en-US" sz="2300" dirty="0"/>
          </a:p>
        </p:txBody>
      </p:sp>
      <p:sp>
        <p:nvSpPr>
          <p:cNvPr id="4" name="Text 2"/>
          <p:cNvSpPr/>
          <p:nvPr/>
        </p:nvSpPr>
        <p:spPr>
          <a:xfrm>
            <a:off x="594360" y="749808"/>
            <a:ext cx="8138160" cy="237744"/>
          </a:xfrm>
          <a:prstGeom prst="rect">
            <a:avLst/>
          </a:prstGeom>
          <a:noFill/>
          <a:ln/>
        </p:spPr>
        <p:txBody>
          <a:bodyPr wrap="square" lIns="0" tIns="0" rIns="0" bIns="0" rtlCol="0" anchor="ctr"/>
          <a:lstStyle/>
          <a:p>
            <a:pPr marL="0" indent="0">
              <a:buNone/>
            </a:pPr>
            <a:r>
              <a:rPr lang="en-US" sz="980" dirty="0">
                <a:solidFill>
                  <a:srgbClr val="64748B"/>
                </a:solidFill>
              </a:rPr>
              <a:t>The financial case comes from reducing unused seat inventory and variable operating inefficiencies.</a:t>
            </a:r>
            <a:endParaRPr lang="en-US" sz="980" dirty="0"/>
          </a:p>
        </p:txBody>
      </p:sp>
      <p:sp>
        <p:nvSpPr>
          <p:cNvPr id="5" name="Shape 3"/>
          <p:cNvSpPr/>
          <p:nvPr/>
        </p:nvSpPr>
        <p:spPr>
          <a:xfrm>
            <a:off x="10927080" y="256032"/>
            <a:ext cx="658368" cy="658368"/>
          </a:xfrm>
          <a:prstGeom prst="arc">
            <a:avLst/>
          </a:prstGeom>
          <a:noFill/>
          <a:ln w="27940">
            <a:solidFill>
              <a:srgbClr val="14B8A6"/>
            </a:solidFill>
            <a:prstDash val="solid"/>
            <a:headEnd type="none"/>
            <a:tailEnd type="none"/>
          </a:ln>
        </p:spPr>
      </p:sp>
      <p:sp>
        <p:nvSpPr>
          <p:cNvPr id="6" name="Shape 4"/>
          <p:cNvSpPr/>
          <p:nvPr/>
        </p:nvSpPr>
        <p:spPr>
          <a:xfrm>
            <a:off x="11119104" y="429768"/>
            <a:ext cx="640080" cy="640080"/>
          </a:xfrm>
          <a:prstGeom prst="arc">
            <a:avLst/>
          </a:prstGeom>
          <a:noFill/>
          <a:ln w="27940">
            <a:solidFill>
              <a:srgbClr val="2563EB"/>
            </a:solidFill>
            <a:prstDash val="solid"/>
          </a:ln>
        </p:spPr>
      </p:sp>
      <p:pic>
        <p:nvPicPr>
          <p:cNvPr id="7" name="Image 0" descr="/mnt/data/376b0fb230.png"/>
          <p:cNvPicPr>
            <a:picLocks noChangeAspect="1"/>
          </p:cNvPicPr>
          <p:nvPr/>
        </p:nvPicPr>
        <p:blipFill>
          <a:blip r:embed="rId3"/>
          <a:srcRect l="18769" r="18769"/>
          <a:stretch/>
        </p:blipFill>
        <p:spPr>
          <a:xfrm>
            <a:off x="548640" y="1097280"/>
            <a:ext cx="4754880" cy="5074920"/>
          </a:xfrm>
          <a:prstGeom prst="rect">
            <a:avLst/>
          </a:prstGeom>
        </p:spPr>
      </p:pic>
      <p:sp>
        <p:nvSpPr>
          <p:cNvPr id="8" name="Shape 5"/>
          <p:cNvSpPr/>
          <p:nvPr/>
        </p:nvSpPr>
        <p:spPr>
          <a:xfrm>
            <a:off x="5623560" y="1115568"/>
            <a:ext cx="5943600" cy="5074920"/>
          </a:xfrm>
          <a:prstGeom prst="roundRect">
            <a:avLst>
              <a:gd name="adj" fmla="val 2162"/>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9" name="Text 6"/>
          <p:cNvSpPr/>
          <p:nvPr/>
        </p:nvSpPr>
        <p:spPr>
          <a:xfrm>
            <a:off x="5925312" y="1371600"/>
            <a:ext cx="3657600" cy="246888"/>
          </a:xfrm>
          <a:prstGeom prst="rect">
            <a:avLst/>
          </a:prstGeom>
          <a:noFill/>
          <a:ln/>
        </p:spPr>
        <p:txBody>
          <a:bodyPr wrap="square" lIns="0" tIns="0" rIns="0" bIns="0" rtlCol="0" anchor="ctr"/>
          <a:lstStyle/>
          <a:p>
            <a:pPr marL="0" indent="0">
              <a:buNone/>
            </a:pPr>
            <a:r>
              <a:rPr lang="en-US" sz="1500" b="1" dirty="0">
                <a:solidFill>
                  <a:srgbClr val="0F172A"/>
                </a:solidFill>
              </a:rPr>
              <a:t>Illustrative model for 1,000 desks</a:t>
            </a:r>
            <a:endParaRPr lang="en-US" sz="1500" dirty="0"/>
          </a:p>
        </p:txBody>
      </p:sp>
      <p:sp>
        <p:nvSpPr>
          <p:cNvPr id="10" name="Shape 7"/>
          <p:cNvSpPr/>
          <p:nvPr/>
        </p:nvSpPr>
        <p:spPr>
          <a:xfrm>
            <a:off x="5943600" y="1746504"/>
            <a:ext cx="5074920" cy="310896"/>
          </a:xfrm>
          <a:prstGeom prst="rect">
            <a:avLst/>
          </a:prstGeom>
          <a:solidFill>
            <a:srgbClr val="FFFFFF"/>
          </a:solidFill>
          <a:ln w="12700">
            <a:solidFill>
              <a:srgbClr val="E2E8F0">
                <a:alpha val="50000"/>
              </a:srgbClr>
            </a:solidFill>
            <a:prstDash val="solid"/>
          </a:ln>
        </p:spPr>
      </p:sp>
      <p:sp>
        <p:nvSpPr>
          <p:cNvPr id="11" name="Text 8"/>
          <p:cNvSpPr/>
          <p:nvPr/>
        </p:nvSpPr>
        <p:spPr>
          <a:xfrm>
            <a:off x="6108192" y="1783080"/>
            <a:ext cx="3108960" cy="146304"/>
          </a:xfrm>
          <a:prstGeom prst="rect">
            <a:avLst/>
          </a:prstGeom>
          <a:noFill/>
          <a:ln/>
        </p:spPr>
        <p:txBody>
          <a:bodyPr wrap="square" lIns="0" tIns="0" rIns="0" bIns="0" rtlCol="0" anchor="ctr"/>
          <a:lstStyle/>
          <a:p>
            <a:pPr marL="0" indent="0">
              <a:buNone/>
            </a:pPr>
            <a:r>
              <a:rPr lang="en-US" sz="820" dirty="0">
                <a:solidFill>
                  <a:srgbClr val="475569"/>
                </a:solidFill>
              </a:rPr>
              <a:t>Current desks</a:t>
            </a:r>
            <a:endParaRPr lang="en-US" sz="820" dirty="0"/>
          </a:p>
        </p:txBody>
      </p:sp>
      <p:sp>
        <p:nvSpPr>
          <p:cNvPr id="12" name="Text 9"/>
          <p:cNvSpPr/>
          <p:nvPr/>
        </p:nvSpPr>
        <p:spPr>
          <a:xfrm>
            <a:off x="9464040" y="1783080"/>
            <a:ext cx="1325880" cy="146304"/>
          </a:xfrm>
          <a:prstGeom prst="rect">
            <a:avLst/>
          </a:prstGeom>
          <a:noFill/>
          <a:ln/>
        </p:spPr>
        <p:txBody>
          <a:bodyPr wrap="square" lIns="0" tIns="0" rIns="0" bIns="0" rtlCol="0" anchor="ctr"/>
          <a:lstStyle/>
          <a:p>
            <a:pPr marL="0" indent="0" algn="r">
              <a:buNone/>
            </a:pPr>
            <a:r>
              <a:rPr lang="en-US" sz="820" b="1" dirty="0">
                <a:solidFill>
                  <a:srgbClr val="0F172A"/>
                </a:solidFill>
              </a:rPr>
              <a:t>1,000</a:t>
            </a:r>
            <a:endParaRPr lang="en-US" sz="820" dirty="0"/>
          </a:p>
        </p:txBody>
      </p:sp>
      <p:sp>
        <p:nvSpPr>
          <p:cNvPr id="13" name="Shape 10"/>
          <p:cNvSpPr/>
          <p:nvPr/>
        </p:nvSpPr>
        <p:spPr>
          <a:xfrm>
            <a:off x="5943600" y="2130552"/>
            <a:ext cx="5074920" cy="310896"/>
          </a:xfrm>
          <a:prstGeom prst="rect">
            <a:avLst/>
          </a:prstGeom>
          <a:solidFill>
            <a:srgbClr val="F8FAFC"/>
          </a:solidFill>
          <a:ln w="12700">
            <a:solidFill>
              <a:srgbClr val="E2E8F0">
                <a:alpha val="50000"/>
              </a:srgbClr>
            </a:solidFill>
            <a:prstDash val="solid"/>
          </a:ln>
        </p:spPr>
      </p:sp>
      <p:sp>
        <p:nvSpPr>
          <p:cNvPr id="14" name="Text 11"/>
          <p:cNvSpPr/>
          <p:nvPr/>
        </p:nvSpPr>
        <p:spPr>
          <a:xfrm>
            <a:off x="6108192" y="2167128"/>
            <a:ext cx="3108960" cy="146304"/>
          </a:xfrm>
          <a:prstGeom prst="rect">
            <a:avLst/>
          </a:prstGeom>
          <a:noFill/>
          <a:ln/>
        </p:spPr>
        <p:txBody>
          <a:bodyPr wrap="square" lIns="0" tIns="0" rIns="0" bIns="0" rtlCol="0" anchor="ctr"/>
          <a:lstStyle/>
          <a:p>
            <a:pPr marL="0" indent="0">
              <a:buNone/>
            </a:pPr>
            <a:r>
              <a:rPr lang="en-US" sz="820" dirty="0">
                <a:solidFill>
                  <a:srgbClr val="475569"/>
                </a:solidFill>
              </a:rPr>
              <a:t>Verified peak occupancy</a:t>
            </a:r>
            <a:endParaRPr lang="en-US" sz="820" dirty="0"/>
          </a:p>
        </p:txBody>
      </p:sp>
      <p:sp>
        <p:nvSpPr>
          <p:cNvPr id="15" name="Text 12"/>
          <p:cNvSpPr/>
          <p:nvPr/>
        </p:nvSpPr>
        <p:spPr>
          <a:xfrm>
            <a:off x="9464040" y="2167128"/>
            <a:ext cx="1325880" cy="146304"/>
          </a:xfrm>
          <a:prstGeom prst="rect">
            <a:avLst/>
          </a:prstGeom>
          <a:noFill/>
          <a:ln/>
        </p:spPr>
        <p:txBody>
          <a:bodyPr wrap="square" lIns="0" tIns="0" rIns="0" bIns="0" rtlCol="0" anchor="ctr"/>
          <a:lstStyle/>
          <a:p>
            <a:pPr marL="0" indent="0" algn="r">
              <a:buNone/>
            </a:pPr>
            <a:r>
              <a:rPr lang="en-US" sz="820" b="1" dirty="0">
                <a:solidFill>
                  <a:srgbClr val="0F172A"/>
                </a:solidFill>
              </a:rPr>
              <a:t>650</a:t>
            </a:r>
            <a:endParaRPr lang="en-US" sz="820" dirty="0"/>
          </a:p>
        </p:txBody>
      </p:sp>
      <p:sp>
        <p:nvSpPr>
          <p:cNvPr id="16" name="Shape 13"/>
          <p:cNvSpPr/>
          <p:nvPr/>
        </p:nvSpPr>
        <p:spPr>
          <a:xfrm>
            <a:off x="5943600" y="2514600"/>
            <a:ext cx="5074920" cy="310896"/>
          </a:xfrm>
          <a:prstGeom prst="rect">
            <a:avLst/>
          </a:prstGeom>
          <a:solidFill>
            <a:srgbClr val="FFFFFF"/>
          </a:solidFill>
          <a:ln w="12700">
            <a:solidFill>
              <a:srgbClr val="E2E8F0">
                <a:alpha val="50000"/>
              </a:srgbClr>
            </a:solidFill>
            <a:prstDash val="solid"/>
          </a:ln>
        </p:spPr>
      </p:sp>
      <p:sp>
        <p:nvSpPr>
          <p:cNvPr id="17" name="Text 14"/>
          <p:cNvSpPr/>
          <p:nvPr/>
        </p:nvSpPr>
        <p:spPr>
          <a:xfrm>
            <a:off x="6108192" y="2551176"/>
            <a:ext cx="3108960" cy="146304"/>
          </a:xfrm>
          <a:prstGeom prst="rect">
            <a:avLst/>
          </a:prstGeom>
          <a:noFill/>
          <a:ln/>
        </p:spPr>
        <p:txBody>
          <a:bodyPr wrap="square" lIns="0" tIns="0" rIns="0" bIns="0" rtlCol="0" anchor="ctr"/>
          <a:lstStyle/>
          <a:p>
            <a:pPr marL="0" indent="0">
              <a:buNone/>
            </a:pPr>
            <a:r>
              <a:rPr lang="en-US" sz="820" dirty="0">
                <a:solidFill>
                  <a:srgbClr val="475569"/>
                </a:solidFill>
              </a:rPr>
              <a:t>Planning buffer</a:t>
            </a:r>
            <a:endParaRPr lang="en-US" sz="820" dirty="0"/>
          </a:p>
        </p:txBody>
      </p:sp>
      <p:sp>
        <p:nvSpPr>
          <p:cNvPr id="18" name="Text 15"/>
          <p:cNvSpPr/>
          <p:nvPr/>
        </p:nvSpPr>
        <p:spPr>
          <a:xfrm>
            <a:off x="9464040" y="2551176"/>
            <a:ext cx="1325880" cy="146304"/>
          </a:xfrm>
          <a:prstGeom prst="rect">
            <a:avLst/>
          </a:prstGeom>
          <a:noFill/>
          <a:ln/>
        </p:spPr>
        <p:txBody>
          <a:bodyPr wrap="square" lIns="0" tIns="0" rIns="0" bIns="0" rtlCol="0" anchor="ctr"/>
          <a:lstStyle/>
          <a:p>
            <a:pPr marL="0" indent="0" algn="r">
              <a:buNone/>
            </a:pPr>
            <a:r>
              <a:rPr lang="en-US" sz="820" b="1" dirty="0">
                <a:solidFill>
                  <a:srgbClr val="0F172A"/>
                </a:solidFill>
              </a:rPr>
              <a:t>10%</a:t>
            </a:r>
            <a:endParaRPr lang="en-US" sz="820" dirty="0"/>
          </a:p>
        </p:txBody>
      </p:sp>
      <p:sp>
        <p:nvSpPr>
          <p:cNvPr id="19" name="Shape 16"/>
          <p:cNvSpPr/>
          <p:nvPr/>
        </p:nvSpPr>
        <p:spPr>
          <a:xfrm>
            <a:off x="5943600" y="2898648"/>
            <a:ext cx="5074920" cy="310896"/>
          </a:xfrm>
          <a:prstGeom prst="rect">
            <a:avLst/>
          </a:prstGeom>
          <a:solidFill>
            <a:srgbClr val="F8FAFC"/>
          </a:solidFill>
          <a:ln w="12700">
            <a:solidFill>
              <a:srgbClr val="E2E8F0">
                <a:alpha val="50000"/>
              </a:srgbClr>
            </a:solidFill>
            <a:prstDash val="solid"/>
          </a:ln>
        </p:spPr>
      </p:sp>
      <p:sp>
        <p:nvSpPr>
          <p:cNvPr id="20" name="Text 17"/>
          <p:cNvSpPr/>
          <p:nvPr/>
        </p:nvSpPr>
        <p:spPr>
          <a:xfrm>
            <a:off x="6108192" y="2935224"/>
            <a:ext cx="3108960" cy="146304"/>
          </a:xfrm>
          <a:prstGeom prst="rect">
            <a:avLst/>
          </a:prstGeom>
          <a:noFill/>
          <a:ln/>
        </p:spPr>
        <p:txBody>
          <a:bodyPr wrap="square" lIns="0" tIns="0" rIns="0" bIns="0" rtlCol="0" anchor="ctr"/>
          <a:lstStyle/>
          <a:p>
            <a:pPr marL="0" indent="0">
              <a:buNone/>
            </a:pPr>
            <a:r>
              <a:rPr lang="en-US" sz="820" dirty="0">
                <a:solidFill>
                  <a:srgbClr val="475569"/>
                </a:solidFill>
              </a:rPr>
              <a:t>Target required seats</a:t>
            </a:r>
            <a:endParaRPr lang="en-US" sz="820" dirty="0"/>
          </a:p>
        </p:txBody>
      </p:sp>
      <p:sp>
        <p:nvSpPr>
          <p:cNvPr id="21" name="Text 18"/>
          <p:cNvSpPr/>
          <p:nvPr/>
        </p:nvSpPr>
        <p:spPr>
          <a:xfrm>
            <a:off x="9464040" y="2935224"/>
            <a:ext cx="1325880" cy="146304"/>
          </a:xfrm>
          <a:prstGeom prst="rect">
            <a:avLst/>
          </a:prstGeom>
          <a:noFill/>
          <a:ln/>
        </p:spPr>
        <p:txBody>
          <a:bodyPr wrap="square" lIns="0" tIns="0" rIns="0" bIns="0" rtlCol="0" anchor="ctr"/>
          <a:lstStyle/>
          <a:p>
            <a:pPr marL="0" indent="0" algn="r">
              <a:buNone/>
            </a:pPr>
            <a:r>
              <a:rPr lang="en-US" sz="820" b="1" dirty="0">
                <a:solidFill>
                  <a:srgbClr val="0F172A"/>
                </a:solidFill>
              </a:rPr>
              <a:t>715</a:t>
            </a:r>
            <a:endParaRPr lang="en-US" sz="820" dirty="0"/>
          </a:p>
        </p:txBody>
      </p:sp>
      <p:sp>
        <p:nvSpPr>
          <p:cNvPr id="22" name="Shape 19"/>
          <p:cNvSpPr/>
          <p:nvPr/>
        </p:nvSpPr>
        <p:spPr>
          <a:xfrm>
            <a:off x="5943600" y="3282696"/>
            <a:ext cx="5074920" cy="310896"/>
          </a:xfrm>
          <a:prstGeom prst="rect">
            <a:avLst/>
          </a:prstGeom>
          <a:solidFill>
            <a:srgbClr val="FFFFFF"/>
          </a:solidFill>
          <a:ln w="12700">
            <a:solidFill>
              <a:srgbClr val="E2E8F0">
                <a:alpha val="50000"/>
              </a:srgbClr>
            </a:solidFill>
            <a:prstDash val="solid"/>
          </a:ln>
        </p:spPr>
      </p:sp>
      <p:sp>
        <p:nvSpPr>
          <p:cNvPr id="23" name="Text 20"/>
          <p:cNvSpPr/>
          <p:nvPr/>
        </p:nvSpPr>
        <p:spPr>
          <a:xfrm>
            <a:off x="6108192" y="3319272"/>
            <a:ext cx="3108960" cy="146304"/>
          </a:xfrm>
          <a:prstGeom prst="rect">
            <a:avLst/>
          </a:prstGeom>
          <a:noFill/>
          <a:ln/>
        </p:spPr>
        <p:txBody>
          <a:bodyPr wrap="square" lIns="0" tIns="0" rIns="0" bIns="0" rtlCol="0" anchor="ctr"/>
          <a:lstStyle/>
          <a:p>
            <a:pPr marL="0" indent="0">
              <a:buNone/>
            </a:pPr>
            <a:r>
              <a:rPr lang="en-US" sz="820" dirty="0">
                <a:solidFill>
                  <a:srgbClr val="475569"/>
                </a:solidFill>
              </a:rPr>
              <a:t>Potential optimizable desks</a:t>
            </a:r>
            <a:endParaRPr lang="en-US" sz="820" dirty="0"/>
          </a:p>
        </p:txBody>
      </p:sp>
      <p:sp>
        <p:nvSpPr>
          <p:cNvPr id="24" name="Text 21"/>
          <p:cNvSpPr/>
          <p:nvPr/>
        </p:nvSpPr>
        <p:spPr>
          <a:xfrm>
            <a:off x="9464040" y="3319272"/>
            <a:ext cx="1325880" cy="146304"/>
          </a:xfrm>
          <a:prstGeom prst="rect">
            <a:avLst/>
          </a:prstGeom>
          <a:noFill/>
          <a:ln/>
        </p:spPr>
        <p:txBody>
          <a:bodyPr wrap="square" lIns="0" tIns="0" rIns="0" bIns="0" rtlCol="0" anchor="ctr"/>
          <a:lstStyle/>
          <a:p>
            <a:pPr marL="0" indent="0" algn="r">
              <a:buNone/>
            </a:pPr>
            <a:r>
              <a:rPr lang="en-US" sz="820" b="1" dirty="0">
                <a:solidFill>
                  <a:srgbClr val="22C55E"/>
                </a:solidFill>
              </a:rPr>
              <a:t>285</a:t>
            </a:r>
            <a:endParaRPr lang="en-US" sz="820" dirty="0"/>
          </a:p>
        </p:txBody>
      </p:sp>
      <p:sp>
        <p:nvSpPr>
          <p:cNvPr id="25" name="Shape 22"/>
          <p:cNvSpPr/>
          <p:nvPr/>
        </p:nvSpPr>
        <p:spPr>
          <a:xfrm>
            <a:off x="5943600" y="3666744"/>
            <a:ext cx="5074920" cy="310896"/>
          </a:xfrm>
          <a:prstGeom prst="rect">
            <a:avLst/>
          </a:prstGeom>
          <a:solidFill>
            <a:srgbClr val="F8FAFC"/>
          </a:solidFill>
          <a:ln w="12700">
            <a:solidFill>
              <a:srgbClr val="E2E8F0">
                <a:alpha val="50000"/>
              </a:srgbClr>
            </a:solidFill>
            <a:prstDash val="solid"/>
          </a:ln>
        </p:spPr>
      </p:sp>
      <p:sp>
        <p:nvSpPr>
          <p:cNvPr id="26" name="Text 23"/>
          <p:cNvSpPr/>
          <p:nvPr/>
        </p:nvSpPr>
        <p:spPr>
          <a:xfrm>
            <a:off x="6108192" y="3703320"/>
            <a:ext cx="3108960" cy="146304"/>
          </a:xfrm>
          <a:prstGeom prst="rect">
            <a:avLst/>
          </a:prstGeom>
          <a:noFill/>
          <a:ln/>
        </p:spPr>
        <p:txBody>
          <a:bodyPr wrap="square" lIns="0" tIns="0" rIns="0" bIns="0" rtlCol="0" anchor="ctr"/>
          <a:lstStyle/>
          <a:p>
            <a:pPr marL="0" indent="0">
              <a:buNone/>
            </a:pPr>
            <a:r>
              <a:rPr lang="en-US" sz="820" dirty="0">
                <a:solidFill>
                  <a:srgbClr val="475569"/>
                </a:solidFill>
              </a:rPr>
              <a:t>Fully loaded cost/desk/year</a:t>
            </a:r>
            <a:endParaRPr lang="en-US" sz="820" dirty="0"/>
          </a:p>
        </p:txBody>
      </p:sp>
      <p:sp>
        <p:nvSpPr>
          <p:cNvPr id="27" name="Text 24"/>
          <p:cNvSpPr/>
          <p:nvPr/>
        </p:nvSpPr>
        <p:spPr>
          <a:xfrm>
            <a:off x="9464040" y="3703320"/>
            <a:ext cx="1325880" cy="146304"/>
          </a:xfrm>
          <a:prstGeom prst="rect">
            <a:avLst/>
          </a:prstGeom>
          <a:noFill/>
          <a:ln/>
        </p:spPr>
        <p:txBody>
          <a:bodyPr wrap="square" lIns="0" tIns="0" rIns="0" bIns="0" rtlCol="0" anchor="ctr"/>
          <a:lstStyle/>
          <a:p>
            <a:pPr marL="0" indent="0" algn="r">
              <a:buNone/>
            </a:pPr>
            <a:r>
              <a:rPr lang="en-US" sz="820" b="1" dirty="0">
                <a:solidFill>
                  <a:srgbClr val="22C55E"/>
                </a:solidFill>
              </a:rPr>
              <a:t>₹45,000</a:t>
            </a:r>
            <a:endParaRPr lang="en-US" sz="820" dirty="0"/>
          </a:p>
        </p:txBody>
      </p:sp>
      <p:sp>
        <p:nvSpPr>
          <p:cNvPr id="28" name="Shape 25"/>
          <p:cNvSpPr/>
          <p:nvPr/>
        </p:nvSpPr>
        <p:spPr>
          <a:xfrm>
            <a:off x="5943600" y="4050792"/>
            <a:ext cx="5074920" cy="310896"/>
          </a:xfrm>
          <a:prstGeom prst="rect">
            <a:avLst/>
          </a:prstGeom>
          <a:solidFill>
            <a:srgbClr val="FFFFFF"/>
          </a:solidFill>
          <a:ln w="12700">
            <a:solidFill>
              <a:srgbClr val="E2E8F0">
                <a:alpha val="50000"/>
              </a:srgbClr>
            </a:solidFill>
            <a:prstDash val="solid"/>
          </a:ln>
        </p:spPr>
      </p:sp>
      <p:sp>
        <p:nvSpPr>
          <p:cNvPr id="29" name="Text 26"/>
          <p:cNvSpPr/>
          <p:nvPr/>
        </p:nvSpPr>
        <p:spPr>
          <a:xfrm>
            <a:off x="6108192" y="4087368"/>
            <a:ext cx="3108960" cy="146304"/>
          </a:xfrm>
          <a:prstGeom prst="rect">
            <a:avLst/>
          </a:prstGeom>
          <a:noFill/>
          <a:ln/>
        </p:spPr>
        <p:txBody>
          <a:bodyPr wrap="square" lIns="0" tIns="0" rIns="0" bIns="0" rtlCol="0" anchor="ctr"/>
          <a:lstStyle/>
          <a:p>
            <a:pPr marL="0" indent="0">
              <a:buNone/>
            </a:pPr>
            <a:r>
              <a:rPr lang="en-US" sz="820" dirty="0">
                <a:solidFill>
                  <a:srgbClr val="475569"/>
                </a:solidFill>
              </a:rPr>
              <a:t>Gross annual opportunity</a:t>
            </a:r>
            <a:endParaRPr lang="en-US" sz="820" dirty="0"/>
          </a:p>
        </p:txBody>
      </p:sp>
      <p:sp>
        <p:nvSpPr>
          <p:cNvPr id="30" name="Text 27"/>
          <p:cNvSpPr/>
          <p:nvPr/>
        </p:nvSpPr>
        <p:spPr>
          <a:xfrm>
            <a:off x="9464040" y="4087368"/>
            <a:ext cx="1325880" cy="146304"/>
          </a:xfrm>
          <a:prstGeom prst="rect">
            <a:avLst/>
          </a:prstGeom>
          <a:noFill/>
          <a:ln/>
        </p:spPr>
        <p:txBody>
          <a:bodyPr wrap="square" lIns="0" tIns="0" rIns="0" bIns="0" rtlCol="0" anchor="ctr"/>
          <a:lstStyle/>
          <a:p>
            <a:pPr marL="0" indent="0" algn="r">
              <a:buNone/>
            </a:pPr>
            <a:r>
              <a:rPr lang="en-US" sz="820" b="1" dirty="0">
                <a:solidFill>
                  <a:srgbClr val="22C55E"/>
                </a:solidFill>
              </a:rPr>
              <a:t>₹1.28 Cr</a:t>
            </a:r>
            <a:endParaRPr lang="en-US" sz="820" dirty="0"/>
          </a:p>
        </p:txBody>
      </p:sp>
      <p:sp>
        <p:nvSpPr>
          <p:cNvPr id="31" name="Shape 28"/>
          <p:cNvSpPr/>
          <p:nvPr/>
        </p:nvSpPr>
        <p:spPr>
          <a:xfrm>
            <a:off x="5943600" y="4434840"/>
            <a:ext cx="5074920" cy="310896"/>
          </a:xfrm>
          <a:prstGeom prst="rect">
            <a:avLst/>
          </a:prstGeom>
          <a:solidFill>
            <a:srgbClr val="F8FAFC"/>
          </a:solidFill>
          <a:ln w="12700">
            <a:solidFill>
              <a:srgbClr val="E2E8F0">
                <a:alpha val="50000"/>
              </a:srgbClr>
            </a:solidFill>
            <a:prstDash val="solid"/>
          </a:ln>
        </p:spPr>
      </p:sp>
      <p:sp>
        <p:nvSpPr>
          <p:cNvPr id="32" name="Text 29"/>
          <p:cNvSpPr/>
          <p:nvPr/>
        </p:nvSpPr>
        <p:spPr>
          <a:xfrm>
            <a:off x="6108192" y="4471416"/>
            <a:ext cx="3108960" cy="146304"/>
          </a:xfrm>
          <a:prstGeom prst="rect">
            <a:avLst/>
          </a:prstGeom>
          <a:noFill/>
          <a:ln/>
        </p:spPr>
        <p:txBody>
          <a:bodyPr wrap="square" lIns="0" tIns="0" rIns="0" bIns="0" rtlCol="0" anchor="ctr"/>
          <a:lstStyle/>
          <a:p>
            <a:pPr marL="0" indent="0">
              <a:buNone/>
            </a:pPr>
            <a:r>
              <a:rPr lang="en-US" sz="820" dirty="0">
                <a:solidFill>
                  <a:srgbClr val="475569"/>
                </a:solidFill>
              </a:rPr>
              <a:t>Realistic Year-1 captured value</a:t>
            </a:r>
            <a:endParaRPr lang="en-US" sz="820" dirty="0"/>
          </a:p>
        </p:txBody>
      </p:sp>
      <p:sp>
        <p:nvSpPr>
          <p:cNvPr id="33" name="Text 30"/>
          <p:cNvSpPr/>
          <p:nvPr/>
        </p:nvSpPr>
        <p:spPr>
          <a:xfrm>
            <a:off x="9464040" y="4471416"/>
            <a:ext cx="1325880" cy="146304"/>
          </a:xfrm>
          <a:prstGeom prst="rect">
            <a:avLst/>
          </a:prstGeom>
          <a:noFill/>
          <a:ln/>
        </p:spPr>
        <p:txBody>
          <a:bodyPr wrap="square" lIns="0" tIns="0" rIns="0" bIns="0" rtlCol="0" anchor="ctr"/>
          <a:lstStyle/>
          <a:p>
            <a:pPr marL="0" indent="0" algn="r">
              <a:buNone/>
            </a:pPr>
            <a:r>
              <a:rPr lang="en-US" sz="820" b="1" dirty="0">
                <a:solidFill>
                  <a:srgbClr val="22C55E"/>
                </a:solidFill>
              </a:rPr>
              <a:t>₹0.77–0.96 Cr</a:t>
            </a:r>
            <a:endParaRPr lang="en-US" sz="820" dirty="0"/>
          </a:p>
        </p:txBody>
      </p:sp>
      <p:sp>
        <p:nvSpPr>
          <p:cNvPr id="34" name="Shape 31"/>
          <p:cNvSpPr/>
          <p:nvPr/>
        </p:nvSpPr>
        <p:spPr>
          <a:xfrm>
            <a:off x="5943600" y="5166360"/>
            <a:ext cx="5074920" cy="566928"/>
          </a:xfrm>
          <a:prstGeom prst="rect">
            <a:avLst/>
          </a:prstGeom>
          <a:solidFill>
            <a:srgbClr val="ECFDF5"/>
          </a:solidFill>
          <a:ln w="12700">
            <a:solidFill>
              <a:srgbClr val="BBF7D0"/>
            </a:solidFill>
            <a:prstDash val="solid"/>
          </a:ln>
        </p:spPr>
      </p:sp>
      <p:sp>
        <p:nvSpPr>
          <p:cNvPr id="35" name="Text 32"/>
          <p:cNvSpPr/>
          <p:nvPr/>
        </p:nvSpPr>
        <p:spPr>
          <a:xfrm>
            <a:off x="6126480" y="5276088"/>
            <a:ext cx="2560320" cy="164592"/>
          </a:xfrm>
          <a:prstGeom prst="rect">
            <a:avLst/>
          </a:prstGeom>
          <a:noFill/>
          <a:ln/>
        </p:spPr>
        <p:txBody>
          <a:bodyPr wrap="square" lIns="0" tIns="0" rIns="0" bIns="0" rtlCol="0" anchor="ctr"/>
          <a:lstStyle/>
          <a:p>
            <a:pPr marL="0" indent="0">
              <a:buNone/>
            </a:pPr>
            <a:r>
              <a:rPr lang="en-US" sz="860" dirty="0">
                <a:solidFill>
                  <a:srgbClr val="475569"/>
                </a:solidFill>
              </a:rPr>
              <a:t>Expected cost-cutting level</a:t>
            </a:r>
            <a:endParaRPr lang="en-US" sz="860" dirty="0"/>
          </a:p>
        </p:txBody>
      </p:sp>
      <p:sp>
        <p:nvSpPr>
          <p:cNvPr id="36" name="Text 33"/>
          <p:cNvSpPr/>
          <p:nvPr/>
        </p:nvSpPr>
        <p:spPr>
          <a:xfrm>
            <a:off x="6126480" y="5504688"/>
            <a:ext cx="4480560" cy="201168"/>
          </a:xfrm>
          <a:prstGeom prst="rect">
            <a:avLst/>
          </a:prstGeom>
          <a:noFill/>
          <a:ln/>
        </p:spPr>
        <p:txBody>
          <a:bodyPr wrap="square" lIns="0" tIns="0" rIns="0" bIns="0" rtlCol="0" anchor="ctr"/>
          <a:lstStyle/>
          <a:p>
            <a:pPr marL="0" indent="0">
              <a:buNone/>
            </a:pPr>
            <a:r>
              <a:rPr lang="en-US" sz="1500" b="1" dirty="0">
                <a:solidFill>
                  <a:srgbClr val="22C55E"/>
                </a:solidFill>
              </a:rPr>
              <a:t>10–18% facility run-rate reduction potential</a:t>
            </a:r>
            <a:endParaRPr lang="en-US" sz="1500" dirty="0"/>
          </a:p>
        </p:txBody>
      </p:sp>
      <p:sp>
        <p:nvSpPr>
          <p:cNvPr id="37"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66928" y="301752"/>
            <a:ext cx="8412480" cy="384048"/>
          </a:xfrm>
          <a:prstGeom prst="rect">
            <a:avLst/>
          </a:prstGeom>
          <a:noFill/>
          <a:ln/>
        </p:spPr>
        <p:txBody>
          <a:bodyPr wrap="square" lIns="0" tIns="0" rIns="0" bIns="0"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Expected outcomes coverage</a:t>
            </a:r>
            <a:endParaRPr lang="en-US" sz="2300" dirty="0"/>
          </a:p>
        </p:txBody>
      </p:sp>
      <p:sp>
        <p:nvSpPr>
          <p:cNvPr id="4" name="Text 2"/>
          <p:cNvSpPr/>
          <p:nvPr/>
        </p:nvSpPr>
        <p:spPr>
          <a:xfrm>
            <a:off x="594360" y="749808"/>
            <a:ext cx="8138160" cy="237744"/>
          </a:xfrm>
          <a:prstGeom prst="rect">
            <a:avLst/>
          </a:prstGeom>
          <a:noFill/>
          <a:ln/>
        </p:spPr>
        <p:txBody>
          <a:bodyPr wrap="square" lIns="0" tIns="0" rIns="0" bIns="0" rtlCol="0" anchor="ctr"/>
          <a:lstStyle/>
          <a:p>
            <a:pPr marL="0" indent="0">
              <a:buNone/>
            </a:pPr>
            <a:r>
              <a:rPr lang="en-US" sz="980" dirty="0">
                <a:solidFill>
                  <a:srgbClr val="64748B"/>
                </a:solidFill>
              </a:rPr>
              <a:t>All seven expected outcomes are met by the current solution concept.</a:t>
            </a:r>
            <a:endParaRPr lang="en-US" sz="980" dirty="0"/>
          </a:p>
        </p:txBody>
      </p:sp>
      <p:sp>
        <p:nvSpPr>
          <p:cNvPr id="5" name="Shape 3"/>
          <p:cNvSpPr/>
          <p:nvPr/>
        </p:nvSpPr>
        <p:spPr>
          <a:xfrm>
            <a:off x="10927080" y="256032"/>
            <a:ext cx="658368" cy="658368"/>
          </a:xfrm>
          <a:prstGeom prst="arc">
            <a:avLst/>
          </a:prstGeom>
          <a:noFill/>
          <a:ln w="27940">
            <a:solidFill>
              <a:srgbClr val="14B8A6"/>
            </a:solidFill>
            <a:prstDash val="solid"/>
            <a:headEnd type="none"/>
            <a:tailEnd type="none"/>
          </a:ln>
        </p:spPr>
      </p:sp>
      <p:sp>
        <p:nvSpPr>
          <p:cNvPr id="6" name="Shape 4"/>
          <p:cNvSpPr/>
          <p:nvPr/>
        </p:nvSpPr>
        <p:spPr>
          <a:xfrm>
            <a:off x="11119104" y="429768"/>
            <a:ext cx="640080" cy="640080"/>
          </a:xfrm>
          <a:prstGeom prst="arc">
            <a:avLst/>
          </a:prstGeom>
          <a:noFill/>
          <a:ln w="27940">
            <a:solidFill>
              <a:srgbClr val="2563EB"/>
            </a:solidFill>
            <a:prstDash val="solid"/>
          </a:ln>
        </p:spPr>
      </p:sp>
      <p:sp>
        <p:nvSpPr>
          <p:cNvPr id="7" name="Shape 5"/>
          <p:cNvSpPr/>
          <p:nvPr/>
        </p:nvSpPr>
        <p:spPr>
          <a:xfrm>
            <a:off x="731520" y="1115568"/>
            <a:ext cx="5166360" cy="4937760"/>
          </a:xfrm>
          <a:prstGeom prst="roundRect">
            <a:avLst>
              <a:gd name="adj" fmla="val 2222"/>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8" name="Text 6"/>
          <p:cNvSpPr/>
          <p:nvPr/>
        </p:nvSpPr>
        <p:spPr>
          <a:xfrm>
            <a:off x="1005840" y="1389888"/>
            <a:ext cx="2926080" cy="228600"/>
          </a:xfrm>
          <a:prstGeom prst="rect">
            <a:avLst/>
          </a:prstGeom>
          <a:noFill/>
          <a:ln/>
        </p:spPr>
        <p:txBody>
          <a:bodyPr wrap="square" lIns="0" tIns="0" rIns="0" bIns="0" rtlCol="0" anchor="ctr"/>
          <a:lstStyle/>
          <a:p>
            <a:pPr marL="0" indent="0">
              <a:buNone/>
            </a:pPr>
            <a:r>
              <a:rPr lang="en-US" sz="1500" b="1" dirty="0">
                <a:solidFill>
                  <a:srgbClr val="0F172A"/>
                </a:solidFill>
              </a:rPr>
              <a:t>Expected outcomes</a:t>
            </a:r>
            <a:endParaRPr lang="en-US" sz="1500" dirty="0"/>
          </a:p>
        </p:txBody>
      </p:sp>
      <p:sp>
        <p:nvSpPr>
          <p:cNvPr id="9" name="Shape 7"/>
          <p:cNvSpPr/>
          <p:nvPr/>
        </p:nvSpPr>
        <p:spPr>
          <a:xfrm>
            <a:off x="1024128" y="1856232"/>
            <a:ext cx="164592" cy="164592"/>
          </a:xfrm>
          <a:prstGeom prst="ellipse">
            <a:avLst/>
          </a:prstGeom>
          <a:solidFill>
            <a:srgbClr val="22C55E"/>
          </a:solidFill>
          <a:ln w="12700">
            <a:solidFill>
              <a:srgbClr val="22C55E"/>
            </a:solidFill>
            <a:prstDash val="solid"/>
          </a:ln>
        </p:spPr>
      </p:sp>
      <p:sp>
        <p:nvSpPr>
          <p:cNvPr id="10" name="Text 8"/>
          <p:cNvSpPr/>
          <p:nvPr/>
        </p:nvSpPr>
        <p:spPr>
          <a:xfrm>
            <a:off x="1058875" y="1868119"/>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11" name="Text 9"/>
          <p:cNvSpPr/>
          <p:nvPr/>
        </p:nvSpPr>
        <p:spPr>
          <a:xfrm>
            <a:off x="1298448" y="1824228"/>
            <a:ext cx="43891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Better visibility into available and occupied seats</a:t>
            </a:r>
            <a:endParaRPr lang="en-US" sz="880" dirty="0"/>
          </a:p>
        </p:txBody>
      </p:sp>
      <p:sp>
        <p:nvSpPr>
          <p:cNvPr id="12" name="Shape 10"/>
          <p:cNvSpPr/>
          <p:nvPr/>
        </p:nvSpPr>
        <p:spPr>
          <a:xfrm>
            <a:off x="1024128" y="2350008"/>
            <a:ext cx="164592" cy="164592"/>
          </a:xfrm>
          <a:prstGeom prst="ellipse">
            <a:avLst/>
          </a:prstGeom>
          <a:solidFill>
            <a:srgbClr val="22C55E"/>
          </a:solidFill>
          <a:ln w="12700">
            <a:solidFill>
              <a:srgbClr val="22C55E"/>
            </a:solidFill>
            <a:prstDash val="solid"/>
          </a:ln>
        </p:spPr>
      </p:sp>
      <p:sp>
        <p:nvSpPr>
          <p:cNvPr id="13" name="Text 11"/>
          <p:cNvSpPr/>
          <p:nvPr/>
        </p:nvSpPr>
        <p:spPr>
          <a:xfrm>
            <a:off x="1058875" y="2361895"/>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14" name="Text 12"/>
          <p:cNvSpPr/>
          <p:nvPr/>
        </p:nvSpPr>
        <p:spPr>
          <a:xfrm>
            <a:off x="1298448" y="2318004"/>
            <a:ext cx="43891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Improved team co-location planning</a:t>
            </a:r>
            <a:endParaRPr lang="en-US" sz="880" dirty="0"/>
          </a:p>
        </p:txBody>
      </p:sp>
      <p:sp>
        <p:nvSpPr>
          <p:cNvPr id="15" name="Shape 13"/>
          <p:cNvSpPr/>
          <p:nvPr/>
        </p:nvSpPr>
        <p:spPr>
          <a:xfrm>
            <a:off x="1024128" y="2843784"/>
            <a:ext cx="164592" cy="164592"/>
          </a:xfrm>
          <a:prstGeom prst="ellipse">
            <a:avLst/>
          </a:prstGeom>
          <a:solidFill>
            <a:srgbClr val="22C55E"/>
          </a:solidFill>
          <a:ln w="12700">
            <a:solidFill>
              <a:srgbClr val="22C55E"/>
            </a:solidFill>
            <a:prstDash val="solid"/>
          </a:ln>
        </p:spPr>
      </p:sp>
      <p:sp>
        <p:nvSpPr>
          <p:cNvPr id="16" name="Text 14"/>
          <p:cNvSpPr/>
          <p:nvPr/>
        </p:nvSpPr>
        <p:spPr>
          <a:xfrm>
            <a:off x="1058875" y="2855671"/>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17" name="Text 15"/>
          <p:cNvSpPr/>
          <p:nvPr/>
        </p:nvSpPr>
        <p:spPr>
          <a:xfrm>
            <a:off x="1298448" y="2811780"/>
            <a:ext cx="43891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Release of unused booked seats when employees do not swipe in</a:t>
            </a:r>
            <a:endParaRPr lang="en-US" sz="880" dirty="0"/>
          </a:p>
        </p:txBody>
      </p:sp>
      <p:sp>
        <p:nvSpPr>
          <p:cNvPr id="18" name="Shape 16"/>
          <p:cNvSpPr/>
          <p:nvPr/>
        </p:nvSpPr>
        <p:spPr>
          <a:xfrm>
            <a:off x="1024128" y="3337560"/>
            <a:ext cx="164592" cy="164592"/>
          </a:xfrm>
          <a:prstGeom prst="ellipse">
            <a:avLst/>
          </a:prstGeom>
          <a:solidFill>
            <a:srgbClr val="22C55E"/>
          </a:solidFill>
          <a:ln w="12700">
            <a:solidFill>
              <a:srgbClr val="22C55E"/>
            </a:solidFill>
            <a:prstDash val="solid"/>
          </a:ln>
        </p:spPr>
      </p:sp>
      <p:sp>
        <p:nvSpPr>
          <p:cNvPr id="19" name="Text 17"/>
          <p:cNvSpPr/>
          <p:nvPr/>
        </p:nvSpPr>
        <p:spPr>
          <a:xfrm>
            <a:off x="1058875" y="3349447"/>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20" name="Text 18"/>
          <p:cNvSpPr/>
          <p:nvPr/>
        </p:nvSpPr>
        <p:spPr>
          <a:xfrm>
            <a:off x="1298448" y="3305556"/>
            <a:ext cx="43891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Better shift-based facility planning</a:t>
            </a:r>
            <a:endParaRPr lang="en-US" sz="880" dirty="0"/>
          </a:p>
        </p:txBody>
      </p:sp>
      <p:sp>
        <p:nvSpPr>
          <p:cNvPr id="21" name="Shape 19"/>
          <p:cNvSpPr/>
          <p:nvPr/>
        </p:nvSpPr>
        <p:spPr>
          <a:xfrm>
            <a:off x="1024128" y="3831336"/>
            <a:ext cx="164592" cy="164592"/>
          </a:xfrm>
          <a:prstGeom prst="ellipse">
            <a:avLst/>
          </a:prstGeom>
          <a:solidFill>
            <a:srgbClr val="22C55E"/>
          </a:solidFill>
          <a:ln w="12700">
            <a:solidFill>
              <a:srgbClr val="22C55E"/>
            </a:solidFill>
            <a:prstDash val="solid"/>
          </a:ln>
        </p:spPr>
      </p:sp>
      <p:sp>
        <p:nvSpPr>
          <p:cNvPr id="22" name="Text 20"/>
          <p:cNvSpPr/>
          <p:nvPr/>
        </p:nvSpPr>
        <p:spPr>
          <a:xfrm>
            <a:off x="1058875" y="3843223"/>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23" name="Text 21"/>
          <p:cNvSpPr/>
          <p:nvPr/>
        </p:nvSpPr>
        <p:spPr>
          <a:xfrm>
            <a:off x="1298448" y="3799332"/>
            <a:ext cx="43891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Reduced power, HVAC, pantry, and housekeeping inefficiencies</a:t>
            </a:r>
            <a:endParaRPr lang="en-US" sz="880" dirty="0"/>
          </a:p>
        </p:txBody>
      </p:sp>
      <p:sp>
        <p:nvSpPr>
          <p:cNvPr id="24" name="Shape 22"/>
          <p:cNvSpPr/>
          <p:nvPr/>
        </p:nvSpPr>
        <p:spPr>
          <a:xfrm>
            <a:off x="1024128" y="4325112"/>
            <a:ext cx="164592" cy="164592"/>
          </a:xfrm>
          <a:prstGeom prst="ellipse">
            <a:avLst/>
          </a:prstGeom>
          <a:solidFill>
            <a:srgbClr val="22C55E"/>
          </a:solidFill>
          <a:ln w="12700">
            <a:solidFill>
              <a:srgbClr val="22C55E"/>
            </a:solidFill>
            <a:prstDash val="solid"/>
          </a:ln>
        </p:spPr>
      </p:sp>
      <p:sp>
        <p:nvSpPr>
          <p:cNvPr id="25" name="Text 23"/>
          <p:cNvSpPr/>
          <p:nvPr/>
        </p:nvSpPr>
        <p:spPr>
          <a:xfrm>
            <a:off x="1058875" y="4336999"/>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26" name="Text 24"/>
          <p:cNvSpPr/>
          <p:nvPr/>
        </p:nvSpPr>
        <p:spPr>
          <a:xfrm>
            <a:off x="1298448" y="4293108"/>
            <a:ext cx="43891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Automated access violation validation workflow</a:t>
            </a:r>
            <a:endParaRPr lang="en-US" sz="880" dirty="0"/>
          </a:p>
        </p:txBody>
      </p:sp>
      <p:sp>
        <p:nvSpPr>
          <p:cNvPr id="27" name="Shape 25"/>
          <p:cNvSpPr/>
          <p:nvPr/>
        </p:nvSpPr>
        <p:spPr>
          <a:xfrm>
            <a:off x="1024128" y="4818888"/>
            <a:ext cx="164592" cy="164592"/>
          </a:xfrm>
          <a:prstGeom prst="ellipse">
            <a:avLst/>
          </a:prstGeom>
          <a:solidFill>
            <a:srgbClr val="22C55E"/>
          </a:solidFill>
          <a:ln w="12700">
            <a:solidFill>
              <a:srgbClr val="22C55E"/>
            </a:solidFill>
            <a:prstDash val="solid"/>
          </a:ln>
        </p:spPr>
      </p:sp>
      <p:sp>
        <p:nvSpPr>
          <p:cNvPr id="28" name="Text 26"/>
          <p:cNvSpPr/>
          <p:nvPr/>
        </p:nvSpPr>
        <p:spPr>
          <a:xfrm>
            <a:off x="1058875" y="4830775"/>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29" name="Text 27"/>
          <p:cNvSpPr/>
          <p:nvPr/>
        </p:nvSpPr>
        <p:spPr>
          <a:xfrm>
            <a:off x="1298448" y="4786884"/>
            <a:ext cx="43891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Data-driven seat allocation instead of static quota-based allocation</a:t>
            </a:r>
            <a:endParaRPr lang="en-US" sz="880" dirty="0"/>
          </a:p>
        </p:txBody>
      </p:sp>
      <p:sp>
        <p:nvSpPr>
          <p:cNvPr id="30" name="Shape 28"/>
          <p:cNvSpPr/>
          <p:nvPr/>
        </p:nvSpPr>
        <p:spPr>
          <a:xfrm>
            <a:off x="6199632" y="1115568"/>
            <a:ext cx="5166360" cy="4937760"/>
          </a:xfrm>
          <a:prstGeom prst="roundRect">
            <a:avLst>
              <a:gd name="adj" fmla="val 2222"/>
            </a:avLst>
          </a:prstGeom>
          <a:solidFill>
            <a:srgbClr val="ECFDF5"/>
          </a:solidFill>
          <a:ln w="8890">
            <a:solidFill>
              <a:srgbClr val="E2E8F0"/>
            </a:solidFill>
            <a:prstDash val="solid"/>
          </a:ln>
          <a:effectLst>
            <a:outerShdw blurRad="19050" dist="8890" dir="2700000" algn="bl" rotWithShape="0">
              <a:srgbClr val="000000">
                <a:alpha val="10000"/>
              </a:srgbClr>
            </a:outerShdw>
          </a:effectLst>
        </p:spPr>
      </p:sp>
      <p:sp>
        <p:nvSpPr>
          <p:cNvPr id="31" name="Text 29"/>
          <p:cNvSpPr/>
          <p:nvPr/>
        </p:nvSpPr>
        <p:spPr>
          <a:xfrm>
            <a:off x="6492240" y="1389888"/>
            <a:ext cx="3840480" cy="228600"/>
          </a:xfrm>
          <a:prstGeom prst="rect">
            <a:avLst/>
          </a:prstGeom>
          <a:noFill/>
          <a:ln/>
        </p:spPr>
        <p:txBody>
          <a:bodyPr wrap="square" lIns="0" tIns="0" rIns="0" bIns="0" rtlCol="0" anchor="ctr"/>
          <a:lstStyle/>
          <a:p>
            <a:pPr marL="0" indent="0">
              <a:buNone/>
            </a:pPr>
            <a:r>
              <a:rPr lang="en-US" sz="1500" b="1" dirty="0">
                <a:solidFill>
                  <a:srgbClr val="22C55E"/>
                </a:solidFill>
              </a:rPr>
              <a:t>Why expectations are met</a:t>
            </a:r>
            <a:endParaRPr lang="en-US" sz="1500" dirty="0"/>
          </a:p>
        </p:txBody>
      </p:sp>
      <p:sp>
        <p:nvSpPr>
          <p:cNvPr id="32" name="Shape 30"/>
          <p:cNvSpPr/>
          <p:nvPr/>
        </p:nvSpPr>
        <p:spPr>
          <a:xfrm>
            <a:off x="6510528" y="1869948"/>
            <a:ext cx="100584" cy="100584"/>
          </a:xfrm>
          <a:prstGeom prst="ellipse">
            <a:avLst/>
          </a:prstGeom>
          <a:solidFill>
            <a:srgbClr val="22C55E"/>
          </a:solidFill>
          <a:ln w="12700">
            <a:solidFill>
              <a:srgbClr val="22C55E"/>
            </a:solidFill>
            <a:prstDash val="solid"/>
          </a:ln>
        </p:spPr>
      </p:sp>
      <p:sp>
        <p:nvSpPr>
          <p:cNvPr id="33" name="Text 31"/>
          <p:cNvSpPr/>
          <p:nvPr/>
        </p:nvSpPr>
        <p:spPr>
          <a:xfrm>
            <a:off x="6693408" y="1828800"/>
            <a:ext cx="416052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QR creates desk-user mapping.</a:t>
            </a:r>
            <a:endParaRPr lang="en-US" sz="930" dirty="0"/>
          </a:p>
        </p:txBody>
      </p:sp>
      <p:sp>
        <p:nvSpPr>
          <p:cNvPr id="34" name="Shape 32"/>
          <p:cNvSpPr/>
          <p:nvPr/>
        </p:nvSpPr>
        <p:spPr>
          <a:xfrm>
            <a:off x="6510528" y="2391156"/>
            <a:ext cx="100584" cy="100584"/>
          </a:xfrm>
          <a:prstGeom prst="ellipse">
            <a:avLst/>
          </a:prstGeom>
          <a:solidFill>
            <a:srgbClr val="14B8A6"/>
          </a:solidFill>
          <a:ln w="12700">
            <a:solidFill>
              <a:srgbClr val="14B8A6"/>
            </a:solidFill>
            <a:prstDash val="solid"/>
          </a:ln>
        </p:spPr>
      </p:sp>
      <p:sp>
        <p:nvSpPr>
          <p:cNvPr id="35" name="Text 33"/>
          <p:cNvSpPr/>
          <p:nvPr/>
        </p:nvSpPr>
        <p:spPr>
          <a:xfrm>
            <a:off x="6693408" y="2350008"/>
            <a:ext cx="416052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Swipe-in and LAN signals validate actual presence.</a:t>
            </a:r>
            <a:endParaRPr lang="en-US" sz="930" dirty="0"/>
          </a:p>
        </p:txBody>
      </p:sp>
      <p:sp>
        <p:nvSpPr>
          <p:cNvPr id="36" name="Shape 34"/>
          <p:cNvSpPr/>
          <p:nvPr/>
        </p:nvSpPr>
        <p:spPr>
          <a:xfrm>
            <a:off x="6510528" y="2912364"/>
            <a:ext cx="100584" cy="100584"/>
          </a:xfrm>
          <a:prstGeom prst="ellipse">
            <a:avLst/>
          </a:prstGeom>
          <a:solidFill>
            <a:srgbClr val="22C55E"/>
          </a:solidFill>
          <a:ln w="12700">
            <a:solidFill>
              <a:srgbClr val="22C55E"/>
            </a:solidFill>
            <a:prstDash val="solid"/>
          </a:ln>
        </p:spPr>
      </p:sp>
      <p:sp>
        <p:nvSpPr>
          <p:cNvPr id="37" name="Text 35"/>
          <p:cNvSpPr/>
          <p:nvPr/>
        </p:nvSpPr>
        <p:spPr>
          <a:xfrm>
            <a:off x="6693408" y="2871216"/>
            <a:ext cx="416052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Calendar and reminder logic reduces false release.</a:t>
            </a:r>
            <a:endParaRPr lang="en-US" sz="930" dirty="0"/>
          </a:p>
        </p:txBody>
      </p:sp>
      <p:sp>
        <p:nvSpPr>
          <p:cNvPr id="38" name="Shape 36"/>
          <p:cNvSpPr/>
          <p:nvPr/>
        </p:nvSpPr>
        <p:spPr>
          <a:xfrm>
            <a:off x="6510528" y="3433572"/>
            <a:ext cx="100584" cy="100584"/>
          </a:xfrm>
          <a:prstGeom prst="ellipse">
            <a:avLst/>
          </a:prstGeom>
          <a:solidFill>
            <a:srgbClr val="14B8A6"/>
          </a:solidFill>
          <a:ln w="12700">
            <a:solidFill>
              <a:srgbClr val="14B8A6"/>
            </a:solidFill>
            <a:prstDash val="solid"/>
          </a:ln>
        </p:spPr>
      </p:sp>
      <p:sp>
        <p:nvSpPr>
          <p:cNvPr id="39" name="Text 37"/>
          <p:cNvSpPr/>
          <p:nvPr/>
        </p:nvSpPr>
        <p:spPr>
          <a:xfrm>
            <a:off x="6693408" y="3392424"/>
            <a:ext cx="416052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Dashboards expose utilization by zone/shift/team.</a:t>
            </a:r>
            <a:endParaRPr lang="en-US" sz="930" dirty="0"/>
          </a:p>
        </p:txBody>
      </p:sp>
      <p:sp>
        <p:nvSpPr>
          <p:cNvPr id="40" name="Shape 38"/>
          <p:cNvSpPr/>
          <p:nvPr/>
        </p:nvSpPr>
        <p:spPr>
          <a:xfrm>
            <a:off x="6510528" y="3954780"/>
            <a:ext cx="100584" cy="100584"/>
          </a:xfrm>
          <a:prstGeom prst="ellipse">
            <a:avLst/>
          </a:prstGeom>
          <a:solidFill>
            <a:srgbClr val="22C55E"/>
          </a:solidFill>
          <a:ln w="12700">
            <a:solidFill>
              <a:srgbClr val="22C55E"/>
            </a:solidFill>
            <a:prstDash val="solid"/>
          </a:ln>
        </p:spPr>
      </p:sp>
      <p:sp>
        <p:nvSpPr>
          <p:cNvPr id="41" name="Text 39"/>
          <p:cNvSpPr/>
          <p:nvPr/>
        </p:nvSpPr>
        <p:spPr>
          <a:xfrm>
            <a:off x="6693408" y="3913632"/>
            <a:ext cx="416052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Manager approval workflow handles access exceptions.</a:t>
            </a:r>
            <a:endParaRPr lang="en-US" sz="930" dirty="0"/>
          </a:p>
        </p:txBody>
      </p:sp>
      <p:sp>
        <p:nvSpPr>
          <p:cNvPr id="42" name="Shape 40"/>
          <p:cNvSpPr/>
          <p:nvPr/>
        </p:nvSpPr>
        <p:spPr>
          <a:xfrm>
            <a:off x="6510528" y="4475988"/>
            <a:ext cx="100584" cy="100584"/>
          </a:xfrm>
          <a:prstGeom prst="ellipse">
            <a:avLst/>
          </a:prstGeom>
          <a:solidFill>
            <a:srgbClr val="14B8A6"/>
          </a:solidFill>
          <a:ln w="12700">
            <a:solidFill>
              <a:srgbClr val="14B8A6"/>
            </a:solidFill>
            <a:prstDash val="solid"/>
          </a:ln>
        </p:spPr>
      </p:sp>
      <p:sp>
        <p:nvSpPr>
          <p:cNvPr id="43" name="Text 41"/>
          <p:cNvSpPr/>
          <p:nvPr/>
        </p:nvSpPr>
        <p:spPr>
          <a:xfrm>
            <a:off x="6693408" y="4434840"/>
            <a:ext cx="416052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Historical analytics enable allocation policy changes.</a:t>
            </a:r>
            <a:endParaRPr lang="en-US" sz="930" dirty="0"/>
          </a:p>
        </p:txBody>
      </p:sp>
      <p:sp>
        <p:nvSpPr>
          <p:cNvPr id="44"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66928" y="301752"/>
            <a:ext cx="8412480" cy="384048"/>
          </a:xfrm>
          <a:prstGeom prst="rect">
            <a:avLst/>
          </a:prstGeom>
          <a:noFill/>
          <a:ln/>
        </p:spPr>
        <p:txBody>
          <a:bodyPr wrap="square" lIns="0" tIns="0" rIns="0" bIns="0"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Suggested features coverage</a:t>
            </a:r>
            <a:endParaRPr lang="en-US" sz="2300" dirty="0"/>
          </a:p>
        </p:txBody>
      </p:sp>
      <p:sp>
        <p:nvSpPr>
          <p:cNvPr id="4" name="Text 2"/>
          <p:cNvSpPr/>
          <p:nvPr/>
        </p:nvSpPr>
        <p:spPr>
          <a:xfrm>
            <a:off x="594360" y="749808"/>
            <a:ext cx="8138160" cy="237744"/>
          </a:xfrm>
          <a:prstGeom prst="rect">
            <a:avLst/>
          </a:prstGeom>
          <a:noFill/>
          <a:ln/>
        </p:spPr>
        <p:txBody>
          <a:bodyPr wrap="square" lIns="0" tIns="0" rIns="0" bIns="0" rtlCol="0" anchor="ctr"/>
          <a:lstStyle/>
          <a:p>
            <a:pPr marL="0" indent="0">
              <a:buNone/>
            </a:pPr>
            <a:r>
              <a:rPr lang="en-US" sz="980" dirty="0">
                <a:solidFill>
                  <a:srgbClr val="64748B"/>
                </a:solidFill>
              </a:rPr>
              <a:t>All suggested features are incorporated, with a few recommended MVP priorities.</a:t>
            </a:r>
            <a:endParaRPr lang="en-US" sz="980" dirty="0"/>
          </a:p>
        </p:txBody>
      </p:sp>
      <p:sp>
        <p:nvSpPr>
          <p:cNvPr id="5" name="Shape 3"/>
          <p:cNvSpPr/>
          <p:nvPr/>
        </p:nvSpPr>
        <p:spPr>
          <a:xfrm>
            <a:off x="10927080" y="256032"/>
            <a:ext cx="658368" cy="658368"/>
          </a:xfrm>
          <a:prstGeom prst="arc">
            <a:avLst/>
          </a:prstGeom>
          <a:noFill/>
          <a:ln w="27940">
            <a:solidFill>
              <a:srgbClr val="14B8A6"/>
            </a:solidFill>
            <a:prstDash val="solid"/>
            <a:headEnd type="none"/>
            <a:tailEnd type="none"/>
          </a:ln>
        </p:spPr>
      </p:sp>
      <p:sp>
        <p:nvSpPr>
          <p:cNvPr id="6" name="Shape 4"/>
          <p:cNvSpPr/>
          <p:nvPr/>
        </p:nvSpPr>
        <p:spPr>
          <a:xfrm>
            <a:off x="11119104" y="429768"/>
            <a:ext cx="640080" cy="640080"/>
          </a:xfrm>
          <a:prstGeom prst="arc">
            <a:avLst/>
          </a:prstGeom>
          <a:noFill/>
          <a:ln w="27940">
            <a:solidFill>
              <a:srgbClr val="2563EB"/>
            </a:solidFill>
            <a:prstDash val="solid"/>
          </a:ln>
        </p:spPr>
      </p:sp>
      <p:sp>
        <p:nvSpPr>
          <p:cNvPr id="7" name="Shape 5"/>
          <p:cNvSpPr/>
          <p:nvPr/>
        </p:nvSpPr>
        <p:spPr>
          <a:xfrm>
            <a:off x="694944" y="1170432"/>
            <a:ext cx="5486400" cy="4892040"/>
          </a:xfrm>
          <a:prstGeom prst="roundRect">
            <a:avLst>
              <a:gd name="adj" fmla="val 2243"/>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8" name="Text 6"/>
          <p:cNvSpPr/>
          <p:nvPr/>
        </p:nvSpPr>
        <p:spPr>
          <a:xfrm>
            <a:off x="960120" y="1426464"/>
            <a:ext cx="4114800" cy="228600"/>
          </a:xfrm>
          <a:prstGeom prst="rect">
            <a:avLst/>
          </a:prstGeom>
          <a:noFill/>
          <a:ln/>
        </p:spPr>
        <p:txBody>
          <a:bodyPr wrap="square" lIns="0" tIns="0" rIns="0" bIns="0" rtlCol="0" anchor="ctr"/>
          <a:lstStyle/>
          <a:p>
            <a:pPr marL="0" indent="0">
              <a:buNone/>
            </a:pPr>
            <a:r>
              <a:rPr lang="en-US" sz="1500" b="1" dirty="0">
                <a:solidFill>
                  <a:srgbClr val="0F172A"/>
                </a:solidFill>
              </a:rPr>
              <a:t>Feature incorporation checklist</a:t>
            </a:r>
            <a:endParaRPr lang="en-US" sz="1500" dirty="0"/>
          </a:p>
        </p:txBody>
      </p:sp>
      <p:sp>
        <p:nvSpPr>
          <p:cNvPr id="9" name="Shape 7"/>
          <p:cNvSpPr/>
          <p:nvPr/>
        </p:nvSpPr>
        <p:spPr>
          <a:xfrm>
            <a:off x="987552" y="1856232"/>
            <a:ext cx="164592" cy="164592"/>
          </a:xfrm>
          <a:prstGeom prst="ellipse">
            <a:avLst/>
          </a:prstGeom>
          <a:solidFill>
            <a:srgbClr val="22C55E"/>
          </a:solidFill>
          <a:ln w="12700">
            <a:solidFill>
              <a:srgbClr val="22C55E"/>
            </a:solidFill>
            <a:prstDash val="solid"/>
          </a:ln>
        </p:spPr>
      </p:sp>
      <p:sp>
        <p:nvSpPr>
          <p:cNvPr id="10" name="Text 8"/>
          <p:cNvSpPr/>
          <p:nvPr/>
        </p:nvSpPr>
        <p:spPr>
          <a:xfrm>
            <a:off x="1022299" y="1868119"/>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11" name="Text 9"/>
          <p:cNvSpPr/>
          <p:nvPr/>
        </p:nvSpPr>
        <p:spPr>
          <a:xfrm>
            <a:off x="1261872" y="1824228"/>
            <a:ext cx="397764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Floor/wing/zone-wise seat availability dashboard</a:t>
            </a:r>
            <a:endParaRPr lang="en-US" sz="880" dirty="0"/>
          </a:p>
        </p:txBody>
      </p:sp>
      <p:sp>
        <p:nvSpPr>
          <p:cNvPr id="12" name="Shape 10"/>
          <p:cNvSpPr/>
          <p:nvPr/>
        </p:nvSpPr>
        <p:spPr>
          <a:xfrm>
            <a:off x="4709160" y="1773936"/>
            <a:ext cx="786384" cy="292608"/>
          </a:xfrm>
          <a:prstGeom prst="roundRect">
            <a:avLst>
              <a:gd name="adj" fmla="val 25000"/>
            </a:avLst>
          </a:prstGeom>
          <a:solidFill>
            <a:srgbClr val="2563EB"/>
          </a:solidFill>
          <a:ln w="12700">
            <a:solidFill>
              <a:srgbClr val="2563EB"/>
            </a:solidFill>
            <a:prstDash val="solid"/>
          </a:ln>
          <a:effectLst>
            <a:outerShdw blurRad="12700" dist="6350" dir="2700000" algn="bl" rotWithShape="0">
              <a:srgbClr val="000000">
                <a:alpha val="10000"/>
              </a:srgbClr>
            </a:outerShdw>
          </a:effectLst>
        </p:spPr>
      </p:sp>
      <p:sp>
        <p:nvSpPr>
          <p:cNvPr id="13" name="Text 11"/>
          <p:cNvSpPr/>
          <p:nvPr/>
        </p:nvSpPr>
        <p:spPr>
          <a:xfrm>
            <a:off x="4800600" y="1842516"/>
            <a:ext cx="603504" cy="109728"/>
          </a:xfrm>
          <a:prstGeom prst="rect">
            <a:avLst/>
          </a:prstGeom>
          <a:noFill/>
          <a:ln/>
        </p:spPr>
        <p:txBody>
          <a:bodyPr wrap="square" lIns="0" tIns="0" rIns="0" bIns="0" rtlCol="0" anchor="ctr"/>
          <a:lstStyle/>
          <a:p>
            <a:pPr marL="0" indent="0" algn="ctr">
              <a:buNone/>
            </a:pPr>
            <a:r>
              <a:rPr lang="en-US" sz="750" b="1" dirty="0">
                <a:solidFill>
                  <a:srgbClr val="FFFFFF"/>
                </a:solidFill>
              </a:rPr>
              <a:t>MVP</a:t>
            </a:r>
            <a:endParaRPr lang="en-US" sz="750" dirty="0"/>
          </a:p>
        </p:txBody>
      </p:sp>
      <p:sp>
        <p:nvSpPr>
          <p:cNvPr id="14" name="Shape 12"/>
          <p:cNvSpPr/>
          <p:nvPr/>
        </p:nvSpPr>
        <p:spPr>
          <a:xfrm>
            <a:off x="987552" y="2276856"/>
            <a:ext cx="164592" cy="164592"/>
          </a:xfrm>
          <a:prstGeom prst="ellipse">
            <a:avLst/>
          </a:prstGeom>
          <a:solidFill>
            <a:srgbClr val="22C55E"/>
          </a:solidFill>
          <a:ln w="12700">
            <a:solidFill>
              <a:srgbClr val="22C55E"/>
            </a:solidFill>
            <a:prstDash val="solid"/>
          </a:ln>
        </p:spPr>
      </p:sp>
      <p:sp>
        <p:nvSpPr>
          <p:cNvPr id="15" name="Text 13"/>
          <p:cNvSpPr/>
          <p:nvPr/>
        </p:nvSpPr>
        <p:spPr>
          <a:xfrm>
            <a:off x="1022299" y="2288743"/>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16" name="Text 14"/>
          <p:cNvSpPr/>
          <p:nvPr/>
        </p:nvSpPr>
        <p:spPr>
          <a:xfrm>
            <a:off x="1261872" y="2244852"/>
            <a:ext cx="397764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Manager seat allocation view</a:t>
            </a:r>
            <a:endParaRPr lang="en-US" sz="880" dirty="0"/>
          </a:p>
        </p:txBody>
      </p:sp>
      <p:sp>
        <p:nvSpPr>
          <p:cNvPr id="17" name="Shape 15"/>
          <p:cNvSpPr/>
          <p:nvPr/>
        </p:nvSpPr>
        <p:spPr>
          <a:xfrm>
            <a:off x="4709160" y="2194560"/>
            <a:ext cx="786384" cy="292608"/>
          </a:xfrm>
          <a:prstGeom prst="roundRect">
            <a:avLst>
              <a:gd name="adj" fmla="val 25000"/>
            </a:avLst>
          </a:prstGeom>
          <a:solidFill>
            <a:srgbClr val="2563EB"/>
          </a:solidFill>
          <a:ln w="12700">
            <a:solidFill>
              <a:srgbClr val="2563EB"/>
            </a:solidFill>
            <a:prstDash val="solid"/>
          </a:ln>
          <a:effectLst>
            <a:outerShdw blurRad="12700" dist="6350" dir="2700000" algn="bl" rotWithShape="0">
              <a:srgbClr val="000000">
                <a:alpha val="10000"/>
              </a:srgbClr>
            </a:outerShdw>
          </a:effectLst>
        </p:spPr>
      </p:sp>
      <p:sp>
        <p:nvSpPr>
          <p:cNvPr id="18" name="Text 16"/>
          <p:cNvSpPr/>
          <p:nvPr/>
        </p:nvSpPr>
        <p:spPr>
          <a:xfrm>
            <a:off x="4800600" y="2263140"/>
            <a:ext cx="603504" cy="109728"/>
          </a:xfrm>
          <a:prstGeom prst="rect">
            <a:avLst/>
          </a:prstGeom>
          <a:noFill/>
          <a:ln/>
        </p:spPr>
        <p:txBody>
          <a:bodyPr wrap="square" lIns="0" tIns="0" rIns="0" bIns="0" rtlCol="0" anchor="ctr"/>
          <a:lstStyle/>
          <a:p>
            <a:pPr marL="0" indent="0" algn="ctr">
              <a:buNone/>
            </a:pPr>
            <a:r>
              <a:rPr lang="en-US" sz="750" b="1" dirty="0">
                <a:solidFill>
                  <a:srgbClr val="FFFFFF"/>
                </a:solidFill>
              </a:rPr>
              <a:t>MVP</a:t>
            </a:r>
            <a:endParaRPr lang="en-US" sz="750" dirty="0"/>
          </a:p>
        </p:txBody>
      </p:sp>
      <p:sp>
        <p:nvSpPr>
          <p:cNvPr id="19" name="Shape 17"/>
          <p:cNvSpPr/>
          <p:nvPr/>
        </p:nvSpPr>
        <p:spPr>
          <a:xfrm>
            <a:off x="987552" y="2697480"/>
            <a:ext cx="164592" cy="164592"/>
          </a:xfrm>
          <a:prstGeom prst="ellipse">
            <a:avLst/>
          </a:prstGeom>
          <a:solidFill>
            <a:srgbClr val="22C55E"/>
          </a:solidFill>
          <a:ln w="12700">
            <a:solidFill>
              <a:srgbClr val="22C55E"/>
            </a:solidFill>
            <a:prstDash val="solid"/>
          </a:ln>
        </p:spPr>
      </p:sp>
      <p:sp>
        <p:nvSpPr>
          <p:cNvPr id="20" name="Text 18"/>
          <p:cNvSpPr/>
          <p:nvPr/>
        </p:nvSpPr>
        <p:spPr>
          <a:xfrm>
            <a:off x="1022299" y="2709367"/>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21" name="Text 19"/>
          <p:cNvSpPr/>
          <p:nvPr/>
        </p:nvSpPr>
        <p:spPr>
          <a:xfrm>
            <a:off x="1261872" y="2665476"/>
            <a:ext cx="397764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Employee hot seat booking</a:t>
            </a:r>
            <a:endParaRPr lang="en-US" sz="880" dirty="0"/>
          </a:p>
        </p:txBody>
      </p:sp>
      <p:sp>
        <p:nvSpPr>
          <p:cNvPr id="22" name="Shape 20"/>
          <p:cNvSpPr/>
          <p:nvPr/>
        </p:nvSpPr>
        <p:spPr>
          <a:xfrm>
            <a:off x="4709160" y="2615184"/>
            <a:ext cx="786384" cy="292608"/>
          </a:xfrm>
          <a:prstGeom prst="roundRect">
            <a:avLst>
              <a:gd name="adj" fmla="val 25000"/>
            </a:avLst>
          </a:prstGeom>
          <a:solidFill>
            <a:srgbClr val="2563EB"/>
          </a:solidFill>
          <a:ln w="12700">
            <a:solidFill>
              <a:srgbClr val="2563EB"/>
            </a:solidFill>
            <a:prstDash val="solid"/>
          </a:ln>
          <a:effectLst>
            <a:outerShdw blurRad="12700" dist="6350" dir="2700000" algn="bl" rotWithShape="0">
              <a:srgbClr val="000000">
                <a:alpha val="10000"/>
              </a:srgbClr>
            </a:outerShdw>
          </a:effectLst>
        </p:spPr>
      </p:sp>
      <p:sp>
        <p:nvSpPr>
          <p:cNvPr id="23" name="Text 21"/>
          <p:cNvSpPr/>
          <p:nvPr/>
        </p:nvSpPr>
        <p:spPr>
          <a:xfrm>
            <a:off x="4800600" y="2683764"/>
            <a:ext cx="603504" cy="109728"/>
          </a:xfrm>
          <a:prstGeom prst="rect">
            <a:avLst/>
          </a:prstGeom>
          <a:noFill/>
          <a:ln/>
        </p:spPr>
        <p:txBody>
          <a:bodyPr wrap="square" lIns="0" tIns="0" rIns="0" bIns="0" rtlCol="0" anchor="ctr"/>
          <a:lstStyle/>
          <a:p>
            <a:pPr marL="0" indent="0" algn="ctr">
              <a:buNone/>
            </a:pPr>
            <a:r>
              <a:rPr lang="en-US" sz="750" b="1" dirty="0">
                <a:solidFill>
                  <a:srgbClr val="FFFFFF"/>
                </a:solidFill>
              </a:rPr>
              <a:t>MVP</a:t>
            </a:r>
            <a:endParaRPr lang="en-US" sz="750" dirty="0"/>
          </a:p>
        </p:txBody>
      </p:sp>
      <p:sp>
        <p:nvSpPr>
          <p:cNvPr id="24" name="Shape 22"/>
          <p:cNvSpPr/>
          <p:nvPr/>
        </p:nvSpPr>
        <p:spPr>
          <a:xfrm>
            <a:off x="987552" y="3118104"/>
            <a:ext cx="164592" cy="164592"/>
          </a:xfrm>
          <a:prstGeom prst="ellipse">
            <a:avLst/>
          </a:prstGeom>
          <a:solidFill>
            <a:srgbClr val="22C55E"/>
          </a:solidFill>
          <a:ln w="12700">
            <a:solidFill>
              <a:srgbClr val="22C55E"/>
            </a:solidFill>
            <a:prstDash val="solid"/>
          </a:ln>
        </p:spPr>
      </p:sp>
      <p:sp>
        <p:nvSpPr>
          <p:cNvPr id="25" name="Text 23"/>
          <p:cNvSpPr/>
          <p:nvPr/>
        </p:nvSpPr>
        <p:spPr>
          <a:xfrm>
            <a:off x="1022299" y="3129991"/>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26" name="Text 24"/>
          <p:cNvSpPr/>
          <p:nvPr/>
        </p:nvSpPr>
        <p:spPr>
          <a:xfrm>
            <a:off x="1261872" y="3086100"/>
            <a:ext cx="397764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Seat numbering/layout view</a:t>
            </a:r>
            <a:endParaRPr lang="en-US" sz="880" dirty="0"/>
          </a:p>
        </p:txBody>
      </p:sp>
      <p:sp>
        <p:nvSpPr>
          <p:cNvPr id="27" name="Shape 25"/>
          <p:cNvSpPr/>
          <p:nvPr/>
        </p:nvSpPr>
        <p:spPr>
          <a:xfrm>
            <a:off x="4709160" y="3035808"/>
            <a:ext cx="786384" cy="292608"/>
          </a:xfrm>
          <a:prstGeom prst="roundRect">
            <a:avLst>
              <a:gd name="adj" fmla="val 25000"/>
            </a:avLst>
          </a:prstGeom>
          <a:solidFill>
            <a:srgbClr val="2563EB"/>
          </a:solidFill>
          <a:ln w="12700">
            <a:solidFill>
              <a:srgbClr val="2563EB"/>
            </a:solidFill>
            <a:prstDash val="solid"/>
          </a:ln>
          <a:effectLst>
            <a:outerShdw blurRad="12700" dist="6350" dir="2700000" algn="bl" rotWithShape="0">
              <a:srgbClr val="000000">
                <a:alpha val="10000"/>
              </a:srgbClr>
            </a:outerShdw>
          </a:effectLst>
        </p:spPr>
      </p:sp>
      <p:sp>
        <p:nvSpPr>
          <p:cNvPr id="28" name="Text 26"/>
          <p:cNvSpPr/>
          <p:nvPr/>
        </p:nvSpPr>
        <p:spPr>
          <a:xfrm>
            <a:off x="4800600" y="3104388"/>
            <a:ext cx="603504" cy="109728"/>
          </a:xfrm>
          <a:prstGeom prst="rect">
            <a:avLst/>
          </a:prstGeom>
          <a:noFill/>
          <a:ln/>
        </p:spPr>
        <p:txBody>
          <a:bodyPr wrap="square" lIns="0" tIns="0" rIns="0" bIns="0" rtlCol="0" anchor="ctr"/>
          <a:lstStyle/>
          <a:p>
            <a:pPr marL="0" indent="0" algn="ctr">
              <a:buNone/>
            </a:pPr>
            <a:r>
              <a:rPr lang="en-US" sz="750" b="1" dirty="0">
                <a:solidFill>
                  <a:srgbClr val="FFFFFF"/>
                </a:solidFill>
              </a:rPr>
              <a:t>MVP</a:t>
            </a:r>
            <a:endParaRPr lang="en-US" sz="750" dirty="0"/>
          </a:p>
        </p:txBody>
      </p:sp>
      <p:sp>
        <p:nvSpPr>
          <p:cNvPr id="29" name="Shape 27"/>
          <p:cNvSpPr/>
          <p:nvPr/>
        </p:nvSpPr>
        <p:spPr>
          <a:xfrm>
            <a:off x="987552" y="3538728"/>
            <a:ext cx="164592" cy="164592"/>
          </a:xfrm>
          <a:prstGeom prst="ellipse">
            <a:avLst/>
          </a:prstGeom>
          <a:solidFill>
            <a:srgbClr val="22C55E"/>
          </a:solidFill>
          <a:ln w="12700">
            <a:solidFill>
              <a:srgbClr val="22C55E"/>
            </a:solidFill>
            <a:prstDash val="solid"/>
          </a:ln>
        </p:spPr>
      </p:sp>
      <p:sp>
        <p:nvSpPr>
          <p:cNvPr id="30" name="Text 28"/>
          <p:cNvSpPr/>
          <p:nvPr/>
        </p:nvSpPr>
        <p:spPr>
          <a:xfrm>
            <a:off x="1022299" y="3550615"/>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31" name="Text 29"/>
          <p:cNvSpPr/>
          <p:nvPr/>
        </p:nvSpPr>
        <p:spPr>
          <a:xfrm>
            <a:off x="1261872" y="3506724"/>
            <a:ext cx="397764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Swipe-in validation against seat booking</a:t>
            </a:r>
            <a:endParaRPr lang="en-US" sz="880" dirty="0"/>
          </a:p>
        </p:txBody>
      </p:sp>
      <p:sp>
        <p:nvSpPr>
          <p:cNvPr id="32" name="Shape 30"/>
          <p:cNvSpPr/>
          <p:nvPr/>
        </p:nvSpPr>
        <p:spPr>
          <a:xfrm>
            <a:off x="4709160" y="3456432"/>
            <a:ext cx="786384" cy="292608"/>
          </a:xfrm>
          <a:prstGeom prst="roundRect">
            <a:avLst>
              <a:gd name="adj" fmla="val 25000"/>
            </a:avLst>
          </a:prstGeom>
          <a:solidFill>
            <a:srgbClr val="2563EB"/>
          </a:solidFill>
          <a:ln w="12700">
            <a:solidFill>
              <a:srgbClr val="2563EB"/>
            </a:solidFill>
            <a:prstDash val="solid"/>
          </a:ln>
          <a:effectLst>
            <a:outerShdw blurRad="12700" dist="6350" dir="2700000" algn="bl" rotWithShape="0">
              <a:srgbClr val="000000">
                <a:alpha val="10000"/>
              </a:srgbClr>
            </a:outerShdw>
          </a:effectLst>
        </p:spPr>
      </p:sp>
      <p:sp>
        <p:nvSpPr>
          <p:cNvPr id="33" name="Text 31"/>
          <p:cNvSpPr/>
          <p:nvPr/>
        </p:nvSpPr>
        <p:spPr>
          <a:xfrm>
            <a:off x="4800600" y="3525012"/>
            <a:ext cx="603504" cy="109728"/>
          </a:xfrm>
          <a:prstGeom prst="rect">
            <a:avLst/>
          </a:prstGeom>
          <a:noFill/>
          <a:ln/>
        </p:spPr>
        <p:txBody>
          <a:bodyPr wrap="square" lIns="0" tIns="0" rIns="0" bIns="0" rtlCol="0" anchor="ctr"/>
          <a:lstStyle/>
          <a:p>
            <a:pPr marL="0" indent="0" algn="ctr">
              <a:buNone/>
            </a:pPr>
            <a:r>
              <a:rPr lang="en-US" sz="750" b="1" dirty="0">
                <a:solidFill>
                  <a:srgbClr val="FFFFFF"/>
                </a:solidFill>
              </a:rPr>
              <a:t>MVP</a:t>
            </a:r>
            <a:endParaRPr lang="en-US" sz="750" dirty="0"/>
          </a:p>
        </p:txBody>
      </p:sp>
      <p:sp>
        <p:nvSpPr>
          <p:cNvPr id="34" name="Shape 32"/>
          <p:cNvSpPr/>
          <p:nvPr/>
        </p:nvSpPr>
        <p:spPr>
          <a:xfrm>
            <a:off x="987552" y="3959352"/>
            <a:ext cx="164592" cy="164592"/>
          </a:xfrm>
          <a:prstGeom prst="ellipse">
            <a:avLst/>
          </a:prstGeom>
          <a:solidFill>
            <a:srgbClr val="22C55E"/>
          </a:solidFill>
          <a:ln w="12700">
            <a:solidFill>
              <a:srgbClr val="22C55E"/>
            </a:solidFill>
            <a:prstDash val="solid"/>
          </a:ln>
        </p:spPr>
      </p:sp>
      <p:sp>
        <p:nvSpPr>
          <p:cNvPr id="35" name="Text 33"/>
          <p:cNvSpPr/>
          <p:nvPr/>
        </p:nvSpPr>
        <p:spPr>
          <a:xfrm>
            <a:off x="1022299" y="3971239"/>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36" name="Text 34"/>
          <p:cNvSpPr/>
          <p:nvPr/>
        </p:nvSpPr>
        <p:spPr>
          <a:xfrm>
            <a:off x="1261872" y="3927348"/>
            <a:ext cx="397764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Shift pattern identification</a:t>
            </a:r>
            <a:endParaRPr lang="en-US" sz="880" dirty="0"/>
          </a:p>
        </p:txBody>
      </p:sp>
      <p:sp>
        <p:nvSpPr>
          <p:cNvPr id="37" name="Shape 35"/>
          <p:cNvSpPr/>
          <p:nvPr/>
        </p:nvSpPr>
        <p:spPr>
          <a:xfrm>
            <a:off x="4709160" y="3877056"/>
            <a:ext cx="786384" cy="292608"/>
          </a:xfrm>
          <a:prstGeom prst="roundRect">
            <a:avLst>
              <a:gd name="adj" fmla="val 25000"/>
            </a:avLst>
          </a:prstGeom>
          <a:solidFill>
            <a:srgbClr val="8B5CF6"/>
          </a:solidFill>
          <a:ln w="12700">
            <a:solidFill>
              <a:srgbClr val="8B5CF6"/>
            </a:solidFill>
            <a:prstDash val="solid"/>
          </a:ln>
          <a:effectLst>
            <a:outerShdw blurRad="12700" dist="6350" dir="2700000" algn="bl" rotWithShape="0">
              <a:srgbClr val="000000">
                <a:alpha val="10000"/>
              </a:srgbClr>
            </a:outerShdw>
          </a:effectLst>
        </p:spPr>
      </p:sp>
      <p:sp>
        <p:nvSpPr>
          <p:cNvPr id="38" name="Text 36"/>
          <p:cNvSpPr/>
          <p:nvPr/>
        </p:nvSpPr>
        <p:spPr>
          <a:xfrm>
            <a:off x="4800600" y="3945636"/>
            <a:ext cx="603504" cy="109728"/>
          </a:xfrm>
          <a:prstGeom prst="rect">
            <a:avLst/>
          </a:prstGeom>
          <a:noFill/>
          <a:ln/>
        </p:spPr>
        <p:txBody>
          <a:bodyPr wrap="square" lIns="0" tIns="0" rIns="0" bIns="0" rtlCol="0" anchor="ctr"/>
          <a:lstStyle/>
          <a:p>
            <a:pPr marL="0" indent="0" algn="ctr">
              <a:buNone/>
            </a:pPr>
            <a:r>
              <a:rPr lang="en-US" sz="750" b="1" dirty="0">
                <a:solidFill>
                  <a:srgbClr val="FFFFFF"/>
                </a:solidFill>
              </a:rPr>
              <a:t>Phase 2</a:t>
            </a:r>
            <a:endParaRPr lang="en-US" sz="750" dirty="0"/>
          </a:p>
        </p:txBody>
      </p:sp>
      <p:sp>
        <p:nvSpPr>
          <p:cNvPr id="39" name="Shape 37"/>
          <p:cNvSpPr/>
          <p:nvPr/>
        </p:nvSpPr>
        <p:spPr>
          <a:xfrm>
            <a:off x="987552" y="4379976"/>
            <a:ext cx="164592" cy="164592"/>
          </a:xfrm>
          <a:prstGeom prst="ellipse">
            <a:avLst/>
          </a:prstGeom>
          <a:solidFill>
            <a:srgbClr val="22C55E"/>
          </a:solidFill>
          <a:ln w="12700">
            <a:solidFill>
              <a:srgbClr val="22C55E"/>
            </a:solidFill>
            <a:prstDash val="solid"/>
          </a:ln>
        </p:spPr>
      </p:sp>
      <p:sp>
        <p:nvSpPr>
          <p:cNvPr id="40" name="Text 38"/>
          <p:cNvSpPr/>
          <p:nvPr/>
        </p:nvSpPr>
        <p:spPr>
          <a:xfrm>
            <a:off x="1022299" y="4391863"/>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41" name="Text 39"/>
          <p:cNvSpPr/>
          <p:nvPr/>
        </p:nvSpPr>
        <p:spPr>
          <a:xfrm>
            <a:off x="1261872" y="4347972"/>
            <a:ext cx="397764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Access violation notification and manager approval</a:t>
            </a:r>
            <a:endParaRPr lang="en-US" sz="880" dirty="0"/>
          </a:p>
        </p:txBody>
      </p:sp>
      <p:sp>
        <p:nvSpPr>
          <p:cNvPr id="42" name="Shape 40"/>
          <p:cNvSpPr/>
          <p:nvPr/>
        </p:nvSpPr>
        <p:spPr>
          <a:xfrm>
            <a:off x="4709160" y="4297680"/>
            <a:ext cx="786384" cy="292608"/>
          </a:xfrm>
          <a:prstGeom prst="roundRect">
            <a:avLst>
              <a:gd name="adj" fmla="val 25000"/>
            </a:avLst>
          </a:prstGeom>
          <a:solidFill>
            <a:srgbClr val="2563EB"/>
          </a:solidFill>
          <a:ln w="12700">
            <a:solidFill>
              <a:srgbClr val="2563EB"/>
            </a:solidFill>
            <a:prstDash val="solid"/>
          </a:ln>
          <a:effectLst>
            <a:outerShdw blurRad="12700" dist="6350" dir="2700000" algn="bl" rotWithShape="0">
              <a:srgbClr val="000000">
                <a:alpha val="10000"/>
              </a:srgbClr>
            </a:outerShdw>
          </a:effectLst>
        </p:spPr>
      </p:sp>
      <p:sp>
        <p:nvSpPr>
          <p:cNvPr id="43" name="Text 41"/>
          <p:cNvSpPr/>
          <p:nvPr/>
        </p:nvSpPr>
        <p:spPr>
          <a:xfrm>
            <a:off x="4800600" y="4366260"/>
            <a:ext cx="603504" cy="109728"/>
          </a:xfrm>
          <a:prstGeom prst="rect">
            <a:avLst/>
          </a:prstGeom>
          <a:noFill/>
          <a:ln/>
        </p:spPr>
        <p:txBody>
          <a:bodyPr wrap="square" lIns="0" tIns="0" rIns="0" bIns="0" rtlCol="0" anchor="ctr"/>
          <a:lstStyle/>
          <a:p>
            <a:pPr marL="0" indent="0" algn="ctr">
              <a:buNone/>
            </a:pPr>
            <a:r>
              <a:rPr lang="en-US" sz="750" b="1" dirty="0">
                <a:solidFill>
                  <a:srgbClr val="FFFFFF"/>
                </a:solidFill>
              </a:rPr>
              <a:t>MVP</a:t>
            </a:r>
            <a:endParaRPr lang="en-US" sz="750" dirty="0"/>
          </a:p>
        </p:txBody>
      </p:sp>
      <p:sp>
        <p:nvSpPr>
          <p:cNvPr id="44" name="Shape 42"/>
          <p:cNvSpPr/>
          <p:nvPr/>
        </p:nvSpPr>
        <p:spPr>
          <a:xfrm>
            <a:off x="987552" y="4800600"/>
            <a:ext cx="164592" cy="164592"/>
          </a:xfrm>
          <a:prstGeom prst="ellipse">
            <a:avLst/>
          </a:prstGeom>
          <a:solidFill>
            <a:srgbClr val="22C55E"/>
          </a:solidFill>
          <a:ln w="12700">
            <a:solidFill>
              <a:srgbClr val="22C55E"/>
            </a:solidFill>
            <a:prstDash val="solid"/>
          </a:ln>
        </p:spPr>
      </p:sp>
      <p:sp>
        <p:nvSpPr>
          <p:cNvPr id="45" name="Text 43"/>
          <p:cNvSpPr/>
          <p:nvPr/>
        </p:nvSpPr>
        <p:spPr>
          <a:xfrm>
            <a:off x="1022299" y="4812487"/>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46" name="Text 44"/>
          <p:cNvSpPr/>
          <p:nvPr/>
        </p:nvSpPr>
        <p:spPr>
          <a:xfrm>
            <a:off x="1261872" y="4768596"/>
            <a:ext cx="397764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Utilization reports by team, shift, floor, and zone</a:t>
            </a:r>
            <a:endParaRPr lang="en-US" sz="880" dirty="0"/>
          </a:p>
        </p:txBody>
      </p:sp>
      <p:sp>
        <p:nvSpPr>
          <p:cNvPr id="47" name="Shape 45"/>
          <p:cNvSpPr/>
          <p:nvPr/>
        </p:nvSpPr>
        <p:spPr>
          <a:xfrm>
            <a:off x="4709160" y="4718304"/>
            <a:ext cx="786384" cy="292608"/>
          </a:xfrm>
          <a:prstGeom prst="roundRect">
            <a:avLst>
              <a:gd name="adj" fmla="val 25000"/>
            </a:avLst>
          </a:prstGeom>
          <a:solidFill>
            <a:srgbClr val="2563EB"/>
          </a:solidFill>
          <a:ln w="12700">
            <a:solidFill>
              <a:srgbClr val="2563EB"/>
            </a:solidFill>
            <a:prstDash val="solid"/>
          </a:ln>
          <a:effectLst>
            <a:outerShdw blurRad="12700" dist="6350" dir="2700000" algn="bl" rotWithShape="0">
              <a:srgbClr val="000000">
                <a:alpha val="10000"/>
              </a:srgbClr>
            </a:outerShdw>
          </a:effectLst>
        </p:spPr>
      </p:sp>
      <p:sp>
        <p:nvSpPr>
          <p:cNvPr id="48" name="Text 46"/>
          <p:cNvSpPr/>
          <p:nvPr/>
        </p:nvSpPr>
        <p:spPr>
          <a:xfrm>
            <a:off x="4800600" y="4786884"/>
            <a:ext cx="603504" cy="109728"/>
          </a:xfrm>
          <a:prstGeom prst="rect">
            <a:avLst/>
          </a:prstGeom>
          <a:noFill/>
          <a:ln/>
        </p:spPr>
        <p:txBody>
          <a:bodyPr wrap="square" lIns="0" tIns="0" rIns="0" bIns="0" rtlCol="0" anchor="ctr"/>
          <a:lstStyle/>
          <a:p>
            <a:pPr marL="0" indent="0" algn="ctr">
              <a:buNone/>
            </a:pPr>
            <a:r>
              <a:rPr lang="en-US" sz="750" b="1" dirty="0">
                <a:solidFill>
                  <a:srgbClr val="FFFFFF"/>
                </a:solidFill>
              </a:rPr>
              <a:t>MVP</a:t>
            </a:r>
            <a:endParaRPr lang="en-US" sz="750" dirty="0"/>
          </a:p>
        </p:txBody>
      </p:sp>
      <p:sp>
        <p:nvSpPr>
          <p:cNvPr id="49" name="Shape 47"/>
          <p:cNvSpPr/>
          <p:nvPr/>
        </p:nvSpPr>
        <p:spPr>
          <a:xfrm>
            <a:off x="6446520" y="1170432"/>
            <a:ext cx="5029200" cy="4892040"/>
          </a:xfrm>
          <a:prstGeom prst="roundRect">
            <a:avLst>
              <a:gd name="adj" fmla="val 2243"/>
            </a:avLst>
          </a:prstGeom>
          <a:solidFill>
            <a:srgbClr val="F0FDFA"/>
          </a:solidFill>
          <a:ln w="8890">
            <a:solidFill>
              <a:srgbClr val="E2E8F0"/>
            </a:solidFill>
            <a:prstDash val="solid"/>
          </a:ln>
          <a:effectLst>
            <a:outerShdw blurRad="19050" dist="8890" dir="2700000" algn="bl" rotWithShape="0">
              <a:srgbClr val="000000">
                <a:alpha val="10000"/>
              </a:srgbClr>
            </a:outerShdw>
          </a:effectLst>
        </p:spPr>
      </p:sp>
      <p:sp>
        <p:nvSpPr>
          <p:cNvPr id="50" name="Text 48"/>
          <p:cNvSpPr/>
          <p:nvPr/>
        </p:nvSpPr>
        <p:spPr>
          <a:xfrm>
            <a:off x="6720840" y="1426464"/>
            <a:ext cx="3291840" cy="228600"/>
          </a:xfrm>
          <a:prstGeom prst="rect">
            <a:avLst/>
          </a:prstGeom>
          <a:noFill/>
          <a:ln/>
        </p:spPr>
        <p:txBody>
          <a:bodyPr wrap="square" lIns="0" tIns="0" rIns="0" bIns="0" rtlCol="0" anchor="ctr"/>
          <a:lstStyle/>
          <a:p>
            <a:pPr marL="0" indent="0">
              <a:buNone/>
            </a:pPr>
            <a:r>
              <a:rPr lang="en-US" sz="1500" b="1" dirty="0">
                <a:solidFill>
                  <a:srgbClr val="14B8A6"/>
                </a:solidFill>
              </a:rPr>
              <a:t>Recommended additions</a:t>
            </a:r>
            <a:endParaRPr lang="en-US" sz="1500" dirty="0"/>
          </a:p>
        </p:txBody>
      </p:sp>
      <p:sp>
        <p:nvSpPr>
          <p:cNvPr id="51" name="Shape 49"/>
          <p:cNvSpPr/>
          <p:nvPr/>
        </p:nvSpPr>
        <p:spPr>
          <a:xfrm>
            <a:off x="6729984" y="1869948"/>
            <a:ext cx="100584" cy="100584"/>
          </a:xfrm>
          <a:prstGeom prst="ellipse">
            <a:avLst/>
          </a:prstGeom>
          <a:solidFill>
            <a:srgbClr val="14B8A6"/>
          </a:solidFill>
          <a:ln w="12700">
            <a:solidFill>
              <a:srgbClr val="14B8A6"/>
            </a:solidFill>
            <a:prstDash val="solid"/>
          </a:ln>
        </p:spPr>
      </p:sp>
      <p:sp>
        <p:nvSpPr>
          <p:cNvPr id="52" name="Text 50"/>
          <p:cNvSpPr/>
          <p:nvPr/>
        </p:nvSpPr>
        <p:spPr>
          <a:xfrm>
            <a:off x="6912864" y="1828800"/>
            <a:ext cx="40690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No-show policy configuration by site/floor.</a:t>
            </a:r>
            <a:endParaRPr lang="en-US" sz="930" dirty="0"/>
          </a:p>
        </p:txBody>
      </p:sp>
      <p:sp>
        <p:nvSpPr>
          <p:cNvPr id="53" name="Shape 51"/>
          <p:cNvSpPr/>
          <p:nvPr/>
        </p:nvSpPr>
        <p:spPr>
          <a:xfrm>
            <a:off x="6729984" y="2382012"/>
            <a:ext cx="100584" cy="100584"/>
          </a:xfrm>
          <a:prstGeom prst="ellipse">
            <a:avLst/>
          </a:prstGeom>
          <a:solidFill>
            <a:srgbClr val="2563EB"/>
          </a:solidFill>
          <a:ln w="12700">
            <a:solidFill>
              <a:srgbClr val="2563EB"/>
            </a:solidFill>
            <a:prstDash val="solid"/>
          </a:ln>
        </p:spPr>
      </p:sp>
      <p:sp>
        <p:nvSpPr>
          <p:cNvPr id="54" name="Text 52"/>
          <p:cNvSpPr/>
          <p:nvPr/>
        </p:nvSpPr>
        <p:spPr>
          <a:xfrm>
            <a:off x="6912864" y="2340864"/>
            <a:ext cx="40690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Privacy, retention, and audit controls.</a:t>
            </a:r>
            <a:endParaRPr lang="en-US" sz="930" dirty="0"/>
          </a:p>
        </p:txBody>
      </p:sp>
      <p:sp>
        <p:nvSpPr>
          <p:cNvPr id="55" name="Shape 53"/>
          <p:cNvSpPr/>
          <p:nvPr/>
        </p:nvSpPr>
        <p:spPr>
          <a:xfrm>
            <a:off x="6729984" y="2894076"/>
            <a:ext cx="100584" cy="100584"/>
          </a:xfrm>
          <a:prstGeom prst="ellipse">
            <a:avLst/>
          </a:prstGeom>
          <a:solidFill>
            <a:srgbClr val="14B8A6"/>
          </a:solidFill>
          <a:ln w="12700">
            <a:solidFill>
              <a:srgbClr val="14B8A6"/>
            </a:solidFill>
            <a:prstDash val="solid"/>
          </a:ln>
        </p:spPr>
      </p:sp>
      <p:sp>
        <p:nvSpPr>
          <p:cNvPr id="56" name="Text 54"/>
          <p:cNvSpPr/>
          <p:nvPr/>
        </p:nvSpPr>
        <p:spPr>
          <a:xfrm>
            <a:off x="6912864" y="2852928"/>
            <a:ext cx="40690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Accessibility/priority seating workflow.</a:t>
            </a:r>
            <a:endParaRPr lang="en-US" sz="930" dirty="0"/>
          </a:p>
        </p:txBody>
      </p:sp>
      <p:sp>
        <p:nvSpPr>
          <p:cNvPr id="57" name="Shape 55"/>
          <p:cNvSpPr/>
          <p:nvPr/>
        </p:nvSpPr>
        <p:spPr>
          <a:xfrm>
            <a:off x="6729984" y="3406140"/>
            <a:ext cx="100584" cy="100584"/>
          </a:xfrm>
          <a:prstGeom prst="ellipse">
            <a:avLst/>
          </a:prstGeom>
          <a:solidFill>
            <a:srgbClr val="2563EB"/>
          </a:solidFill>
          <a:ln w="12700">
            <a:solidFill>
              <a:srgbClr val="2563EB"/>
            </a:solidFill>
            <a:prstDash val="solid"/>
          </a:ln>
        </p:spPr>
      </p:sp>
      <p:sp>
        <p:nvSpPr>
          <p:cNvPr id="58" name="Text 56"/>
          <p:cNvSpPr/>
          <p:nvPr/>
        </p:nvSpPr>
        <p:spPr>
          <a:xfrm>
            <a:off x="6912864" y="3364992"/>
            <a:ext cx="40690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Manual override for BO/facilities admins.</a:t>
            </a:r>
            <a:endParaRPr lang="en-US" sz="930" dirty="0"/>
          </a:p>
        </p:txBody>
      </p:sp>
      <p:sp>
        <p:nvSpPr>
          <p:cNvPr id="59" name="Shape 57"/>
          <p:cNvSpPr/>
          <p:nvPr/>
        </p:nvSpPr>
        <p:spPr>
          <a:xfrm>
            <a:off x="6729984" y="3918204"/>
            <a:ext cx="100584" cy="100584"/>
          </a:xfrm>
          <a:prstGeom prst="ellipse">
            <a:avLst/>
          </a:prstGeom>
          <a:solidFill>
            <a:srgbClr val="14B8A6"/>
          </a:solidFill>
          <a:ln w="12700">
            <a:solidFill>
              <a:srgbClr val="14B8A6"/>
            </a:solidFill>
            <a:prstDash val="solid"/>
          </a:ln>
        </p:spPr>
      </p:sp>
      <p:sp>
        <p:nvSpPr>
          <p:cNvPr id="60" name="Text 58"/>
          <p:cNvSpPr/>
          <p:nvPr/>
        </p:nvSpPr>
        <p:spPr>
          <a:xfrm>
            <a:off x="6912864" y="3877056"/>
            <a:ext cx="40690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Exception dashboard for false positives.</a:t>
            </a:r>
            <a:endParaRPr lang="en-US" sz="930" dirty="0"/>
          </a:p>
        </p:txBody>
      </p:sp>
      <p:sp>
        <p:nvSpPr>
          <p:cNvPr id="61" name="Shape 59"/>
          <p:cNvSpPr/>
          <p:nvPr/>
        </p:nvSpPr>
        <p:spPr>
          <a:xfrm>
            <a:off x="6729984" y="4430268"/>
            <a:ext cx="100584" cy="100584"/>
          </a:xfrm>
          <a:prstGeom prst="ellipse">
            <a:avLst/>
          </a:prstGeom>
          <a:solidFill>
            <a:srgbClr val="2563EB"/>
          </a:solidFill>
          <a:ln w="12700">
            <a:solidFill>
              <a:srgbClr val="2563EB"/>
            </a:solidFill>
            <a:prstDash val="solid"/>
          </a:ln>
        </p:spPr>
      </p:sp>
      <p:sp>
        <p:nvSpPr>
          <p:cNvPr id="62" name="Text 60"/>
          <p:cNvSpPr/>
          <p:nvPr/>
        </p:nvSpPr>
        <p:spPr>
          <a:xfrm>
            <a:off x="6912864" y="4389120"/>
            <a:ext cx="40690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API integration layer for badge, LAN, calendar, HR/asset data.</a:t>
            </a:r>
            <a:endParaRPr lang="en-US" sz="930" dirty="0"/>
          </a:p>
        </p:txBody>
      </p:sp>
      <p:sp>
        <p:nvSpPr>
          <p:cNvPr id="63"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66928" y="301752"/>
            <a:ext cx="8412480" cy="384048"/>
          </a:xfrm>
          <a:prstGeom prst="rect">
            <a:avLst/>
          </a:prstGeom>
          <a:noFill/>
          <a:ln/>
        </p:spPr>
        <p:txBody>
          <a:bodyPr wrap="square" lIns="0" tIns="0" rIns="0" bIns="0"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MVP roadmap</a:t>
            </a:r>
            <a:endParaRPr lang="en-US" sz="2300" dirty="0"/>
          </a:p>
        </p:txBody>
      </p:sp>
      <p:sp>
        <p:nvSpPr>
          <p:cNvPr id="4" name="Text 2"/>
          <p:cNvSpPr/>
          <p:nvPr/>
        </p:nvSpPr>
        <p:spPr>
          <a:xfrm>
            <a:off x="594360" y="749808"/>
            <a:ext cx="8138160" cy="237744"/>
          </a:xfrm>
          <a:prstGeom prst="rect">
            <a:avLst/>
          </a:prstGeom>
          <a:noFill/>
          <a:ln/>
        </p:spPr>
        <p:txBody>
          <a:bodyPr wrap="square" lIns="0" tIns="0" rIns="0" bIns="0" rtlCol="0" anchor="ctr"/>
          <a:lstStyle/>
          <a:p>
            <a:pPr marL="0" indent="0">
              <a:buNone/>
            </a:pPr>
            <a:r>
              <a:rPr lang="en-US" sz="980" dirty="0">
                <a:solidFill>
                  <a:srgbClr val="64748B"/>
                </a:solidFill>
              </a:rPr>
              <a:t>Gradually move from visibility to automation to optimization.</a:t>
            </a:r>
            <a:endParaRPr lang="en-US" sz="980" dirty="0"/>
          </a:p>
        </p:txBody>
      </p:sp>
      <p:sp>
        <p:nvSpPr>
          <p:cNvPr id="5" name="Shape 3"/>
          <p:cNvSpPr/>
          <p:nvPr/>
        </p:nvSpPr>
        <p:spPr>
          <a:xfrm>
            <a:off x="10927080" y="256032"/>
            <a:ext cx="658368" cy="658368"/>
          </a:xfrm>
          <a:prstGeom prst="arc">
            <a:avLst/>
          </a:prstGeom>
          <a:noFill/>
          <a:ln w="27940">
            <a:solidFill>
              <a:srgbClr val="14B8A6"/>
            </a:solidFill>
            <a:prstDash val="solid"/>
            <a:headEnd type="none"/>
            <a:tailEnd type="none"/>
          </a:ln>
        </p:spPr>
      </p:sp>
      <p:sp>
        <p:nvSpPr>
          <p:cNvPr id="6" name="Shape 4"/>
          <p:cNvSpPr/>
          <p:nvPr/>
        </p:nvSpPr>
        <p:spPr>
          <a:xfrm>
            <a:off x="11119104" y="429768"/>
            <a:ext cx="640080" cy="640080"/>
          </a:xfrm>
          <a:prstGeom prst="arc">
            <a:avLst/>
          </a:prstGeom>
          <a:noFill/>
          <a:ln w="27940">
            <a:solidFill>
              <a:srgbClr val="2563EB"/>
            </a:solidFill>
            <a:prstDash val="solid"/>
          </a:ln>
        </p:spPr>
      </p:sp>
      <p:sp>
        <p:nvSpPr>
          <p:cNvPr id="7" name="Shape 5"/>
          <p:cNvSpPr/>
          <p:nvPr/>
        </p:nvSpPr>
        <p:spPr>
          <a:xfrm>
            <a:off x="640080" y="1316736"/>
            <a:ext cx="2240280" cy="3063240"/>
          </a:xfrm>
          <a:prstGeom prst="roundRect">
            <a:avLst>
              <a:gd name="adj" fmla="val 4898"/>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8" name="Shape 6"/>
          <p:cNvSpPr/>
          <p:nvPr/>
        </p:nvSpPr>
        <p:spPr>
          <a:xfrm>
            <a:off x="822960" y="1545336"/>
            <a:ext cx="493776" cy="493776"/>
          </a:xfrm>
          <a:prstGeom prst="roundRect">
            <a:avLst>
              <a:gd name="adj" fmla="val 22222"/>
            </a:avLst>
          </a:prstGeom>
          <a:solidFill>
            <a:srgbClr val="2563EB"/>
          </a:solidFill>
          <a:ln w="12700">
            <a:solidFill>
              <a:srgbClr val="2563EB"/>
            </a:solidFill>
            <a:prstDash val="solid"/>
          </a:ln>
        </p:spPr>
      </p:sp>
      <p:sp>
        <p:nvSpPr>
          <p:cNvPr id="9" name="Text 7"/>
          <p:cNvSpPr/>
          <p:nvPr/>
        </p:nvSpPr>
        <p:spPr>
          <a:xfrm>
            <a:off x="987552" y="1691640"/>
            <a:ext cx="146304" cy="73152"/>
          </a:xfrm>
          <a:prstGeom prst="rect">
            <a:avLst/>
          </a:prstGeom>
          <a:noFill/>
          <a:ln/>
        </p:spPr>
        <p:txBody>
          <a:bodyPr wrap="square" lIns="0" tIns="0" rIns="0" bIns="0" rtlCol="0" anchor="ctr"/>
          <a:lstStyle/>
          <a:p>
            <a:pPr marL="0" indent="0" algn="ctr">
              <a:buNone/>
            </a:pPr>
            <a:r>
              <a:rPr lang="en-US" sz="800" b="1" dirty="0">
                <a:solidFill>
                  <a:srgbClr val="FFFFFF"/>
                </a:solidFill>
              </a:rPr>
              <a:t>1</a:t>
            </a:r>
            <a:endParaRPr lang="en-US" sz="800" dirty="0"/>
          </a:p>
        </p:txBody>
      </p:sp>
      <p:sp>
        <p:nvSpPr>
          <p:cNvPr id="10" name="Text 8"/>
          <p:cNvSpPr/>
          <p:nvPr/>
        </p:nvSpPr>
        <p:spPr>
          <a:xfrm>
            <a:off x="822960" y="2249424"/>
            <a:ext cx="1874520" cy="310896"/>
          </a:xfrm>
          <a:prstGeom prst="rect">
            <a:avLst/>
          </a:prstGeom>
          <a:noFill/>
          <a:ln/>
        </p:spPr>
        <p:txBody>
          <a:bodyPr wrap="square" lIns="0" tIns="0" rIns="0" bIns="0" rtlCol="0" anchor="ctr">
            <a:normAutofit/>
          </a:bodyPr>
          <a:lstStyle/>
          <a:p>
            <a:pPr marL="0" indent="0">
              <a:buNone/>
            </a:pPr>
            <a:r>
              <a:rPr lang="en-US" sz="1300" b="1" dirty="0">
                <a:solidFill>
                  <a:srgbClr val="2563EB"/>
                </a:solidFill>
              </a:rPr>
              <a:t>Phase 1: Foundation</a:t>
            </a:r>
            <a:endParaRPr lang="en-US" sz="1300" dirty="0"/>
          </a:p>
        </p:txBody>
      </p:sp>
      <p:sp>
        <p:nvSpPr>
          <p:cNvPr id="11" name="Text 9"/>
          <p:cNvSpPr/>
          <p:nvPr/>
        </p:nvSpPr>
        <p:spPr>
          <a:xfrm>
            <a:off x="822960" y="2916936"/>
            <a:ext cx="1874520" cy="841248"/>
          </a:xfrm>
          <a:prstGeom prst="rect">
            <a:avLst/>
          </a:prstGeom>
          <a:noFill/>
          <a:ln/>
        </p:spPr>
        <p:txBody>
          <a:bodyPr wrap="square" lIns="0" tIns="0" rIns="0" bIns="0" rtlCol="0" anchor="ctr">
            <a:normAutofit/>
          </a:bodyPr>
          <a:lstStyle/>
          <a:p>
            <a:pPr marL="0" indent="0">
              <a:buNone/>
            </a:pPr>
            <a:r>
              <a:rPr lang="en-US" sz="860" dirty="0">
                <a:solidFill>
                  <a:srgbClr val="475569"/>
                </a:solidFill>
              </a:rPr>
              <a:t>QR code generation, desk master, zone master, Okta login, baseline dashboard</a:t>
            </a:r>
            <a:endParaRPr lang="en-US" sz="860" dirty="0"/>
          </a:p>
        </p:txBody>
      </p:sp>
      <p:sp>
        <p:nvSpPr>
          <p:cNvPr id="12" name="Shape 10"/>
          <p:cNvSpPr/>
          <p:nvPr/>
        </p:nvSpPr>
        <p:spPr>
          <a:xfrm>
            <a:off x="3611880" y="1316736"/>
            <a:ext cx="2240280" cy="3063240"/>
          </a:xfrm>
          <a:prstGeom prst="roundRect">
            <a:avLst>
              <a:gd name="adj" fmla="val 4898"/>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13" name="Shape 11"/>
          <p:cNvSpPr/>
          <p:nvPr/>
        </p:nvSpPr>
        <p:spPr>
          <a:xfrm>
            <a:off x="3794760" y="1545336"/>
            <a:ext cx="493776" cy="493776"/>
          </a:xfrm>
          <a:prstGeom prst="roundRect">
            <a:avLst>
              <a:gd name="adj" fmla="val 22222"/>
            </a:avLst>
          </a:prstGeom>
          <a:solidFill>
            <a:srgbClr val="14B8A6"/>
          </a:solidFill>
          <a:ln w="12700">
            <a:solidFill>
              <a:srgbClr val="14B8A6"/>
            </a:solidFill>
            <a:prstDash val="solid"/>
          </a:ln>
        </p:spPr>
      </p:sp>
      <p:sp>
        <p:nvSpPr>
          <p:cNvPr id="14" name="Text 12"/>
          <p:cNvSpPr/>
          <p:nvPr/>
        </p:nvSpPr>
        <p:spPr>
          <a:xfrm>
            <a:off x="3959352" y="1691640"/>
            <a:ext cx="146304" cy="73152"/>
          </a:xfrm>
          <a:prstGeom prst="rect">
            <a:avLst/>
          </a:prstGeom>
          <a:noFill/>
          <a:ln/>
        </p:spPr>
        <p:txBody>
          <a:bodyPr wrap="square" lIns="0" tIns="0" rIns="0" bIns="0" rtlCol="0" anchor="ctr"/>
          <a:lstStyle/>
          <a:p>
            <a:pPr marL="0" indent="0" algn="ctr">
              <a:buNone/>
            </a:pPr>
            <a:r>
              <a:rPr lang="en-US" sz="800" b="1" dirty="0">
                <a:solidFill>
                  <a:srgbClr val="FFFFFF"/>
                </a:solidFill>
              </a:rPr>
              <a:t>2</a:t>
            </a:r>
            <a:endParaRPr lang="en-US" sz="800" dirty="0"/>
          </a:p>
        </p:txBody>
      </p:sp>
      <p:sp>
        <p:nvSpPr>
          <p:cNvPr id="15" name="Text 13"/>
          <p:cNvSpPr/>
          <p:nvPr/>
        </p:nvSpPr>
        <p:spPr>
          <a:xfrm>
            <a:off x="3794760" y="2249424"/>
            <a:ext cx="1874520" cy="310896"/>
          </a:xfrm>
          <a:prstGeom prst="rect">
            <a:avLst/>
          </a:prstGeom>
          <a:noFill/>
          <a:ln/>
        </p:spPr>
        <p:txBody>
          <a:bodyPr wrap="square" lIns="0" tIns="0" rIns="0" bIns="0" rtlCol="0" anchor="ctr">
            <a:normAutofit/>
          </a:bodyPr>
          <a:lstStyle/>
          <a:p>
            <a:pPr marL="0" indent="0">
              <a:buNone/>
            </a:pPr>
            <a:r>
              <a:rPr lang="en-US" sz="1300" b="1" dirty="0">
                <a:solidFill>
                  <a:srgbClr val="14B8A6"/>
                </a:solidFill>
              </a:rPr>
              <a:t>Phase 2: Validation</a:t>
            </a:r>
            <a:endParaRPr lang="en-US" sz="1300" dirty="0"/>
          </a:p>
        </p:txBody>
      </p:sp>
      <p:sp>
        <p:nvSpPr>
          <p:cNvPr id="16" name="Text 14"/>
          <p:cNvSpPr/>
          <p:nvPr/>
        </p:nvSpPr>
        <p:spPr>
          <a:xfrm>
            <a:off x="3794760" y="2916936"/>
            <a:ext cx="1874520" cy="841248"/>
          </a:xfrm>
          <a:prstGeom prst="rect">
            <a:avLst/>
          </a:prstGeom>
          <a:noFill/>
          <a:ln/>
        </p:spPr>
        <p:txBody>
          <a:bodyPr wrap="square" lIns="0" tIns="0" rIns="0" bIns="0" rtlCol="0" anchor="ctr">
            <a:normAutofit/>
          </a:bodyPr>
          <a:lstStyle/>
          <a:p>
            <a:pPr marL="0" indent="0">
              <a:buNone/>
            </a:pPr>
            <a:r>
              <a:rPr lang="en-US" sz="860" dirty="0">
                <a:solidFill>
                  <a:srgbClr val="475569"/>
                </a:solidFill>
              </a:rPr>
              <a:t>Swipe-in match, LAN status ingestion, no-show detection, exception queue</a:t>
            </a:r>
            <a:endParaRPr lang="en-US" sz="860" dirty="0"/>
          </a:p>
        </p:txBody>
      </p:sp>
      <p:sp>
        <p:nvSpPr>
          <p:cNvPr id="17" name="Shape 15"/>
          <p:cNvSpPr/>
          <p:nvPr/>
        </p:nvSpPr>
        <p:spPr>
          <a:xfrm>
            <a:off x="6583680" y="1316736"/>
            <a:ext cx="2240280" cy="3063240"/>
          </a:xfrm>
          <a:prstGeom prst="roundRect">
            <a:avLst>
              <a:gd name="adj" fmla="val 4898"/>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18" name="Shape 16"/>
          <p:cNvSpPr/>
          <p:nvPr/>
        </p:nvSpPr>
        <p:spPr>
          <a:xfrm>
            <a:off x="6766560" y="1545336"/>
            <a:ext cx="493776" cy="493776"/>
          </a:xfrm>
          <a:prstGeom prst="roundRect">
            <a:avLst>
              <a:gd name="adj" fmla="val 22222"/>
            </a:avLst>
          </a:prstGeom>
          <a:solidFill>
            <a:srgbClr val="8B5CF6"/>
          </a:solidFill>
          <a:ln w="12700">
            <a:solidFill>
              <a:srgbClr val="8B5CF6"/>
            </a:solidFill>
            <a:prstDash val="solid"/>
          </a:ln>
        </p:spPr>
      </p:sp>
      <p:sp>
        <p:nvSpPr>
          <p:cNvPr id="19" name="Text 17"/>
          <p:cNvSpPr/>
          <p:nvPr/>
        </p:nvSpPr>
        <p:spPr>
          <a:xfrm>
            <a:off x="6931152" y="1691640"/>
            <a:ext cx="146304" cy="73152"/>
          </a:xfrm>
          <a:prstGeom prst="rect">
            <a:avLst/>
          </a:prstGeom>
          <a:noFill/>
          <a:ln/>
        </p:spPr>
        <p:txBody>
          <a:bodyPr wrap="square" lIns="0" tIns="0" rIns="0" bIns="0" rtlCol="0" anchor="ctr"/>
          <a:lstStyle/>
          <a:p>
            <a:pPr marL="0" indent="0" algn="ctr">
              <a:buNone/>
            </a:pPr>
            <a:r>
              <a:rPr lang="en-US" sz="800" b="1" dirty="0">
                <a:solidFill>
                  <a:srgbClr val="FFFFFF"/>
                </a:solidFill>
              </a:rPr>
              <a:t>3</a:t>
            </a:r>
            <a:endParaRPr lang="en-US" sz="800" dirty="0"/>
          </a:p>
        </p:txBody>
      </p:sp>
      <p:sp>
        <p:nvSpPr>
          <p:cNvPr id="20" name="Text 18"/>
          <p:cNvSpPr/>
          <p:nvPr/>
        </p:nvSpPr>
        <p:spPr>
          <a:xfrm>
            <a:off x="6766560" y="2249424"/>
            <a:ext cx="1874520" cy="310896"/>
          </a:xfrm>
          <a:prstGeom prst="rect">
            <a:avLst/>
          </a:prstGeom>
          <a:noFill/>
          <a:ln/>
        </p:spPr>
        <p:txBody>
          <a:bodyPr wrap="square" lIns="0" tIns="0" rIns="0" bIns="0" rtlCol="0" anchor="ctr">
            <a:normAutofit/>
          </a:bodyPr>
          <a:lstStyle/>
          <a:p>
            <a:pPr marL="0" indent="0">
              <a:buNone/>
            </a:pPr>
            <a:r>
              <a:rPr lang="en-US" sz="1300" b="1" dirty="0">
                <a:solidFill>
                  <a:srgbClr val="8B5CF6"/>
                </a:solidFill>
              </a:rPr>
              <a:t>Phase 3: Automation</a:t>
            </a:r>
            <a:endParaRPr lang="en-US" sz="1300" dirty="0"/>
          </a:p>
        </p:txBody>
      </p:sp>
      <p:sp>
        <p:nvSpPr>
          <p:cNvPr id="21" name="Text 19"/>
          <p:cNvSpPr/>
          <p:nvPr/>
        </p:nvSpPr>
        <p:spPr>
          <a:xfrm>
            <a:off x="6766560" y="2916936"/>
            <a:ext cx="1874520" cy="841248"/>
          </a:xfrm>
          <a:prstGeom prst="rect">
            <a:avLst/>
          </a:prstGeom>
          <a:noFill/>
          <a:ln/>
        </p:spPr>
        <p:txBody>
          <a:bodyPr wrap="square" lIns="0" tIns="0" rIns="0" bIns="0" rtlCol="0" anchor="ctr">
            <a:normAutofit/>
          </a:bodyPr>
          <a:lstStyle/>
          <a:p>
            <a:pPr marL="0" indent="0">
              <a:buNone/>
            </a:pPr>
            <a:r>
              <a:rPr lang="en-US" sz="860" dirty="0">
                <a:solidFill>
                  <a:srgbClr val="475569"/>
                </a:solidFill>
              </a:rPr>
              <a:t>45-minute release, calendar-aware hold, heartbeat reminders, manager approval</a:t>
            </a:r>
            <a:endParaRPr lang="en-US" sz="860" dirty="0"/>
          </a:p>
        </p:txBody>
      </p:sp>
      <p:sp>
        <p:nvSpPr>
          <p:cNvPr id="22" name="Shape 20"/>
          <p:cNvSpPr/>
          <p:nvPr/>
        </p:nvSpPr>
        <p:spPr>
          <a:xfrm>
            <a:off x="9555480" y="1316736"/>
            <a:ext cx="2240280" cy="3063240"/>
          </a:xfrm>
          <a:prstGeom prst="roundRect">
            <a:avLst>
              <a:gd name="adj" fmla="val 4898"/>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23" name="Shape 21"/>
          <p:cNvSpPr/>
          <p:nvPr/>
        </p:nvSpPr>
        <p:spPr>
          <a:xfrm>
            <a:off x="9738360" y="1545336"/>
            <a:ext cx="493776" cy="493776"/>
          </a:xfrm>
          <a:prstGeom prst="roundRect">
            <a:avLst>
              <a:gd name="adj" fmla="val 22222"/>
            </a:avLst>
          </a:prstGeom>
          <a:solidFill>
            <a:srgbClr val="22C55E"/>
          </a:solidFill>
          <a:ln w="12700">
            <a:solidFill>
              <a:srgbClr val="22C55E"/>
            </a:solidFill>
            <a:prstDash val="solid"/>
          </a:ln>
        </p:spPr>
      </p:sp>
      <p:sp>
        <p:nvSpPr>
          <p:cNvPr id="24" name="Text 22"/>
          <p:cNvSpPr/>
          <p:nvPr/>
        </p:nvSpPr>
        <p:spPr>
          <a:xfrm>
            <a:off x="9902952" y="1691640"/>
            <a:ext cx="146304" cy="73152"/>
          </a:xfrm>
          <a:prstGeom prst="rect">
            <a:avLst/>
          </a:prstGeom>
          <a:noFill/>
          <a:ln/>
        </p:spPr>
        <p:txBody>
          <a:bodyPr wrap="square" lIns="0" tIns="0" rIns="0" bIns="0" rtlCol="0" anchor="ctr"/>
          <a:lstStyle/>
          <a:p>
            <a:pPr marL="0" indent="0" algn="ctr">
              <a:buNone/>
            </a:pPr>
            <a:r>
              <a:rPr lang="en-US" sz="800" b="1" dirty="0">
                <a:solidFill>
                  <a:srgbClr val="FFFFFF"/>
                </a:solidFill>
              </a:rPr>
              <a:t>4</a:t>
            </a:r>
            <a:endParaRPr lang="en-US" sz="800" dirty="0"/>
          </a:p>
        </p:txBody>
      </p:sp>
      <p:sp>
        <p:nvSpPr>
          <p:cNvPr id="25" name="Text 23"/>
          <p:cNvSpPr/>
          <p:nvPr/>
        </p:nvSpPr>
        <p:spPr>
          <a:xfrm>
            <a:off x="9738360" y="2249424"/>
            <a:ext cx="1874520" cy="310896"/>
          </a:xfrm>
          <a:prstGeom prst="rect">
            <a:avLst/>
          </a:prstGeom>
          <a:noFill/>
          <a:ln/>
        </p:spPr>
        <p:txBody>
          <a:bodyPr wrap="square" lIns="0" tIns="0" rIns="0" bIns="0" rtlCol="0" anchor="ctr">
            <a:normAutofit/>
          </a:bodyPr>
          <a:lstStyle/>
          <a:p>
            <a:pPr marL="0" indent="0">
              <a:buNone/>
            </a:pPr>
            <a:r>
              <a:rPr lang="en-US" sz="1300" b="1" dirty="0">
                <a:solidFill>
                  <a:srgbClr val="22C55E"/>
                </a:solidFill>
              </a:rPr>
              <a:t>Phase 4: Intelligence</a:t>
            </a:r>
            <a:endParaRPr lang="en-US" sz="1300" dirty="0"/>
          </a:p>
        </p:txBody>
      </p:sp>
      <p:sp>
        <p:nvSpPr>
          <p:cNvPr id="26" name="Text 24"/>
          <p:cNvSpPr/>
          <p:nvPr/>
        </p:nvSpPr>
        <p:spPr>
          <a:xfrm>
            <a:off x="9738360" y="2916936"/>
            <a:ext cx="1874520" cy="841248"/>
          </a:xfrm>
          <a:prstGeom prst="rect">
            <a:avLst/>
          </a:prstGeom>
          <a:noFill/>
          <a:ln/>
        </p:spPr>
        <p:txBody>
          <a:bodyPr wrap="square" lIns="0" tIns="0" rIns="0" bIns="0" rtlCol="0" anchor="ctr">
            <a:normAutofit/>
          </a:bodyPr>
          <a:lstStyle/>
          <a:p>
            <a:pPr marL="0" indent="0">
              <a:buNone/>
            </a:pPr>
            <a:r>
              <a:rPr lang="en-US" sz="860" dirty="0">
                <a:solidFill>
                  <a:srgbClr val="475569"/>
                </a:solidFill>
              </a:rPr>
              <a:t>AI seat suggestions, favorite-seat patterns, shift forecasting, cost dashboards</a:t>
            </a:r>
            <a:endParaRPr lang="en-US" sz="860" dirty="0"/>
          </a:p>
        </p:txBody>
      </p:sp>
      <p:sp>
        <p:nvSpPr>
          <p:cNvPr id="27" name="Shape 25"/>
          <p:cNvSpPr/>
          <p:nvPr/>
        </p:nvSpPr>
        <p:spPr>
          <a:xfrm>
            <a:off x="868680" y="5074920"/>
            <a:ext cx="10378440" cy="658368"/>
          </a:xfrm>
          <a:prstGeom prst="roundRect">
            <a:avLst>
              <a:gd name="adj" fmla="val 16667"/>
            </a:avLst>
          </a:prstGeom>
          <a:solidFill>
            <a:srgbClr val="FEFCE8"/>
          </a:solidFill>
          <a:ln w="8890">
            <a:solidFill>
              <a:srgbClr val="E2E8F0"/>
            </a:solidFill>
            <a:prstDash val="solid"/>
          </a:ln>
          <a:effectLst>
            <a:outerShdw blurRad="19050" dist="8890" dir="2700000" algn="bl" rotWithShape="0">
              <a:srgbClr val="000000">
                <a:alpha val="10000"/>
              </a:srgbClr>
            </a:outerShdw>
          </a:effectLst>
        </p:spPr>
      </p:sp>
      <p:sp>
        <p:nvSpPr>
          <p:cNvPr id="28" name="Text 26"/>
          <p:cNvSpPr/>
          <p:nvPr/>
        </p:nvSpPr>
        <p:spPr>
          <a:xfrm>
            <a:off x="1097280" y="5303520"/>
            <a:ext cx="9921240" cy="164592"/>
          </a:xfrm>
          <a:prstGeom prst="rect">
            <a:avLst/>
          </a:prstGeom>
          <a:noFill/>
          <a:ln/>
        </p:spPr>
        <p:txBody>
          <a:bodyPr wrap="square" lIns="0" tIns="0" rIns="0" bIns="0" rtlCol="0" anchor="ctr">
            <a:normAutofit/>
          </a:bodyPr>
          <a:lstStyle/>
          <a:p>
            <a:pPr marL="0" indent="0">
              <a:buNone/>
            </a:pPr>
            <a:r>
              <a:rPr lang="en-US" sz="920" dirty="0">
                <a:solidFill>
                  <a:srgbClr val="0F172A"/>
                </a:solidFill>
              </a:rPr>
              <a:t>MVP recommendation: start with QR + Okta + desk mapping + dashboard + swipe-in validation. Add LAN and calendar-aware release after validating privacy/security and technical feasibility.</a:t>
            </a:r>
            <a:endParaRPr lang="en-US" sz="920" dirty="0"/>
          </a:p>
        </p:txBody>
      </p:sp>
      <p:sp>
        <p:nvSpPr>
          <p:cNvPr id="29"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66928" y="301752"/>
            <a:ext cx="8412480" cy="384048"/>
          </a:xfrm>
          <a:prstGeom prst="rect">
            <a:avLst/>
          </a:prstGeom>
          <a:noFill/>
          <a:ln/>
        </p:spPr>
        <p:txBody>
          <a:bodyPr wrap="square" lIns="0" tIns="0" rIns="0" bIns="0"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Decision summary</a:t>
            </a:r>
            <a:endParaRPr lang="en-US" sz="2300" dirty="0"/>
          </a:p>
        </p:txBody>
      </p:sp>
      <p:sp>
        <p:nvSpPr>
          <p:cNvPr id="4" name="Text 2"/>
          <p:cNvSpPr/>
          <p:nvPr/>
        </p:nvSpPr>
        <p:spPr>
          <a:xfrm>
            <a:off x="594360" y="749808"/>
            <a:ext cx="8138160" cy="237744"/>
          </a:xfrm>
          <a:prstGeom prst="rect">
            <a:avLst/>
          </a:prstGeom>
          <a:noFill/>
          <a:ln/>
        </p:spPr>
        <p:txBody>
          <a:bodyPr wrap="square" lIns="0" tIns="0" rIns="0" bIns="0" rtlCol="0" anchor="ctr"/>
          <a:lstStyle/>
          <a:p>
            <a:pPr marL="0" indent="0">
              <a:buNone/>
            </a:pPr>
            <a:r>
              <a:rPr lang="en-US" sz="980" dirty="0">
                <a:solidFill>
                  <a:srgbClr val="64748B"/>
                </a:solidFill>
              </a:rPr>
              <a:t>The idea is strong and covers the requested outcomes and suggested features.</a:t>
            </a:r>
            <a:endParaRPr lang="en-US" sz="980" dirty="0"/>
          </a:p>
        </p:txBody>
      </p:sp>
      <p:sp>
        <p:nvSpPr>
          <p:cNvPr id="5" name="Shape 3"/>
          <p:cNvSpPr/>
          <p:nvPr/>
        </p:nvSpPr>
        <p:spPr>
          <a:xfrm>
            <a:off x="10927080" y="256032"/>
            <a:ext cx="658368" cy="658368"/>
          </a:xfrm>
          <a:prstGeom prst="arc">
            <a:avLst/>
          </a:prstGeom>
          <a:noFill/>
          <a:ln w="27940">
            <a:solidFill>
              <a:srgbClr val="14B8A6"/>
            </a:solidFill>
            <a:prstDash val="solid"/>
            <a:headEnd type="none"/>
            <a:tailEnd type="none"/>
          </a:ln>
        </p:spPr>
      </p:sp>
      <p:sp>
        <p:nvSpPr>
          <p:cNvPr id="6" name="Shape 4"/>
          <p:cNvSpPr/>
          <p:nvPr/>
        </p:nvSpPr>
        <p:spPr>
          <a:xfrm>
            <a:off x="11119104" y="429768"/>
            <a:ext cx="640080" cy="640080"/>
          </a:xfrm>
          <a:prstGeom prst="arc">
            <a:avLst/>
          </a:prstGeom>
          <a:noFill/>
          <a:ln w="27940">
            <a:solidFill>
              <a:srgbClr val="2563EB"/>
            </a:solidFill>
            <a:prstDash val="solid"/>
          </a:ln>
        </p:spPr>
      </p:sp>
      <p:sp>
        <p:nvSpPr>
          <p:cNvPr id="7" name="Shape 5"/>
          <p:cNvSpPr/>
          <p:nvPr/>
        </p:nvSpPr>
        <p:spPr>
          <a:xfrm>
            <a:off x="731520" y="1234440"/>
            <a:ext cx="3337560" cy="4297680"/>
          </a:xfrm>
          <a:prstGeom prst="roundRect">
            <a:avLst>
              <a:gd name="adj" fmla="val 3288"/>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sp>
      <p:sp>
        <p:nvSpPr>
          <p:cNvPr id="8" name="Text 6"/>
          <p:cNvSpPr/>
          <p:nvPr/>
        </p:nvSpPr>
        <p:spPr>
          <a:xfrm>
            <a:off x="1024128" y="1554480"/>
            <a:ext cx="2011680" cy="256032"/>
          </a:xfrm>
          <a:prstGeom prst="rect">
            <a:avLst/>
          </a:prstGeom>
          <a:noFill/>
          <a:ln/>
        </p:spPr>
        <p:txBody>
          <a:bodyPr wrap="square" lIns="0" tIns="0" rIns="0" bIns="0" rtlCol="0" anchor="ctr"/>
          <a:lstStyle/>
          <a:p>
            <a:pPr marL="0" indent="0">
              <a:buNone/>
            </a:pPr>
            <a:r>
              <a:rPr lang="en-US" sz="1600" b="1" dirty="0">
                <a:solidFill>
                  <a:srgbClr val="0F172A"/>
                </a:solidFill>
              </a:rPr>
              <a:t>Verdict</a:t>
            </a:r>
            <a:endParaRPr lang="en-US" sz="1600" dirty="0"/>
          </a:p>
        </p:txBody>
      </p:sp>
      <p:sp>
        <p:nvSpPr>
          <p:cNvPr id="9" name="Text 7"/>
          <p:cNvSpPr/>
          <p:nvPr/>
        </p:nvSpPr>
        <p:spPr>
          <a:xfrm>
            <a:off x="1024128" y="2057400"/>
            <a:ext cx="2743200" cy="822960"/>
          </a:xfrm>
          <a:prstGeom prst="rect">
            <a:avLst/>
          </a:prstGeom>
          <a:noFill/>
          <a:ln/>
        </p:spPr>
        <p:txBody>
          <a:bodyPr wrap="square" lIns="0" tIns="0" rIns="0" bIns="0" rtlCol="0" anchor="ctr">
            <a:normAutofit/>
          </a:bodyPr>
          <a:lstStyle/>
          <a:p>
            <a:pPr marL="0" indent="0">
              <a:buNone/>
            </a:pPr>
            <a:r>
              <a:rPr lang="en-US" sz="1400" b="1" dirty="0">
                <a:solidFill>
                  <a:srgbClr val="22C55E"/>
                </a:solidFill>
              </a:rPr>
              <a:t>Expectations: Met</a:t>
            </a:r>
            <a:endParaRPr lang="en-US" sz="1400" dirty="0"/>
          </a:p>
          <a:p>
            <a:pPr marL="0" indent="0">
              <a:buNone/>
            </a:pPr>
            <a:r>
              <a:rPr lang="en-US" sz="1400" b="1" dirty="0">
                <a:solidFill>
                  <a:srgbClr val="22C55E"/>
                </a:solidFill>
              </a:rPr>
              <a:t>Suggested features: Incorporated</a:t>
            </a:r>
            <a:endParaRPr lang="en-US" sz="1400" dirty="0"/>
          </a:p>
          <a:p>
            <a:pPr marL="0" indent="0">
              <a:buNone/>
            </a:pPr>
            <a:r>
              <a:rPr lang="en-US" sz="1400" b="1" dirty="0">
                <a:solidFill>
                  <a:srgbClr val="22C55E"/>
                </a:solidFill>
              </a:rPr>
              <a:t>Cost cutting: Medium to high potential, subject to actual facilities data</a:t>
            </a:r>
            <a:endParaRPr lang="en-US" sz="1400" dirty="0"/>
          </a:p>
        </p:txBody>
      </p:sp>
      <p:sp>
        <p:nvSpPr>
          <p:cNvPr id="10" name="Shape 8"/>
          <p:cNvSpPr/>
          <p:nvPr/>
        </p:nvSpPr>
        <p:spPr>
          <a:xfrm>
            <a:off x="4434840" y="1234440"/>
            <a:ext cx="3337560" cy="4297680"/>
          </a:xfrm>
          <a:prstGeom prst="roundRect">
            <a:avLst>
              <a:gd name="adj" fmla="val 3288"/>
            </a:avLst>
          </a:prstGeom>
          <a:solidFill>
            <a:srgbClr val="EEF2FF"/>
          </a:solidFill>
          <a:ln w="8890">
            <a:solidFill>
              <a:srgbClr val="E2E8F0"/>
            </a:solidFill>
            <a:prstDash val="solid"/>
          </a:ln>
          <a:effectLst>
            <a:outerShdw blurRad="19050" dist="8890" dir="2700000" algn="bl" rotWithShape="0">
              <a:srgbClr val="000000">
                <a:alpha val="10000"/>
              </a:srgbClr>
            </a:outerShdw>
          </a:effectLst>
        </p:spPr>
      </p:sp>
      <p:sp>
        <p:nvSpPr>
          <p:cNvPr id="11" name="Text 9"/>
          <p:cNvSpPr/>
          <p:nvPr/>
        </p:nvSpPr>
        <p:spPr>
          <a:xfrm>
            <a:off x="4736592" y="1554480"/>
            <a:ext cx="2468880" cy="256032"/>
          </a:xfrm>
          <a:prstGeom prst="rect">
            <a:avLst/>
          </a:prstGeom>
          <a:noFill/>
          <a:ln/>
        </p:spPr>
        <p:txBody>
          <a:bodyPr wrap="square" lIns="0" tIns="0" rIns="0" bIns="0" rtlCol="0" anchor="ctr"/>
          <a:lstStyle/>
          <a:p>
            <a:pPr marL="0" indent="0">
              <a:buNone/>
            </a:pPr>
            <a:r>
              <a:rPr lang="en-US" sz="1600" b="1" dirty="0">
                <a:solidFill>
                  <a:srgbClr val="2563EB"/>
                </a:solidFill>
              </a:rPr>
              <a:t>What makes it credible</a:t>
            </a:r>
            <a:endParaRPr lang="en-US" sz="1600" dirty="0"/>
          </a:p>
        </p:txBody>
      </p:sp>
      <p:sp>
        <p:nvSpPr>
          <p:cNvPr id="12" name="Shape 10"/>
          <p:cNvSpPr/>
          <p:nvPr/>
        </p:nvSpPr>
        <p:spPr>
          <a:xfrm>
            <a:off x="4736592" y="2098548"/>
            <a:ext cx="100584" cy="100584"/>
          </a:xfrm>
          <a:prstGeom prst="ellipse">
            <a:avLst/>
          </a:prstGeom>
          <a:solidFill>
            <a:srgbClr val="2563EB"/>
          </a:solidFill>
          <a:ln w="12700">
            <a:solidFill>
              <a:srgbClr val="2563EB"/>
            </a:solidFill>
            <a:prstDash val="solid"/>
          </a:ln>
        </p:spPr>
      </p:sp>
      <p:sp>
        <p:nvSpPr>
          <p:cNvPr id="13" name="Text 11"/>
          <p:cNvSpPr/>
          <p:nvPr/>
        </p:nvSpPr>
        <p:spPr>
          <a:xfrm>
            <a:off x="4919472" y="2057400"/>
            <a:ext cx="256032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Multiple validation signals</a:t>
            </a:r>
            <a:endParaRPr lang="en-US" sz="930" dirty="0"/>
          </a:p>
        </p:txBody>
      </p:sp>
      <p:sp>
        <p:nvSpPr>
          <p:cNvPr id="14" name="Shape 12"/>
          <p:cNvSpPr/>
          <p:nvPr/>
        </p:nvSpPr>
        <p:spPr>
          <a:xfrm>
            <a:off x="4736592" y="2592324"/>
            <a:ext cx="100584" cy="100584"/>
          </a:xfrm>
          <a:prstGeom prst="ellipse">
            <a:avLst/>
          </a:prstGeom>
          <a:solidFill>
            <a:srgbClr val="2563EB"/>
          </a:solidFill>
          <a:ln w="12700">
            <a:solidFill>
              <a:srgbClr val="2563EB"/>
            </a:solidFill>
            <a:prstDash val="solid"/>
          </a:ln>
        </p:spPr>
      </p:sp>
      <p:sp>
        <p:nvSpPr>
          <p:cNvPr id="15" name="Text 13"/>
          <p:cNvSpPr/>
          <p:nvPr/>
        </p:nvSpPr>
        <p:spPr>
          <a:xfrm>
            <a:off x="4919472" y="2551176"/>
            <a:ext cx="256032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Employee-friendly remediation</a:t>
            </a:r>
            <a:endParaRPr lang="en-US" sz="930" dirty="0"/>
          </a:p>
        </p:txBody>
      </p:sp>
      <p:sp>
        <p:nvSpPr>
          <p:cNvPr id="16" name="Shape 14"/>
          <p:cNvSpPr/>
          <p:nvPr/>
        </p:nvSpPr>
        <p:spPr>
          <a:xfrm>
            <a:off x="4736592" y="3086100"/>
            <a:ext cx="100584" cy="100584"/>
          </a:xfrm>
          <a:prstGeom prst="ellipse">
            <a:avLst/>
          </a:prstGeom>
          <a:solidFill>
            <a:srgbClr val="2563EB"/>
          </a:solidFill>
          <a:ln w="12700">
            <a:solidFill>
              <a:srgbClr val="2563EB"/>
            </a:solidFill>
            <a:prstDash val="solid"/>
          </a:ln>
        </p:spPr>
      </p:sp>
      <p:sp>
        <p:nvSpPr>
          <p:cNvPr id="17" name="Text 15"/>
          <p:cNvSpPr/>
          <p:nvPr/>
        </p:nvSpPr>
        <p:spPr>
          <a:xfrm>
            <a:off x="4919472" y="3044952"/>
            <a:ext cx="256032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Manager governance loop</a:t>
            </a:r>
            <a:endParaRPr lang="en-US" sz="930" dirty="0"/>
          </a:p>
        </p:txBody>
      </p:sp>
      <p:sp>
        <p:nvSpPr>
          <p:cNvPr id="18" name="Shape 16"/>
          <p:cNvSpPr/>
          <p:nvPr/>
        </p:nvSpPr>
        <p:spPr>
          <a:xfrm>
            <a:off x="4736592" y="3579876"/>
            <a:ext cx="100584" cy="100584"/>
          </a:xfrm>
          <a:prstGeom prst="ellipse">
            <a:avLst/>
          </a:prstGeom>
          <a:solidFill>
            <a:srgbClr val="2563EB"/>
          </a:solidFill>
          <a:ln w="12700">
            <a:solidFill>
              <a:srgbClr val="2563EB"/>
            </a:solidFill>
            <a:prstDash val="solid"/>
          </a:ln>
        </p:spPr>
      </p:sp>
      <p:sp>
        <p:nvSpPr>
          <p:cNvPr id="19" name="Text 17"/>
          <p:cNvSpPr/>
          <p:nvPr/>
        </p:nvSpPr>
        <p:spPr>
          <a:xfrm>
            <a:off x="4919472" y="3538728"/>
            <a:ext cx="256032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Actionable dashboards</a:t>
            </a:r>
            <a:endParaRPr lang="en-US" sz="930" dirty="0"/>
          </a:p>
        </p:txBody>
      </p:sp>
      <p:sp>
        <p:nvSpPr>
          <p:cNvPr id="20" name="Shape 18"/>
          <p:cNvSpPr/>
          <p:nvPr/>
        </p:nvSpPr>
        <p:spPr>
          <a:xfrm>
            <a:off x="4736592" y="4073652"/>
            <a:ext cx="100584" cy="100584"/>
          </a:xfrm>
          <a:prstGeom prst="ellipse">
            <a:avLst/>
          </a:prstGeom>
          <a:solidFill>
            <a:srgbClr val="2563EB"/>
          </a:solidFill>
          <a:ln w="12700">
            <a:solidFill>
              <a:srgbClr val="2563EB"/>
            </a:solidFill>
            <a:prstDash val="solid"/>
          </a:ln>
        </p:spPr>
      </p:sp>
      <p:sp>
        <p:nvSpPr>
          <p:cNvPr id="21" name="Text 19"/>
          <p:cNvSpPr/>
          <p:nvPr/>
        </p:nvSpPr>
        <p:spPr>
          <a:xfrm>
            <a:off x="4919472" y="4032504"/>
            <a:ext cx="256032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AI-assisted seat recommendations</a:t>
            </a:r>
            <a:endParaRPr lang="en-US" sz="930" dirty="0"/>
          </a:p>
        </p:txBody>
      </p:sp>
      <p:sp>
        <p:nvSpPr>
          <p:cNvPr id="22" name="Shape 20"/>
          <p:cNvSpPr/>
          <p:nvPr/>
        </p:nvSpPr>
        <p:spPr>
          <a:xfrm>
            <a:off x="8119872" y="1234440"/>
            <a:ext cx="3337560" cy="4297680"/>
          </a:xfrm>
          <a:prstGeom prst="roundRect">
            <a:avLst>
              <a:gd name="adj" fmla="val 3288"/>
            </a:avLst>
          </a:prstGeom>
          <a:solidFill>
            <a:srgbClr val="ECFDF5"/>
          </a:solidFill>
          <a:ln w="8890">
            <a:solidFill>
              <a:srgbClr val="E2E8F0"/>
            </a:solidFill>
            <a:prstDash val="solid"/>
          </a:ln>
          <a:effectLst>
            <a:outerShdw blurRad="19050" dist="8890" dir="2700000" algn="bl" rotWithShape="0">
              <a:srgbClr val="000000">
                <a:alpha val="10000"/>
              </a:srgbClr>
            </a:outerShdw>
          </a:effectLst>
        </p:spPr>
      </p:sp>
      <p:sp>
        <p:nvSpPr>
          <p:cNvPr id="23" name="Text 21"/>
          <p:cNvSpPr/>
          <p:nvPr/>
        </p:nvSpPr>
        <p:spPr>
          <a:xfrm>
            <a:off x="8412480" y="1554480"/>
            <a:ext cx="2468880" cy="256032"/>
          </a:xfrm>
          <a:prstGeom prst="rect">
            <a:avLst/>
          </a:prstGeom>
          <a:noFill/>
          <a:ln/>
        </p:spPr>
        <p:txBody>
          <a:bodyPr wrap="square" lIns="0" tIns="0" rIns="0" bIns="0" rtlCol="0" anchor="ctr"/>
          <a:lstStyle/>
          <a:p>
            <a:pPr marL="0" indent="0">
              <a:buNone/>
            </a:pPr>
            <a:r>
              <a:rPr lang="en-US" sz="1600" b="1" dirty="0">
                <a:solidFill>
                  <a:srgbClr val="14B8A6"/>
                </a:solidFill>
              </a:rPr>
              <a:t>Next inputs needed</a:t>
            </a:r>
            <a:endParaRPr lang="en-US" sz="1600" dirty="0"/>
          </a:p>
        </p:txBody>
      </p:sp>
      <p:sp>
        <p:nvSpPr>
          <p:cNvPr id="24" name="Shape 22"/>
          <p:cNvSpPr/>
          <p:nvPr/>
        </p:nvSpPr>
        <p:spPr>
          <a:xfrm>
            <a:off x="8412480" y="2098548"/>
            <a:ext cx="100584" cy="100584"/>
          </a:xfrm>
          <a:prstGeom prst="ellipse">
            <a:avLst/>
          </a:prstGeom>
          <a:solidFill>
            <a:srgbClr val="14B8A6"/>
          </a:solidFill>
          <a:ln w="12700">
            <a:solidFill>
              <a:srgbClr val="14B8A6"/>
            </a:solidFill>
            <a:prstDash val="solid"/>
          </a:ln>
        </p:spPr>
      </p:sp>
      <p:sp>
        <p:nvSpPr>
          <p:cNvPr id="25" name="Text 23"/>
          <p:cNvSpPr/>
          <p:nvPr/>
        </p:nvSpPr>
        <p:spPr>
          <a:xfrm>
            <a:off x="8595360" y="2057400"/>
            <a:ext cx="256032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Current desk count by floor</a:t>
            </a:r>
            <a:endParaRPr lang="en-US" sz="930" dirty="0"/>
          </a:p>
        </p:txBody>
      </p:sp>
      <p:sp>
        <p:nvSpPr>
          <p:cNvPr id="26" name="Shape 24"/>
          <p:cNvSpPr/>
          <p:nvPr/>
        </p:nvSpPr>
        <p:spPr>
          <a:xfrm>
            <a:off x="8412480" y="2592324"/>
            <a:ext cx="100584" cy="100584"/>
          </a:xfrm>
          <a:prstGeom prst="ellipse">
            <a:avLst/>
          </a:prstGeom>
          <a:solidFill>
            <a:srgbClr val="14B8A6"/>
          </a:solidFill>
          <a:ln w="12700">
            <a:solidFill>
              <a:srgbClr val="14B8A6"/>
            </a:solidFill>
            <a:prstDash val="solid"/>
          </a:ln>
        </p:spPr>
      </p:sp>
      <p:sp>
        <p:nvSpPr>
          <p:cNvPr id="27" name="Text 25"/>
          <p:cNvSpPr/>
          <p:nvPr/>
        </p:nvSpPr>
        <p:spPr>
          <a:xfrm>
            <a:off x="8595360" y="2551176"/>
            <a:ext cx="256032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Peak swipe-in by day/shift</a:t>
            </a:r>
            <a:endParaRPr lang="en-US" sz="930" dirty="0"/>
          </a:p>
        </p:txBody>
      </p:sp>
      <p:sp>
        <p:nvSpPr>
          <p:cNvPr id="28" name="Shape 26"/>
          <p:cNvSpPr/>
          <p:nvPr/>
        </p:nvSpPr>
        <p:spPr>
          <a:xfrm>
            <a:off x="8412480" y="3086100"/>
            <a:ext cx="100584" cy="100584"/>
          </a:xfrm>
          <a:prstGeom prst="ellipse">
            <a:avLst/>
          </a:prstGeom>
          <a:solidFill>
            <a:srgbClr val="14B8A6"/>
          </a:solidFill>
          <a:ln w="12700">
            <a:solidFill>
              <a:srgbClr val="14B8A6"/>
            </a:solidFill>
            <a:prstDash val="solid"/>
          </a:ln>
        </p:spPr>
      </p:sp>
      <p:sp>
        <p:nvSpPr>
          <p:cNvPr id="29" name="Text 27"/>
          <p:cNvSpPr/>
          <p:nvPr/>
        </p:nvSpPr>
        <p:spPr>
          <a:xfrm>
            <a:off x="8595360" y="3044952"/>
            <a:ext cx="256032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Current opex per desk/zone</a:t>
            </a:r>
            <a:endParaRPr lang="en-US" sz="930" dirty="0"/>
          </a:p>
        </p:txBody>
      </p:sp>
      <p:sp>
        <p:nvSpPr>
          <p:cNvPr id="30" name="Shape 28"/>
          <p:cNvSpPr/>
          <p:nvPr/>
        </p:nvSpPr>
        <p:spPr>
          <a:xfrm>
            <a:off x="8412480" y="3579876"/>
            <a:ext cx="100584" cy="100584"/>
          </a:xfrm>
          <a:prstGeom prst="ellipse">
            <a:avLst/>
          </a:prstGeom>
          <a:solidFill>
            <a:srgbClr val="14B8A6"/>
          </a:solidFill>
          <a:ln w="12700">
            <a:solidFill>
              <a:srgbClr val="14B8A6"/>
            </a:solidFill>
            <a:prstDash val="solid"/>
          </a:ln>
        </p:spPr>
      </p:sp>
      <p:sp>
        <p:nvSpPr>
          <p:cNvPr id="31" name="Text 29"/>
          <p:cNvSpPr/>
          <p:nvPr/>
        </p:nvSpPr>
        <p:spPr>
          <a:xfrm>
            <a:off x="8595360" y="3538728"/>
            <a:ext cx="256032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LAN signal availability/security review</a:t>
            </a:r>
            <a:endParaRPr lang="en-US" sz="930" dirty="0"/>
          </a:p>
        </p:txBody>
      </p:sp>
      <p:sp>
        <p:nvSpPr>
          <p:cNvPr id="32" name="Shape 30"/>
          <p:cNvSpPr/>
          <p:nvPr/>
        </p:nvSpPr>
        <p:spPr>
          <a:xfrm>
            <a:off x="8412480" y="4073652"/>
            <a:ext cx="100584" cy="100584"/>
          </a:xfrm>
          <a:prstGeom prst="ellipse">
            <a:avLst/>
          </a:prstGeom>
          <a:solidFill>
            <a:srgbClr val="14B8A6"/>
          </a:solidFill>
          <a:ln w="12700">
            <a:solidFill>
              <a:srgbClr val="14B8A6"/>
            </a:solidFill>
            <a:prstDash val="solid"/>
          </a:ln>
        </p:spPr>
      </p:sp>
      <p:sp>
        <p:nvSpPr>
          <p:cNvPr id="33" name="Text 31"/>
          <p:cNvSpPr/>
          <p:nvPr/>
        </p:nvSpPr>
        <p:spPr>
          <a:xfrm>
            <a:off x="8595360" y="4032504"/>
            <a:ext cx="256032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Privacy and data retention policy</a:t>
            </a:r>
            <a:endParaRPr lang="en-US" sz="930" dirty="0"/>
          </a:p>
        </p:txBody>
      </p:sp>
      <p:sp>
        <p:nvSpPr>
          <p:cNvPr id="34"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13</Slides>
  <Notes>13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Copilot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Workspace Management</dc:title>
  <dc:subject>Smart Workspace Management concept deck</dc:subject>
  <dc:creator>Kothapally, Shashith Chandra</dc:creator>
  <cp:lastModifiedBy>Kothapally, Shashith Chandra</cp:lastModifiedBy>
  <cp:revision>2</cp:revision>
  <dcterms:created xsi:type="dcterms:W3CDTF">2026-07-23T12:05:07Z</dcterms:created>
  <dcterms:modified xsi:type="dcterms:W3CDTF">2026-07-23T13:10:06Z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545f6df-ca6b-49b5-b12b-747e06b51c0e_Enabled">
    <vt:lpwstr>true</vt:lpwstr>
  </property>
  <property fmtid="{D5CDD505-2E9C-101B-9397-08002B2CF9AE}" pid="3" name="MSIP_Label_6545f6df-ca6b-49b5-b12b-747e06b51c0e_SetDate">
    <vt:lpwstr>2026-07-23T12:05:07Z</vt:lpwstr>
  </property>
  <property fmtid="{D5CDD505-2E9C-101B-9397-08002B2CF9AE}" pid="4" name="MSIP_Label_6545f6df-ca6b-49b5-b12b-747e06b51c0e_Method">
    <vt:lpwstr>Standard</vt:lpwstr>
  </property>
  <property fmtid="{D5CDD505-2E9C-101B-9397-08002B2CF9AE}" pid="5" name="MSIP_Label_6545f6df-ca6b-49b5-b12b-747e06b51c0e_Name">
    <vt:lpwstr>Confidential</vt:lpwstr>
  </property>
  <property fmtid="{D5CDD505-2E9C-101B-9397-08002B2CF9AE}" pid="6" name="MSIP_Label_6545f6df-ca6b-49b5-b12b-747e06b51c0e_SiteId">
    <vt:lpwstr>649fc29a-ece3-4a3b-a3c1-680a2f035a6e</vt:lpwstr>
  </property>
  <property fmtid="{D5CDD505-2E9C-101B-9397-08002B2CF9AE}" pid="7" name="MSIP_Label_6545f6df-ca6b-49b5-b12b-747e06b51c0e_ActionId">
    <vt:lpwstr>9d3e8fc4-5012-45c9-beda-efd1785d802a</vt:lpwstr>
  </property>
  <property fmtid="{D5CDD505-2E9C-101B-9397-08002B2CF9AE}" pid="8" name="MSIP_Label_6545f6df-ca6b-49b5-b12b-747e06b51c0e_ContentBits">
    <vt:lpwstr>0</vt:lpwstr>
  </property>
</Properties>
</file>