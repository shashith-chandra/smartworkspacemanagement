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5"/>
  </p:normalViewPr>
  <p:slideViewPr>
    <p:cSldViewPr snapToGrid="0" snapToObjects="1">
      <p:cViewPr varScale="1">
        <p:scale>
          <a:sx n="118" d="100"/>
          <a:sy n="118" d="100"/>
        </p:scale>
        <p:origin x="55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DFE6E-6392-7642-9CB0-DB871A054625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A2D95-1B9F-4F4C-8FFB-79701F767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1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CA2D95-1B9F-4F4C-8FFB-79701F7676E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80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767"/>
                </a:solidFill>
                <a:latin typeface="Calibri"/>
              </a:rPr>
              <a:t>MASSMUTUAL  |  INTERNAL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33033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9BBFF"/>
                </a:solidFill>
                <a:latin typeface="Calibri"/>
              </a:rPr>
              <a:t>INTRODUCING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433033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💡 Idea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017520"/>
            <a:ext cx="2926080" cy="914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417793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DDFF"/>
                </a:solidFill>
                <a:latin typeface="Calibri"/>
              </a:rPr>
              <a:t>Where Great Ideas Come to 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86200"/>
            <a:ext cx="44283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99AACC"/>
                </a:solidFill>
                <a:latin typeface="Calibri"/>
              </a:rPr>
              <a:t>A collaborative platform for MassMutual employees to share, </a:t>
            </a:r>
            <a:r>
              <a:rPr sz="1400" b="0" i="0" dirty="0" err="1">
                <a:solidFill>
                  <a:srgbClr val="99AACC"/>
                </a:solidFill>
                <a:latin typeface="Calibri"/>
              </a:rPr>
              <a:t>discover,and</a:t>
            </a:r>
            <a:r>
              <a:rPr sz="1400" b="0" i="0" dirty="0">
                <a:solidFill>
                  <a:srgbClr val="99AACC"/>
                </a:solidFill>
                <a:latin typeface="Calibri"/>
              </a:rPr>
              <a:t> champion ideas that drive innovation across the organization.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Confidential  •  MassMutual Internal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73152" cy="13258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76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F6C"/>
                </a:solidFill>
                <a:latin typeface="Calibr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Why traditional idea-sharing methods fall short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73152" cy="13258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0528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76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F6C"/>
                </a:solidFill>
                <a:latin typeface="Calibri"/>
              </a:rPr>
              <a:t>Introducing Idea Portal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Our solution for collaborative innovation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017520"/>
            <a:ext cx="73152" cy="13258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767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F6C"/>
                </a:solidFill>
                <a:latin typeface="Calibri"/>
              </a:rPr>
              <a:t>Key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What the platform offers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01752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017520"/>
            <a:ext cx="73152" cy="13258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31089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767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F6C"/>
                </a:solidFill>
                <a:latin typeface="Calibri"/>
              </a:rPr>
              <a:t>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How it's built under the hood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73152" cy="13258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767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F6C"/>
                </a:solidFill>
                <a:latin typeface="Calibri"/>
              </a:rPr>
              <a:t>Data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486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How information is structured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572000"/>
            <a:ext cx="54864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572000"/>
            <a:ext cx="73152" cy="13258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10528" y="4663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767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F6C"/>
                </a:solidFill>
                <a:latin typeface="Calibri"/>
              </a:rPr>
              <a:t>Future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486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88"/>
                </a:solidFill>
                <a:latin typeface="Calibri"/>
              </a:rPr>
              <a:t>Where we're taking it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How ideas get lost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365760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2F6C"/>
                </a:solidFill>
                <a:latin typeface="Calibri"/>
              </a:rPr>
              <a:t>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Lost in Inboxes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Great ideas buried in email threads,
never actioned or tracked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463040"/>
            <a:ext cx="365760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002F6C"/>
                </a:solidFill>
                <a:latin typeface="Calibri"/>
              </a:rPr>
              <a:t>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21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No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14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Cross-team ideas stay siloed;
others can't build on them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463040"/>
            <a:ext cx="365760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16002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2F6C"/>
                </a:solidFill>
                <a:latin typeface="Calibri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214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No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146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No standard way to capture,
categorize or prioritize ideas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365760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2F6C"/>
                </a:solidFill>
                <a:latin typeface="Calibri"/>
              </a:rPr>
              <a:t>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15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No Engagement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Ideators get no feedback loop —
no likes, comments, or traction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657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1960" y="3657600"/>
            <a:ext cx="365760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2F6C"/>
                </a:solidFill>
                <a:latin typeface="Calibri"/>
              </a:rPr>
              <a:t>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315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Hard to Discover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>
                <a:solidFill>
                  <a:srgbClr val="333333"/>
                </a:solidFill>
                <a:latin typeface="Calibri"/>
              </a:rPr>
              <a:t>No searchable repository of past
ideas or ongoing initiatives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657600"/>
            <a:ext cx="36576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3657600"/>
            <a:ext cx="3657600" cy="64008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79476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002F6C"/>
                </a:solidFill>
                <a:latin typeface="Calibri"/>
              </a:rPr>
              <a:t>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3159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No Impact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Zero visibility into which ideas
gained momentum or were adopted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Introducing Idea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A dedicated space for MassMutual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029200" cy="50292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09728" cy="502920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 i="0">
                <a:solidFill>
                  <a:srgbClr val="00C767"/>
                </a:solidFill>
                <a:latin typeface="Calibri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One Platform.
Endless Ideas.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CCFF"/>
                </a:solidFill>
                <a:latin typeface="Calibri"/>
              </a:rPr>
              <a:t>Idea Portal gives every MassMutual employee
a structured, engaging, and transparent space
to share ideas — and see them come to life.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417320"/>
            <a:ext cx="60350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60720" y="1417320"/>
            <a:ext cx="73152" cy="10972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1600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2F6C"/>
                </a:solidFill>
                <a:latin typeface="Calibri"/>
              </a:rPr>
              <a:t>🏛️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508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Structured Channels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9202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Organize ideas by department,
theme or project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2651760"/>
            <a:ext cx="60350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0720" y="2651760"/>
            <a:ext cx="73152" cy="10972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89320" y="2834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2F6C"/>
                </a:solidFill>
                <a:latin typeface="Calibri"/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Real-time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54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Likes, comments, mentions
and live notifications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3886200"/>
            <a:ext cx="60350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60720" y="3886200"/>
            <a:ext cx="73152" cy="10972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4069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2F6C"/>
                </a:solidFill>
                <a:latin typeface="Calibri"/>
              </a:rP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Powerful Discovery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389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Search, filter, and sort
across all ideas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5120640"/>
            <a:ext cx="60350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5120640"/>
            <a:ext cx="73152" cy="109728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2F6C"/>
                </a:solidFill>
                <a:latin typeface="Calibri"/>
              </a:rPr>
              <a:t>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212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Access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623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Public, private or
channel-only visibility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Everything employees need to collaborate on ideas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89888"/>
            <a:ext cx="3749039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84632" y="1527048"/>
            <a:ext cx="530352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15087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F6C"/>
                </a:solidFill>
                <a:latin typeface="Calibri"/>
              </a:rPr>
              <a:t>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572768"/>
            <a:ext cx="2788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Idea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" y="2167128"/>
            <a:ext cx="3419855" cy="228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2258568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Create rich ideas with markdown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Tags, media attachments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Draft / Publish / Archive workflow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Multi-channel posting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3" y="1389888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06823" y="1389888"/>
            <a:ext cx="3749039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71415" y="1527048"/>
            <a:ext cx="530352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1415" y="15087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F6C"/>
                </a:solidFill>
                <a:latin typeface="Calibri"/>
              </a:rPr>
              <a:t>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5" y="1572768"/>
            <a:ext cx="2788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Channels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71415" y="2167128"/>
            <a:ext cx="3419855" cy="228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1415" y="2258568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Topic-based idea channels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Subscribe &amp; get notified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Custom rules &amp; permissions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Moderator assignment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93606" y="1389888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93606" y="1389888"/>
            <a:ext cx="3749039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198" y="1527048"/>
            <a:ext cx="530352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198" y="1508760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F6C"/>
                </a:solidFill>
                <a:latin typeface="Calibri"/>
              </a:rPr>
              <a:t>❤️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78" y="1572768"/>
            <a:ext cx="2788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Social Engagement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58198" y="2167128"/>
            <a:ext cx="3419855" cy="228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198" y="2258568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Like &amp; comment on ideas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Threaded replies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@mention teammates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Share &amp; copy link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77056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" y="3877056"/>
            <a:ext cx="3749039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4632" y="4014216"/>
            <a:ext cx="530352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4632" y="39959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F6C"/>
                </a:solidFill>
                <a:latin typeface="Calibri"/>
              </a:rPr>
              <a:t>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" y="4059936"/>
            <a:ext cx="2788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Notifications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" y="4654296"/>
            <a:ext cx="3419855" cy="228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" y="4745736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Real-time via Socket.io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7 notification types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Email / push preferences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Unread badge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6823" y="3877056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3" y="3877056"/>
            <a:ext cx="3749039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71415" y="4014216"/>
            <a:ext cx="530352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71415" y="39959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F6C"/>
                </a:solidFill>
                <a:latin typeface="Calibri"/>
              </a:rPr>
              <a:t>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5" y="4059936"/>
            <a:ext cx="2788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Search &amp; Discovery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71415" y="4654296"/>
            <a:ext cx="3419855" cy="228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71415" y="4745736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Full-text search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Filter by channel &amp; tag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Sort: Recent / Popular / Trending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Paginated results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93606" y="3877056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293606" y="3877056"/>
            <a:ext cx="3749039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458198" y="4014216"/>
            <a:ext cx="530352" cy="53035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58198" y="3995928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2F6C"/>
                </a:solidFill>
                <a:latin typeface="Calibri"/>
              </a:rPr>
              <a:t>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78" y="4059936"/>
            <a:ext cx="27889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Admin &amp; Roles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58198" y="4654296"/>
            <a:ext cx="3419855" cy="22860"/>
          </a:xfrm>
          <a:prstGeom prst="rect">
            <a:avLst/>
          </a:prstGeom>
          <a:solidFill>
            <a:srgbClr val="E8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58198" y="4745736"/>
            <a:ext cx="341985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User / Moderator / Admin roles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Admin dashboard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Role assignment</a:t>
            </a:r>
          </a:p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• Protected routes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Modern, proven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91440" cy="10058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554480" cy="10058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71907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React 18  •  React Router v6  •  MUI v5  •  Axios  •  Socket.io Client  •  React Markdown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91440" cy="10058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1554480" cy="100584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9260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90779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Node.js  •  Express 4  •  JWT Auth  •  Socket.io  •  Multer  •  Nodemailer  •  bcryptjs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91440" cy="1005840"/>
          </a:xfrm>
          <a:prstGeom prst="rect">
            <a:avLst/>
          </a:prstGeom>
          <a:solidFill>
            <a:srgbClr val="00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1554480" cy="1005840"/>
          </a:xfrm>
          <a:prstGeom prst="rect">
            <a:avLst/>
          </a:prstGeom>
          <a:solidFill>
            <a:srgbClr val="00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09651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PostgreSQL 16  •  Sequelize ORM  •  11 tables  •  UUID PKs  •  JSONB  •  Array types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029200"/>
            <a:ext cx="1143000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91440" cy="10058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029200"/>
            <a:ext cx="1554480" cy="100584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53035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DevOps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285232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Nodemon  •  Concurrently  •  pg_dump backup scripts  •  DBeaver  •  .env config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How the pieces connect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2926080" cy="4389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2926080" cy="73152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F6C"/>
                </a:solidFill>
                <a:latin typeface="Calibri"/>
              </a:rPr>
              <a:t>🌐  Browser /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2F6C"/>
                </a:solidFill>
                <a:latin typeface="Calibri"/>
              </a:rPr>
              <a:t>Home  •  Feed  •  IdeaDetail</a:t>
            </a:r>
          </a:p>
          <a:p>
            <a:pPr algn="l"/>
            <a:r>
              <a:rPr sz="1100" b="0">
                <a:solidFill>
                  <a:srgbClr val="002F6C"/>
                </a:solidFill>
                <a:latin typeface="Calibri"/>
              </a:rPr>
              <a:t>CreateIdea  •  Channels</a:t>
            </a:r>
          </a:p>
          <a:p>
            <a:pPr algn="l"/>
            <a:r>
              <a:rPr sz="1100" b="0">
                <a:solidFill>
                  <a:srgbClr val="002F6C"/>
                </a:solidFill>
                <a:latin typeface="Calibri"/>
              </a:rPr>
              <a:t>Profile  •  Notifications</a:t>
            </a:r>
          </a:p>
          <a:p>
            <a:pPr algn="l"/>
            <a:r>
              <a:rPr sz="1100" b="0">
                <a:solidFill>
                  <a:srgbClr val="002F6C"/>
                </a:solidFill>
                <a:latin typeface="Calibri"/>
              </a:rPr>
              <a:t>Admin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66160"/>
            <a:ext cx="2651760" cy="36576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7033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F6C"/>
                </a:solidFill>
                <a:latin typeface="Calibri"/>
              </a:rPr>
              <a:t>React Context (Auth + Socket)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F6C"/>
                </a:solidFill>
                <a:latin typeface="Calibri"/>
              </a:rPr>
              <a:t>MUI + Custom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F6C"/>
                </a:solidFill>
                <a:latin typeface="Calibri"/>
              </a:rPr>
              <a:t>Axios HTTP 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2F6C"/>
                </a:solidFill>
                <a:latin typeface="Calibri"/>
              </a:rPr>
              <a:t>Socket.io client (real-time)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004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REST API
(HTTP/S)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3657600"/>
            <a:ext cx="137160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46320" y="1554480"/>
            <a:ext cx="2743200" cy="43891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46320" y="1554480"/>
            <a:ext cx="2743200" cy="73152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⚙️  Express API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19456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JWT Auth Middleware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RBAC (user/mod/admin)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Routes: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/api/auth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/api/ideas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/api/channels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/api/comments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/api/notifications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Socket.io (real-time)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Multer (file uploads)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Nodemailer (email)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20040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Sequelize
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657600"/>
            <a:ext cx="1188720" cy="45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61120" y="1554480"/>
            <a:ext cx="2834640" cy="438912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961120" y="1554480"/>
            <a:ext cx="2834640" cy="73152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5256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75A"/>
                </a:solidFill>
                <a:latin typeface="Calibri"/>
              </a:rPr>
              <a:t>🗄️  PostgreSQL 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19456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users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ideas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channels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comments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notifications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idea_likes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idea_channels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user_channel_subscriptions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channel_moderators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comment_likes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Calibri"/>
              </a:rPr>
              <a:t>• comment_mentions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120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0C767"/>
                </a:solidFill>
                <a:latin typeface="Calibri"/>
              </a:rPr>
              <a:t>⚡ Socket.io
(real-time events)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11 tables — fully relational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41148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96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id (UUID PK)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username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email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password (bcrypt)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role (enum)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bio, avatar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463040"/>
            <a:ext cx="22860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34640" y="1463040"/>
            <a:ext cx="2286000" cy="411480"/>
          </a:xfrm>
          <a:prstGeom prst="rect">
            <a:avLst/>
          </a:prstGeom>
          <a:solidFill>
            <a:srgbClr val="004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14996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ideas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65960"/>
            <a:ext cx="2148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id (UUID PK)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title, description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authorId (FK)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tags [], media JSONB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visibility / status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likeCount, viewCount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46304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394960" y="1463040"/>
            <a:ext cx="2286000" cy="411480"/>
          </a:xfrm>
          <a:prstGeom prst="rect">
            <a:avLst/>
          </a:prstGeom>
          <a:solidFill>
            <a:srgbClr val="005E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0" y="14996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96596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id (UUID PK)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name, slug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creatorId (FK)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rules []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postingPermissions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subscriberCount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463040"/>
            <a:ext cx="22860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1463040"/>
            <a:ext cx="2286000" cy="411480"/>
          </a:xfrm>
          <a:prstGeom prst="rect">
            <a:avLst/>
          </a:prstGeom>
          <a:solidFill>
            <a:srgbClr val="007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19" y="149961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19" y="1965960"/>
            <a:ext cx="2148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id (UUID PK)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content (2000)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authorId (FK)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ideaId (FK)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parentCommentId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isEdited, isDeleted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463040"/>
            <a:ext cx="192024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149840" y="1463040"/>
            <a:ext cx="1920240" cy="411480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0" y="1499616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65960"/>
            <a:ext cx="1783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id (UUID PK)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recipientId (FK)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senderId (FK)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type (7 types)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title, message</a:t>
            </a:r>
          </a:p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isRead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663440"/>
            <a:ext cx="192024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663440"/>
            <a:ext cx="1920240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773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⇌  idea_likes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4663440"/>
            <a:ext cx="192024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423160" y="4663440"/>
            <a:ext cx="1920240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14600" y="4773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⇌  idea_channels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4663440"/>
            <a:ext cx="201168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0" y="4663440"/>
            <a:ext cx="2011680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0" y="4773168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⇌  user_channel_subscriptions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663440"/>
            <a:ext cx="192024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20840" y="4663440"/>
            <a:ext cx="1920240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12280" y="4773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⇌  channel_moderators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4663440"/>
            <a:ext cx="192024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69680" y="4663440"/>
            <a:ext cx="1920240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0" y="4773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⇌  comment_likes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61320" y="4663440"/>
            <a:ext cx="1920240" cy="685800"/>
          </a:xfrm>
          <a:prstGeom prst="rect">
            <a:avLst/>
          </a:prstGeom>
          <a:solidFill>
            <a:srgbClr val="F0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0561320" y="4663440"/>
            <a:ext cx="1920240" cy="64008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652760" y="47731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875A"/>
                </a:solidFill>
                <a:latin typeface="Calibri"/>
              </a:rPr>
              <a:t>⇌  comment_mentions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  <a:latin typeface="Calibri"/>
              </a:rPr>
              <a:t>Junction tables (many-to-many)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User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From sign-up to idea champion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103120" cy="73152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1560" y="1371600"/>
            <a:ext cx="731520" cy="7315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Register /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Create account
or sign in with
MassMutual creds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76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82880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06040" y="1828800"/>
            <a:ext cx="2103120" cy="73152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91840" y="1371600"/>
            <a:ext cx="731520" cy="7315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011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Explore Feed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Calibri"/>
              </a:rPr>
              <a:t>Browse ideas,
filter by channel,
tag or trending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767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82880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0" y="1828800"/>
            <a:ext cx="2103120" cy="73152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2120" y="1371600"/>
            <a:ext cx="731520" cy="7315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2011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Share an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Write, tag, pick
channels, and
publish instantly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767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182880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86600" y="1828800"/>
            <a:ext cx="2103120" cy="73152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772400" y="1371600"/>
            <a:ext cx="731520" cy="7315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011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Get 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Receive likes,
comments &amp;
real-time alerts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767"/>
                </a:solidFill>
                <a:latin typeface="Calibri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1828800"/>
            <a:ext cx="210312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326880" y="1828800"/>
            <a:ext cx="2103120" cy="73152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1371600"/>
            <a:ext cx="731520" cy="731520"/>
          </a:xfrm>
          <a:prstGeom prst="rect">
            <a:avLst/>
          </a:prstGeom>
          <a:solidFill>
            <a:srgbClr val="002F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12680" y="1389888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20116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F6C"/>
                </a:solidFill>
                <a:latin typeface="Calibri"/>
              </a:rPr>
              <a:t>Track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6060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View counts, shares
and traction grow
over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498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FF"/>
                </a:solidFill>
                <a:latin typeface="Calibri"/>
              </a:rPr>
              <a:t>The impact of structured innovation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029200" cy="100584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91440" cy="10058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767"/>
                </a:solidFill>
                <a:latin typeface="Calibri"/>
              </a:rP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645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FF"/>
                </a:solidFill>
                <a:latin typeface="Calibri"/>
              </a:rPr>
              <a:t>Ideas captured, not lost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43200"/>
            <a:ext cx="5029200" cy="100584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91440" cy="10058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9443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767"/>
                </a:solidFill>
                <a:latin typeface="Calibr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834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FF"/>
                </a:solidFill>
                <a:latin typeface="Calibri"/>
              </a:rPr>
              <a:t>Real-time collaboration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029200" cy="100584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91440" cy="10058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4133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767"/>
                </a:solidFill>
                <a:latin typeface="Calibri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FF"/>
                </a:solidFill>
                <a:latin typeface="Calibri"/>
              </a:rPr>
              <a:t>Searchable idea repository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5029200" cy="100584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120640"/>
            <a:ext cx="91440" cy="10058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32180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C767"/>
                </a:solidFill>
                <a:latin typeface="Calibri"/>
              </a:rPr>
              <a:t>🏛️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394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FF"/>
                </a:solidFill>
                <a:latin typeface="Calibri"/>
              </a:rPr>
              <a:t>Interconnected data tables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1417320"/>
            <a:ext cx="5943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852160" y="1417320"/>
            <a:ext cx="109728" cy="502920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72200" y="1645920"/>
            <a:ext cx="562356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Every employee gets a voice — not just leaders</a:t>
            </a:r>
          </a:p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Ideas are searchable, discoverable, and persistent</a:t>
            </a:r>
          </a:p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Social signals surface the best ideas organically</a:t>
            </a:r>
          </a:p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Channels align ideas with business priorities</a:t>
            </a:r>
          </a:p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Notifications keep creators engaged and informed</a:t>
            </a:r>
          </a:p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Draft workflow encourages ideas at all stages</a:t>
            </a:r>
          </a:p>
          <a:p>
            <a:pPr algn="l"/>
            <a:r>
              <a:rPr sz="1250" b="0" dirty="0">
                <a:solidFill>
                  <a:srgbClr val="333333"/>
                </a:solidFill>
                <a:latin typeface="Calibri"/>
              </a:rPr>
              <a:t>✅  Built on open, proven, scalable technology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0" y="0"/>
            <a:ext cx="3657600" cy="3657600"/>
          </a:xfrm>
          <a:prstGeom prst="rect">
            <a:avLst/>
          </a:prstGeom>
          <a:solidFill>
            <a:srgbClr val="002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058400" y="3200400"/>
            <a:ext cx="2743200" cy="2743200"/>
          </a:xfrm>
          <a:prstGeom prst="rect">
            <a:avLst/>
          </a:prstGeom>
          <a:solidFill>
            <a:srgbClr val="003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00C767"/>
                </a:solidFill>
                <a:latin typeface="Calibri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49039"/>
            <a:ext cx="3200400" cy="91440"/>
          </a:xfrm>
          <a:prstGeom prst="rect">
            <a:avLst/>
          </a:prstGeom>
          <a:solidFill>
            <a:srgbClr val="00C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9776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DDFF"/>
                </a:solidFill>
                <a:latin typeface="Calibri"/>
              </a:rPr>
              <a:t>Let's build a culture of innovation — one idea at a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9BB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99"/>
                </a:solidFill>
                <a:latin typeface="Calibri"/>
              </a:rPr>
              <a:t>Confidential  •  MassMutual Internal  •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998</Words>
  <Application>Microsoft Macintosh PowerPoint</Application>
  <PresentationFormat>Custom</PresentationFormat>
  <Paragraphs>241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Hari Krishna, Thoka</cp:lastModifiedBy>
  <cp:revision>3</cp:revision>
  <dcterms:created xsi:type="dcterms:W3CDTF">2013-01-27T09:14:16Z</dcterms:created>
  <dcterms:modified xsi:type="dcterms:W3CDTF">2026-04-21T14:41:48Z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f1df539-6093-4ec5-baaa-eb0dcc11254e_Enabled">
    <vt:lpwstr>true</vt:lpwstr>
  </property>
  <property fmtid="{D5CDD505-2E9C-101B-9397-08002B2CF9AE}" pid="3" name="MSIP_Label_1f1df539-6093-4ec5-baaa-eb0dcc11254e_SetDate">
    <vt:lpwstr>2026-04-21T14:27:18Z</vt:lpwstr>
  </property>
  <property fmtid="{D5CDD505-2E9C-101B-9397-08002B2CF9AE}" pid="4" name="MSIP_Label_1f1df539-6093-4ec5-baaa-eb0dcc11254e_Method">
    <vt:lpwstr>Standard</vt:lpwstr>
  </property>
  <property fmtid="{D5CDD505-2E9C-101B-9397-08002B2CF9AE}" pid="5" name="MSIP_Label_1f1df539-6093-4ec5-baaa-eb0dcc11254e_Name">
    <vt:lpwstr>General</vt:lpwstr>
  </property>
  <property fmtid="{D5CDD505-2E9C-101B-9397-08002B2CF9AE}" pid="6" name="MSIP_Label_1f1df539-6093-4ec5-baaa-eb0dcc11254e_SiteId">
    <vt:lpwstr>649fc29a-ece3-4a3b-a3c1-680a2f035a6e</vt:lpwstr>
  </property>
  <property fmtid="{D5CDD505-2E9C-101B-9397-08002B2CF9AE}" pid="7" name="MSIP_Label_1f1df539-6093-4ec5-baaa-eb0dcc11254e_ActionId">
    <vt:lpwstr>ae93ad53-e31d-4233-9af9-c58b0a2de31f</vt:lpwstr>
  </property>
  <property fmtid="{D5CDD505-2E9C-101B-9397-08002B2CF9AE}" pid="8" name="MSIP_Label_1f1df539-6093-4ec5-baaa-eb0dcc11254e_ContentBits">
    <vt:lpwstr>0</vt:lpwstr>
  </property>
  <property fmtid="{D5CDD505-2E9C-101B-9397-08002B2CF9AE}" pid="9" name="MSIP_Label_1f1df539-6093-4ec5-baaa-eb0dcc11254e_Tag">
    <vt:lpwstr>50, 3, 0, 1</vt:lpwstr>
  </property>
</Properties>
</file>