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275C1-E554-49FE-9263-F60EBDCBDC84}" v="1" dt="2026-07-23T13:37:41.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thapally, Shashith Chandra" userId="d40fd5eb-0e71-45e8-b79a-6edd84f24b87" providerId="ADAL" clId="{0AB62B68-AB8B-49A6-8A4D-70EC44C71F96}"/>
    <pc:docChg chg="undo custSel addSld delSld modSld">
      <pc:chgData name="Kothapally, Shashith Chandra" userId="d40fd5eb-0e71-45e8-b79a-6edd84f24b87" providerId="ADAL" clId="{0AB62B68-AB8B-49A6-8A4D-70EC44C71F96}" dt="2026-07-23T13:37:54.439" v="51" actId="20577"/>
      <pc:docMkLst>
        <pc:docMk/>
      </pc:docMkLst>
      <pc:sldChg chg="delSp modSp mod">
        <pc:chgData name="Kothapally, Shashith Chandra" userId="d40fd5eb-0e71-45e8-b79a-6edd84f24b87" providerId="ADAL" clId="{0AB62B68-AB8B-49A6-8A4D-70EC44C71F96}" dt="2026-07-23T13:22:03.930" v="27" actId="478"/>
        <pc:sldMkLst>
          <pc:docMk/>
          <pc:sldMk cId="0" sldId="256"/>
        </pc:sldMkLst>
        <pc:spChg chg="del">
          <ac:chgData name="Kothapally, Shashith Chandra" userId="d40fd5eb-0e71-45e8-b79a-6edd84f24b87" providerId="ADAL" clId="{0AB62B68-AB8B-49A6-8A4D-70EC44C71F96}" dt="2026-07-23T13:21:58.643" v="25" actId="478"/>
          <ac:spMkLst>
            <pc:docMk/>
            <pc:sldMk cId="0" sldId="256"/>
            <ac:spMk id="6" creationId="{00000000-0000-0000-0000-000000000000}"/>
          </ac:spMkLst>
        </pc:spChg>
        <pc:spChg chg="del mod">
          <ac:chgData name="Kothapally, Shashith Chandra" userId="d40fd5eb-0e71-45e8-b79a-6edd84f24b87" providerId="ADAL" clId="{0AB62B68-AB8B-49A6-8A4D-70EC44C71F96}" dt="2026-07-23T13:22:03.930" v="27" actId="478"/>
          <ac:spMkLst>
            <pc:docMk/>
            <pc:sldMk cId="0" sldId="256"/>
            <ac:spMk id="7" creationId="{00000000-0000-0000-0000-000000000000}"/>
          </ac:spMkLst>
        </pc:spChg>
      </pc:sldChg>
      <pc:sldChg chg="modSp mod">
        <pc:chgData name="Kothapally, Shashith Chandra" userId="d40fd5eb-0e71-45e8-b79a-6edd84f24b87" providerId="ADAL" clId="{0AB62B68-AB8B-49A6-8A4D-70EC44C71F96}" dt="2026-07-23T13:37:42.801" v="43" actId="20577"/>
        <pc:sldMkLst>
          <pc:docMk/>
          <pc:sldMk cId="0" sldId="258"/>
        </pc:sldMkLst>
        <pc:spChg chg="mod">
          <ac:chgData name="Kothapally, Shashith Chandra" userId="d40fd5eb-0e71-45e8-b79a-6edd84f24b87" providerId="ADAL" clId="{0AB62B68-AB8B-49A6-8A4D-70EC44C71F96}" dt="2026-07-23T13:37:41.557" v="33" actId="27636"/>
          <ac:spMkLst>
            <pc:docMk/>
            <pc:sldMk cId="0" sldId="258"/>
            <ac:spMk id="10" creationId="{00000000-0000-0000-0000-000000000000}"/>
          </ac:spMkLst>
        </pc:spChg>
        <pc:spChg chg="mod">
          <ac:chgData name="Kothapally, Shashith Chandra" userId="d40fd5eb-0e71-45e8-b79a-6edd84f24b87" providerId="ADAL" clId="{0AB62B68-AB8B-49A6-8A4D-70EC44C71F96}" dt="2026-07-23T13:37:41.546" v="32" actId="27636"/>
          <ac:spMkLst>
            <pc:docMk/>
            <pc:sldMk cId="0" sldId="258"/>
            <ac:spMk id="16" creationId="{00000000-0000-0000-0000-000000000000}"/>
          </ac:spMkLst>
        </pc:spChg>
        <pc:spChg chg="mod">
          <ac:chgData name="Kothapally, Shashith Chandra" userId="d40fd5eb-0e71-45e8-b79a-6edd84f24b87" providerId="ADAL" clId="{0AB62B68-AB8B-49A6-8A4D-70EC44C71F96}" dt="2026-07-23T13:37:42.801" v="43" actId="20577"/>
          <ac:spMkLst>
            <pc:docMk/>
            <pc:sldMk cId="0" sldId="258"/>
            <ac:spMk id="24" creationId="{00000000-0000-0000-0000-000000000000}"/>
          </ac:spMkLst>
        </pc:spChg>
      </pc:sldChg>
      <pc:sldChg chg="modSp mod">
        <pc:chgData name="Kothapally, Shashith Chandra" userId="d40fd5eb-0e71-45e8-b79a-6edd84f24b87" providerId="ADAL" clId="{0AB62B68-AB8B-49A6-8A4D-70EC44C71F96}" dt="2026-07-23T13:37:54.439" v="51" actId="20577"/>
        <pc:sldMkLst>
          <pc:docMk/>
          <pc:sldMk cId="0" sldId="259"/>
        </pc:sldMkLst>
        <pc:spChg chg="mod">
          <ac:chgData name="Kothapally, Shashith Chandra" userId="d40fd5eb-0e71-45e8-b79a-6edd84f24b87" providerId="ADAL" clId="{0AB62B68-AB8B-49A6-8A4D-70EC44C71F96}" dt="2026-07-23T13:37:54.439" v="51" actId="20577"/>
          <ac:spMkLst>
            <pc:docMk/>
            <pc:sldMk cId="0" sldId="259"/>
            <ac:spMk id="12" creationId="{00000000-0000-0000-0000-000000000000}"/>
          </ac:spMkLst>
        </pc:spChg>
      </pc:sldChg>
      <pc:sldChg chg="delSp modSp mod">
        <pc:chgData name="Kothapally, Shashith Chandra" userId="d40fd5eb-0e71-45e8-b79a-6edd84f24b87" providerId="ADAL" clId="{0AB62B68-AB8B-49A6-8A4D-70EC44C71F96}" dt="2026-07-23T13:37:41.607" v="36" actId="27636"/>
        <pc:sldMkLst>
          <pc:docMk/>
          <pc:sldMk cId="0" sldId="260"/>
        </pc:sldMkLst>
        <pc:spChg chg="mod">
          <ac:chgData name="Kothapally, Shashith Chandra" userId="d40fd5eb-0e71-45e8-b79a-6edd84f24b87" providerId="ADAL" clId="{0AB62B68-AB8B-49A6-8A4D-70EC44C71F96}" dt="2026-07-23T13:20:40.650" v="24" actId="1076"/>
          <ac:spMkLst>
            <pc:docMk/>
            <pc:sldMk cId="0" sldId="260"/>
            <ac:spMk id="2" creationId="{00000000-0000-0000-0000-000000000000}"/>
          </ac:spMkLst>
        </pc:spChg>
        <pc:spChg chg="mod">
          <ac:chgData name="Kothapally, Shashith Chandra" userId="d40fd5eb-0e71-45e8-b79a-6edd84f24b87" providerId="ADAL" clId="{0AB62B68-AB8B-49A6-8A4D-70EC44C71F96}" dt="2026-07-23T13:37:41.592" v="34" actId="27636"/>
          <ac:spMkLst>
            <pc:docMk/>
            <pc:sldMk cId="0" sldId="260"/>
            <ac:spMk id="15" creationId="{00000000-0000-0000-0000-000000000000}"/>
          </ac:spMkLst>
        </pc:spChg>
        <pc:spChg chg="mod">
          <ac:chgData name="Kothapally, Shashith Chandra" userId="d40fd5eb-0e71-45e8-b79a-6edd84f24b87" providerId="ADAL" clId="{0AB62B68-AB8B-49A6-8A4D-70EC44C71F96}" dt="2026-07-23T13:37:41.607" v="36" actId="27636"/>
          <ac:spMkLst>
            <pc:docMk/>
            <pc:sldMk cId="0" sldId="260"/>
            <ac:spMk id="20" creationId="{00000000-0000-0000-0000-000000000000}"/>
          </ac:spMkLst>
        </pc:spChg>
        <pc:spChg chg="mod">
          <ac:chgData name="Kothapally, Shashith Chandra" userId="d40fd5eb-0e71-45e8-b79a-6edd84f24b87" providerId="ADAL" clId="{0AB62B68-AB8B-49A6-8A4D-70EC44C71F96}" dt="2026-07-23T13:20:39.917" v="23" actId="1038"/>
          <ac:spMkLst>
            <pc:docMk/>
            <pc:sldMk cId="0" sldId="260"/>
            <ac:spMk id="36" creationId="{00000000-0000-0000-0000-000000000000}"/>
          </ac:spMkLst>
        </pc:spChg>
        <pc:spChg chg="mod">
          <ac:chgData name="Kothapally, Shashith Chandra" userId="d40fd5eb-0e71-45e8-b79a-6edd84f24b87" providerId="ADAL" clId="{0AB62B68-AB8B-49A6-8A4D-70EC44C71F96}" dt="2026-07-23T13:37:41.602" v="35" actId="27636"/>
          <ac:spMkLst>
            <pc:docMk/>
            <pc:sldMk cId="0" sldId="260"/>
            <ac:spMk id="38" creationId="{00000000-0000-0000-0000-000000000000}"/>
          </ac:spMkLst>
        </pc:spChg>
        <pc:spChg chg="del">
          <ac:chgData name="Kothapally, Shashith Chandra" userId="d40fd5eb-0e71-45e8-b79a-6edd84f24b87" providerId="ADAL" clId="{0AB62B68-AB8B-49A6-8A4D-70EC44C71F96}" dt="2026-07-23T13:20:08.876" v="8" actId="478"/>
          <ac:spMkLst>
            <pc:docMk/>
            <pc:sldMk cId="0" sldId="260"/>
            <ac:spMk id="39" creationId="{00000000-0000-0000-0000-000000000000}"/>
          </ac:spMkLst>
        </pc:spChg>
        <pc:spChg chg="del mod">
          <ac:chgData name="Kothapally, Shashith Chandra" userId="d40fd5eb-0e71-45e8-b79a-6edd84f24b87" providerId="ADAL" clId="{0AB62B68-AB8B-49A6-8A4D-70EC44C71F96}" dt="2026-07-23T13:20:16.894" v="10" actId="478"/>
          <ac:spMkLst>
            <pc:docMk/>
            <pc:sldMk cId="0" sldId="260"/>
            <ac:spMk id="40" creationId="{00000000-0000-0000-0000-000000000000}"/>
          </ac:spMkLst>
        </pc:spChg>
        <pc:spChg chg="del">
          <ac:chgData name="Kothapally, Shashith Chandra" userId="d40fd5eb-0e71-45e8-b79a-6edd84f24b87" providerId="ADAL" clId="{0AB62B68-AB8B-49A6-8A4D-70EC44C71F96}" dt="2026-07-23T13:20:19.025" v="11" actId="478"/>
          <ac:spMkLst>
            <pc:docMk/>
            <pc:sldMk cId="0" sldId="260"/>
            <ac:spMk id="41" creationId="{00000000-0000-0000-0000-000000000000}"/>
          </ac:spMkLst>
        </pc:spChg>
      </pc:sldChg>
      <pc:sldChg chg="modSp mod">
        <pc:chgData name="Kothapally, Shashith Chandra" userId="d40fd5eb-0e71-45e8-b79a-6edd84f24b87" providerId="ADAL" clId="{0AB62B68-AB8B-49A6-8A4D-70EC44C71F96}" dt="2026-07-23T13:37:41.649" v="38" actId="27636"/>
        <pc:sldMkLst>
          <pc:docMk/>
          <pc:sldMk cId="0" sldId="263"/>
        </pc:sldMkLst>
        <pc:spChg chg="mod">
          <ac:chgData name="Kothapally, Shashith Chandra" userId="d40fd5eb-0e71-45e8-b79a-6edd84f24b87" providerId="ADAL" clId="{0AB62B68-AB8B-49A6-8A4D-70EC44C71F96}" dt="2026-07-23T13:37:41.649" v="38" actId="27636"/>
          <ac:spMkLst>
            <pc:docMk/>
            <pc:sldMk cId="0" sldId="263"/>
            <ac:spMk id="14" creationId="{00000000-0000-0000-0000-000000000000}"/>
          </ac:spMkLst>
        </pc:spChg>
        <pc:spChg chg="mod">
          <ac:chgData name="Kothapally, Shashith Chandra" userId="d40fd5eb-0e71-45e8-b79a-6edd84f24b87" providerId="ADAL" clId="{0AB62B68-AB8B-49A6-8A4D-70EC44C71F96}" dt="2026-07-23T13:37:41.639" v="37" actId="27636"/>
          <ac:spMkLst>
            <pc:docMk/>
            <pc:sldMk cId="0" sldId="263"/>
            <ac:spMk id="16" creationId="{00000000-0000-0000-0000-000000000000}"/>
          </ac:spMkLst>
        </pc:spChg>
      </pc:sldChg>
      <pc:sldChg chg="del">
        <pc:chgData name="Kothapally, Shashith Chandra" userId="d40fd5eb-0e71-45e8-b79a-6edd84f24b87" providerId="ADAL" clId="{0AB62B68-AB8B-49A6-8A4D-70EC44C71F96}" dt="2026-07-23T13:19:33.916" v="7" actId="2696"/>
        <pc:sldMkLst>
          <pc:docMk/>
          <pc:sldMk cId="0" sldId="264"/>
        </pc:sldMkLst>
      </pc:sldChg>
      <pc:sldChg chg="delSp modSp mod">
        <pc:chgData name="Kothapally, Shashith Chandra" userId="d40fd5eb-0e71-45e8-b79a-6edd84f24b87" providerId="ADAL" clId="{0AB62B68-AB8B-49A6-8A4D-70EC44C71F96}" dt="2026-07-23T13:28:50.352" v="29" actId="478"/>
        <pc:sldMkLst>
          <pc:docMk/>
          <pc:sldMk cId="0" sldId="265"/>
        </pc:sldMkLst>
        <pc:spChg chg="del mod">
          <ac:chgData name="Kothapally, Shashith Chandra" userId="d40fd5eb-0e71-45e8-b79a-6edd84f24b87" providerId="ADAL" clId="{0AB62B68-AB8B-49A6-8A4D-70EC44C71F96}" dt="2026-07-23T13:28:50.352" v="29" actId="478"/>
          <ac:spMkLst>
            <pc:docMk/>
            <pc:sldMk cId="0" sldId="265"/>
            <ac:spMk id="4" creationId="{00000000-0000-0000-0000-000000000000}"/>
          </ac:spMkLst>
        </pc:spChg>
      </pc:sldChg>
      <pc:sldChg chg="del">
        <pc:chgData name="Kothapally, Shashith Chandra" userId="d40fd5eb-0e71-45e8-b79a-6edd84f24b87" providerId="ADAL" clId="{0AB62B68-AB8B-49A6-8A4D-70EC44C71F96}" dt="2026-07-23T13:19:22.172" v="6" actId="2696"/>
        <pc:sldMkLst>
          <pc:docMk/>
          <pc:sldMk cId="0" sldId="266"/>
        </pc:sldMkLst>
      </pc:sldChg>
      <pc:sldChg chg="del">
        <pc:chgData name="Kothapally, Shashith Chandra" userId="d40fd5eb-0e71-45e8-b79a-6edd84f24b87" providerId="ADAL" clId="{0AB62B68-AB8B-49A6-8A4D-70EC44C71F96}" dt="2026-07-23T13:15:55.598" v="2" actId="2696"/>
        <pc:sldMkLst>
          <pc:docMk/>
          <pc:sldMk cId="0" sldId="267"/>
        </pc:sldMkLst>
      </pc:sldChg>
      <pc:sldChg chg="modSp del mod">
        <pc:chgData name="Kothapally, Shashith Chandra" userId="d40fd5eb-0e71-45e8-b79a-6edd84f24b87" providerId="ADAL" clId="{0AB62B68-AB8B-49A6-8A4D-70EC44C71F96}" dt="2026-07-23T13:17:30.404" v="5" actId="2696"/>
        <pc:sldMkLst>
          <pc:docMk/>
          <pc:sldMk cId="0" sldId="268"/>
        </pc:sldMkLst>
        <pc:spChg chg="mod">
          <ac:chgData name="Kothapally, Shashith Chandra" userId="d40fd5eb-0e71-45e8-b79a-6edd84f24b87" providerId="ADAL" clId="{0AB62B68-AB8B-49A6-8A4D-70EC44C71F96}" dt="2026-07-23T13:16:10.719" v="4" actId="15"/>
          <ac:spMkLst>
            <pc:docMk/>
            <pc:sldMk cId="0" sldId="268"/>
            <ac:spMk id="11" creationId="{00000000-0000-0000-0000-000000000000}"/>
          </ac:spMkLst>
        </pc:spChg>
      </pc:sldChg>
      <pc:sldChg chg="new del">
        <pc:chgData name="Kothapally, Shashith Chandra" userId="d40fd5eb-0e71-45e8-b79a-6edd84f24b87" providerId="ADAL" clId="{0AB62B68-AB8B-49A6-8A4D-70EC44C71F96}" dt="2026-07-23T13:15:23.135" v="1" actId="2696"/>
        <pc:sldMkLst>
          <pc:docMk/>
          <pc:sldMk cId="116241332"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88D605F-9E3E-46E9-8A7C-7E2FB79C3348}" type="datetimeFigureOut">
              <a:t>7/23/2026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4EFAD33-A03A-4643-9719-873565EDC054}" type="slidenum">
              <a:t>‹#›</a:t>
            </a:fld>
            <a:endParaRPr lang="en-US"/>
          </a:p>
        </p:txBody>
      </p:sp>
    </p:spTree>
    <p:extLst>
      <p:ext uri="{BB962C8B-B14F-4D97-AF65-F5344CB8AC3E}">
        <p14:creationId xmlns:p14="http://schemas.microsoft.com/office/powerpoint/2010/main" val="3786585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Concept based on user-provided rough idea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says the solution should help managers and facilities allocate seats efficiently, monitor real-time utilization, support hot seat booking, and use access swipe data to validate occupancy, shift patterns, and access compliance (turn1search25 lines 2-4).
Vizitor hot desking ROI article recommends calculating ROI from current desks, peak-day occupancy plus buffer, and fully loaded per-desk annual cost, rather than copying a generic percentage (turn1search1).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states actual office attendance and seat utilization vary significantly across teams and shifts (turn1search25 line 2).
Internal document &lt;File&gt;Smart Workspace Allocation and access management.docx&lt;/File&gt; lists impacted groups including employees, managers, facilities, security/access management, housekeeping, pantry, maintenance, and leadership (turn1search25 line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User rough idea proposes QR codes at each desk and authentication through Okta after the URL opens.
User rough idea proposes ID card swipe and LAN connection as stronger occupancy signals.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describes QR code as a URL and authentication happening after the user opens the URL.
User rough idea recommends OAuth Authorization Code Flow and notes user details can be retrieved from ID token or userinfo endpoint.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proposes unlocking a desk when LAN is not connected for a stipulated time, with 45 minutes as an example.
User rough idea proposes calendar check and heartbeat-style reminders before releasing a desk.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Visual on this slide was generated with Microsoft Copilot.
Internal document &lt;File&gt;Smart Workspace Allocation and access management.docx&lt;/File&gt; lists suggested features including floor/wing/zone-wise dashboard, manager view, hot seat booking, layout view, swipe-in validation, shift pattern identification, access violation workflow, and utilization reports (turn1search25 line 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User rough idea proposes AI to suggest where teammates are seated and whether adjacent seats are available.
User rough idea proposes favorite seat identification based on preferences such as friends, teammates, or window seat.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Microsoft Copilot.
[Sources]
Internal document &lt;File&gt;Smart Workspace Allocation and access management.docx&lt;/File&gt; lists the same expected outcomes in the challenge document (turn1search25 line 4).
Coverage assessment is based on mapping the user-provided concept to those listed outcomes.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502920" y="6537960"/>
            <a:ext cx="11155680" cy="0"/>
          </a:xfrm>
          <a:prstGeom prst="line">
            <a:avLst/>
          </a:prstGeom>
          <a:noFill/>
          <a:ln w="10160">
            <a:solidFill>
              <a:srgbClr val="DBEAFE"/>
            </a:solidFill>
            <a:prstDash val="solid"/>
          </a:ln>
        </p:spPr>
        <p:txBody>
          <a:bodyPr/>
          <a:lstStyle/>
          <a:p>
            <a:endParaRPr lang="en-US"/>
          </a:p>
        </p:txBody>
      </p:sp>
      <p:sp>
        <p:nvSpPr>
          <p:cNvPr id="3" name="Text 1"/>
          <p:cNvSpPr/>
          <p:nvPr/>
        </p:nvSpPr>
        <p:spPr>
          <a:xfrm>
            <a:off x="566928" y="6574536"/>
            <a:ext cx="4389120" cy="182880"/>
          </a:xfrm>
          <a:prstGeom prst="rect">
            <a:avLst/>
          </a:prstGeom>
          <a:noFill/>
          <a:ln/>
        </p:spPr>
        <p:txBody>
          <a:bodyPr wrap="square" rtlCol="0" anchor="ctr"/>
          <a:lstStyle/>
          <a:p>
            <a:pPr marL="0" indent="0">
              <a:buNone/>
            </a:pPr>
            <a:r>
              <a:rPr lang="en-US" sz="780" dirty="0">
                <a:solidFill>
                  <a:srgbClr val="64748B"/>
                </a:solidFill>
                <a:latin typeface="Aptos" pitchFamily="34" charset="0"/>
                <a:ea typeface="Aptos" pitchFamily="34" charset="-122"/>
                <a:cs typeface="Aptos" pitchFamily="34" charset="-120"/>
              </a:rPr>
              <a:t>Smart Workspace Management</a:t>
            </a:r>
            <a:endParaRPr lang="en-US" sz="78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pic>
        <p:nvPicPr>
          <p:cNvPr id="3" name="Image 0" descr="/mnt/data/4530327b2d.png"/>
          <p:cNvPicPr>
            <a:picLocks noChangeAspect="1"/>
          </p:cNvPicPr>
          <p:nvPr/>
        </p:nvPicPr>
        <p:blipFill>
          <a:blip r:embed="rId3"/>
          <a:srcRect t="7811" b="781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71A2F">
              <a:alpha val="82000"/>
            </a:srgbClr>
          </a:solidFill>
          <a:ln w="12700">
            <a:solidFill>
              <a:srgbClr val="071A2F">
                <a:alpha val="0"/>
              </a:srgbClr>
            </a:solidFill>
            <a:prstDash val="solid"/>
          </a:ln>
        </p:spPr>
        <p:txBody>
          <a:bodyPr/>
          <a:lstStyle/>
          <a:p>
            <a:endParaRPr lang="en-US"/>
          </a:p>
        </p:txBody>
      </p:sp>
      <p:sp>
        <p:nvSpPr>
          <p:cNvPr id="5" name="Shape 2"/>
          <p:cNvSpPr/>
          <p:nvPr/>
        </p:nvSpPr>
        <p:spPr>
          <a:xfrm>
            <a:off x="0" y="0"/>
            <a:ext cx="12191695" cy="6858000"/>
          </a:xfrm>
          <a:prstGeom prst="rect">
            <a:avLst/>
          </a:prstGeom>
          <a:solidFill>
            <a:srgbClr val="000000">
              <a:alpha val="65000"/>
            </a:srgbClr>
          </a:solidFill>
          <a:ln w="12700">
            <a:solidFill>
              <a:srgbClr val="000000">
                <a:alpha val="0"/>
              </a:srgbClr>
            </a:solidFill>
            <a:prstDash val="solid"/>
          </a:ln>
        </p:spPr>
        <p:txBody>
          <a:bodyPr/>
          <a:lstStyle/>
          <a:p>
            <a:endParaRPr lang="en-US"/>
          </a:p>
        </p:txBody>
      </p:sp>
      <p:sp>
        <p:nvSpPr>
          <p:cNvPr id="8" name="Text 5"/>
          <p:cNvSpPr/>
          <p:nvPr/>
        </p:nvSpPr>
        <p:spPr>
          <a:xfrm>
            <a:off x="658368" y="1115568"/>
            <a:ext cx="6126480" cy="118872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Smart Workspace</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Management</a:t>
            </a:r>
            <a:endParaRPr lang="en-US" sz="3800" dirty="0"/>
          </a:p>
        </p:txBody>
      </p:sp>
      <p:sp>
        <p:nvSpPr>
          <p:cNvPr id="9" name="Text 6"/>
          <p:cNvSpPr/>
          <p:nvPr/>
        </p:nvSpPr>
        <p:spPr>
          <a:xfrm>
            <a:off x="694944" y="2606040"/>
            <a:ext cx="6035040" cy="502920"/>
          </a:xfrm>
          <a:prstGeom prst="rect">
            <a:avLst/>
          </a:prstGeom>
          <a:noFill/>
          <a:ln/>
        </p:spPr>
        <p:txBody>
          <a:bodyPr wrap="square" lIns="0" tIns="0" rIns="0" bIns="0" rtlCol="0" anchor="ctr">
            <a:normAutofit/>
          </a:bodyPr>
          <a:lstStyle/>
          <a:p>
            <a:pPr marL="0" indent="0">
              <a:buNone/>
            </a:pPr>
            <a:r>
              <a:rPr lang="en-US" sz="1500" dirty="0">
                <a:solidFill>
                  <a:srgbClr val="E0F2FE"/>
                </a:solidFill>
              </a:rPr>
              <a:t>QR + ID swipe + LAN signal + calendar intelligence to optimize desk usage, employee experience, and facilities cost.</a:t>
            </a:r>
            <a:endParaRPr lang="en-US" sz="1500" dirty="0"/>
          </a:p>
        </p:txBody>
      </p:sp>
      <p:sp>
        <p:nvSpPr>
          <p:cNvPr id="10" name="Shape 7"/>
          <p:cNvSpPr/>
          <p:nvPr/>
        </p:nvSpPr>
        <p:spPr>
          <a:xfrm>
            <a:off x="694944" y="5797296"/>
            <a:ext cx="1645920" cy="292608"/>
          </a:xfrm>
          <a:prstGeom prst="roundRect">
            <a:avLst>
              <a:gd name="adj" fmla="val 25000"/>
            </a:avLst>
          </a:prstGeom>
          <a:solidFill>
            <a:srgbClr val="22C55E"/>
          </a:solidFill>
          <a:ln w="12700">
            <a:solidFill>
              <a:srgbClr val="22C55E"/>
            </a:solidFill>
            <a:prstDash val="solid"/>
          </a:ln>
          <a:effectLst>
            <a:outerShdw blurRad="12700" dist="6350" dir="2700000" algn="bl" rotWithShape="0">
              <a:srgbClr val="000000">
                <a:alpha val="10000"/>
              </a:srgbClr>
            </a:outerShdw>
          </a:effectLst>
        </p:spPr>
        <p:txBody>
          <a:bodyPr/>
          <a:lstStyle/>
          <a:p>
            <a:endParaRPr lang="en-US"/>
          </a:p>
        </p:txBody>
      </p:sp>
      <p:sp>
        <p:nvSpPr>
          <p:cNvPr id="11" name="Text 8"/>
          <p:cNvSpPr/>
          <p:nvPr/>
        </p:nvSpPr>
        <p:spPr>
          <a:xfrm>
            <a:off x="78638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Live seat availability</a:t>
            </a:r>
            <a:endParaRPr lang="en-US" sz="750" dirty="0"/>
          </a:p>
        </p:txBody>
      </p:sp>
      <p:sp>
        <p:nvSpPr>
          <p:cNvPr id="12" name="Shape 9"/>
          <p:cNvSpPr/>
          <p:nvPr/>
        </p:nvSpPr>
        <p:spPr>
          <a:xfrm>
            <a:off x="2615184" y="5797296"/>
            <a:ext cx="164592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txBody>
          <a:bodyPr/>
          <a:lstStyle/>
          <a:p>
            <a:endParaRPr lang="en-US"/>
          </a:p>
        </p:txBody>
      </p:sp>
      <p:sp>
        <p:nvSpPr>
          <p:cNvPr id="13" name="Text 10"/>
          <p:cNvSpPr/>
          <p:nvPr/>
        </p:nvSpPr>
        <p:spPr>
          <a:xfrm>
            <a:off x="270662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Team co-location</a:t>
            </a:r>
            <a:endParaRPr lang="en-US" sz="750" dirty="0"/>
          </a:p>
        </p:txBody>
      </p:sp>
      <p:sp>
        <p:nvSpPr>
          <p:cNvPr id="14" name="Shape 11"/>
          <p:cNvSpPr/>
          <p:nvPr/>
        </p:nvSpPr>
        <p:spPr>
          <a:xfrm>
            <a:off x="4535424" y="5797296"/>
            <a:ext cx="1645920" cy="292608"/>
          </a:xfrm>
          <a:prstGeom prst="roundRect">
            <a:avLst>
              <a:gd name="adj" fmla="val 25000"/>
            </a:avLst>
          </a:prstGeom>
          <a:solidFill>
            <a:srgbClr val="22C55E"/>
          </a:solidFill>
          <a:ln w="12700">
            <a:solidFill>
              <a:srgbClr val="22C55E"/>
            </a:solidFill>
            <a:prstDash val="solid"/>
          </a:ln>
          <a:effectLst>
            <a:outerShdw blurRad="12700" dist="6350" dir="2700000" algn="bl" rotWithShape="0">
              <a:srgbClr val="000000">
                <a:alpha val="10000"/>
              </a:srgbClr>
            </a:outerShdw>
          </a:effectLst>
        </p:spPr>
        <p:txBody>
          <a:bodyPr/>
          <a:lstStyle/>
          <a:p>
            <a:endParaRPr lang="en-US"/>
          </a:p>
        </p:txBody>
      </p:sp>
      <p:sp>
        <p:nvSpPr>
          <p:cNvPr id="15" name="Text 12"/>
          <p:cNvSpPr/>
          <p:nvPr/>
        </p:nvSpPr>
        <p:spPr>
          <a:xfrm>
            <a:off x="462686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Auto-release unused seats</a:t>
            </a:r>
            <a:endParaRPr lang="en-US" sz="750" dirty="0"/>
          </a:p>
        </p:txBody>
      </p:sp>
      <p:sp>
        <p:nvSpPr>
          <p:cNvPr id="16" name="Shape 13"/>
          <p:cNvSpPr/>
          <p:nvPr/>
        </p:nvSpPr>
        <p:spPr>
          <a:xfrm>
            <a:off x="6455664" y="5797296"/>
            <a:ext cx="164592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txBody>
          <a:bodyPr/>
          <a:lstStyle/>
          <a:p>
            <a:endParaRPr lang="en-US"/>
          </a:p>
        </p:txBody>
      </p:sp>
      <p:sp>
        <p:nvSpPr>
          <p:cNvPr id="17" name="Text 14"/>
          <p:cNvSpPr/>
          <p:nvPr/>
        </p:nvSpPr>
        <p:spPr>
          <a:xfrm>
            <a:off x="6547104" y="5865876"/>
            <a:ext cx="1463040" cy="109728"/>
          </a:xfrm>
          <a:prstGeom prst="rect">
            <a:avLst/>
          </a:prstGeom>
          <a:noFill/>
          <a:ln/>
        </p:spPr>
        <p:txBody>
          <a:bodyPr wrap="square" lIns="0" tIns="0" rIns="0" bIns="0" rtlCol="0" anchor="ctr"/>
          <a:lstStyle/>
          <a:p>
            <a:pPr marL="0" indent="0" algn="ctr">
              <a:buNone/>
            </a:pPr>
            <a:r>
              <a:rPr lang="en-US" sz="750" b="1" dirty="0">
                <a:solidFill>
                  <a:srgbClr val="FFFFFF"/>
                </a:solidFill>
              </a:rPr>
              <a:t>Facilities cost optimization</a:t>
            </a:r>
            <a:endParaRPr lang="en-US" sz="7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Executive overview</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single workplace intelligence layer for occupancy, allocation, and operations.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658368"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Text 6"/>
          <p:cNvSpPr/>
          <p:nvPr/>
        </p:nvSpPr>
        <p:spPr>
          <a:xfrm>
            <a:off x="822960" y="1463040"/>
            <a:ext cx="1920240" cy="228600"/>
          </a:xfrm>
          <a:prstGeom prst="rect">
            <a:avLst/>
          </a:prstGeom>
          <a:noFill/>
          <a:ln/>
        </p:spPr>
        <p:txBody>
          <a:bodyPr wrap="square" lIns="0" tIns="0" rIns="0" bIns="0" rtlCol="0" anchor="ctr"/>
          <a:lstStyle/>
          <a:p>
            <a:pPr marL="0" indent="0">
              <a:buNone/>
            </a:pPr>
            <a:r>
              <a:rPr lang="en-US" sz="1300" b="1" dirty="0">
                <a:solidFill>
                  <a:srgbClr val="2563EB"/>
                </a:solidFill>
              </a:rPr>
              <a:t>Problem</a:t>
            </a:r>
            <a:endParaRPr lang="en-US" sz="1300" dirty="0"/>
          </a:p>
        </p:txBody>
      </p:sp>
      <p:sp>
        <p:nvSpPr>
          <p:cNvPr id="9" name="Text 7"/>
          <p:cNvSpPr/>
          <p:nvPr/>
        </p:nvSpPr>
        <p:spPr>
          <a:xfrm>
            <a:off x="822960"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Static allocation does not reflect actual hybrid attendance or shift demand.</a:t>
            </a:r>
            <a:endParaRPr lang="en-US" sz="920" dirty="0"/>
          </a:p>
        </p:txBody>
      </p:sp>
      <p:sp>
        <p:nvSpPr>
          <p:cNvPr id="10" name="Shape 8"/>
          <p:cNvSpPr/>
          <p:nvPr/>
        </p:nvSpPr>
        <p:spPr>
          <a:xfrm>
            <a:off x="3200400"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1" name="Text 9"/>
          <p:cNvSpPr/>
          <p:nvPr/>
        </p:nvSpPr>
        <p:spPr>
          <a:xfrm>
            <a:off x="3364992" y="1463040"/>
            <a:ext cx="1920240" cy="228600"/>
          </a:xfrm>
          <a:prstGeom prst="rect">
            <a:avLst/>
          </a:prstGeom>
          <a:noFill/>
          <a:ln/>
        </p:spPr>
        <p:txBody>
          <a:bodyPr wrap="square" lIns="0" tIns="0" rIns="0" bIns="0" rtlCol="0" anchor="ctr"/>
          <a:lstStyle/>
          <a:p>
            <a:pPr marL="0" indent="0">
              <a:buNone/>
            </a:pPr>
            <a:r>
              <a:rPr lang="en-US" sz="1300" b="1" dirty="0">
                <a:solidFill>
                  <a:srgbClr val="14B8A6"/>
                </a:solidFill>
              </a:rPr>
              <a:t>Approach</a:t>
            </a:r>
            <a:endParaRPr lang="en-US" sz="1300" dirty="0"/>
          </a:p>
        </p:txBody>
      </p:sp>
      <p:sp>
        <p:nvSpPr>
          <p:cNvPr id="12" name="Text 10"/>
          <p:cNvSpPr/>
          <p:nvPr/>
        </p:nvSpPr>
        <p:spPr>
          <a:xfrm>
            <a:off x="3364992"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Fuse QR scan, ID swipe, LAN connection, calendar context, and reminders.</a:t>
            </a:r>
            <a:endParaRPr lang="en-US" sz="920" dirty="0"/>
          </a:p>
        </p:txBody>
      </p:sp>
      <p:sp>
        <p:nvSpPr>
          <p:cNvPr id="13" name="Shape 11"/>
          <p:cNvSpPr/>
          <p:nvPr/>
        </p:nvSpPr>
        <p:spPr>
          <a:xfrm>
            <a:off x="5742432"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4" name="Text 12"/>
          <p:cNvSpPr/>
          <p:nvPr/>
        </p:nvSpPr>
        <p:spPr>
          <a:xfrm>
            <a:off x="5907024" y="1463040"/>
            <a:ext cx="1920240" cy="228600"/>
          </a:xfrm>
          <a:prstGeom prst="rect">
            <a:avLst/>
          </a:prstGeom>
          <a:noFill/>
          <a:ln/>
        </p:spPr>
        <p:txBody>
          <a:bodyPr wrap="square" lIns="0" tIns="0" rIns="0" bIns="0" rtlCol="0" anchor="ctr"/>
          <a:lstStyle/>
          <a:p>
            <a:pPr marL="0" indent="0">
              <a:buNone/>
            </a:pPr>
            <a:r>
              <a:rPr lang="en-US" sz="1300" b="1" dirty="0">
                <a:solidFill>
                  <a:srgbClr val="8B5CF6"/>
                </a:solidFill>
              </a:rPr>
              <a:t>Decision logic</a:t>
            </a:r>
            <a:endParaRPr lang="en-US" sz="1300" dirty="0"/>
          </a:p>
        </p:txBody>
      </p:sp>
      <p:sp>
        <p:nvSpPr>
          <p:cNvPr id="15" name="Text 13"/>
          <p:cNvSpPr/>
          <p:nvPr/>
        </p:nvSpPr>
        <p:spPr>
          <a:xfrm>
            <a:off x="5907024"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Keep seats occupied only when the employee is actually using or intentionally holding the desk.</a:t>
            </a:r>
            <a:endParaRPr lang="en-US" sz="920" dirty="0"/>
          </a:p>
        </p:txBody>
      </p:sp>
      <p:sp>
        <p:nvSpPr>
          <p:cNvPr id="16" name="Shape 14"/>
          <p:cNvSpPr/>
          <p:nvPr/>
        </p:nvSpPr>
        <p:spPr>
          <a:xfrm>
            <a:off x="8284464" y="1261872"/>
            <a:ext cx="2240280" cy="2057400"/>
          </a:xfrm>
          <a:prstGeom prst="roundRect">
            <a:avLst>
              <a:gd name="adj" fmla="val 5333"/>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7" name="Text 15"/>
          <p:cNvSpPr/>
          <p:nvPr/>
        </p:nvSpPr>
        <p:spPr>
          <a:xfrm>
            <a:off x="8449056" y="1463040"/>
            <a:ext cx="1920240" cy="228600"/>
          </a:xfrm>
          <a:prstGeom prst="rect">
            <a:avLst/>
          </a:prstGeom>
          <a:noFill/>
          <a:ln/>
        </p:spPr>
        <p:txBody>
          <a:bodyPr wrap="square" lIns="0" tIns="0" rIns="0" bIns="0" rtlCol="0" anchor="ctr"/>
          <a:lstStyle/>
          <a:p>
            <a:pPr marL="0" indent="0">
              <a:buNone/>
            </a:pPr>
            <a:r>
              <a:rPr lang="en-US" sz="1300" b="1" dirty="0">
                <a:solidFill>
                  <a:srgbClr val="22C55E"/>
                </a:solidFill>
              </a:rPr>
              <a:t>Business value</a:t>
            </a:r>
            <a:endParaRPr lang="en-US" sz="1300" dirty="0"/>
          </a:p>
        </p:txBody>
      </p:sp>
      <p:sp>
        <p:nvSpPr>
          <p:cNvPr id="18" name="Text 16"/>
          <p:cNvSpPr/>
          <p:nvPr/>
        </p:nvSpPr>
        <p:spPr>
          <a:xfrm>
            <a:off x="8449056" y="1874520"/>
            <a:ext cx="1874520" cy="822960"/>
          </a:xfrm>
          <a:prstGeom prst="rect">
            <a:avLst/>
          </a:prstGeom>
          <a:noFill/>
          <a:ln/>
        </p:spPr>
        <p:txBody>
          <a:bodyPr wrap="square" lIns="0" tIns="0" rIns="0" bIns="0" rtlCol="0" anchor="ctr">
            <a:normAutofit/>
          </a:bodyPr>
          <a:lstStyle/>
          <a:p>
            <a:pPr marL="0" indent="0">
              <a:buNone/>
            </a:pPr>
            <a:r>
              <a:rPr lang="en-US" sz="920" dirty="0">
                <a:solidFill>
                  <a:srgbClr val="475569"/>
                </a:solidFill>
              </a:rPr>
              <a:t>Improve employee seat discovery while reducing wasted desks and facility spend.</a:t>
            </a:r>
            <a:endParaRPr lang="en-US" sz="920" dirty="0"/>
          </a:p>
        </p:txBody>
      </p:sp>
      <p:sp>
        <p:nvSpPr>
          <p:cNvPr id="19" name="Shape 17"/>
          <p:cNvSpPr/>
          <p:nvPr/>
        </p:nvSpPr>
        <p:spPr>
          <a:xfrm>
            <a:off x="868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0" name="Text 18"/>
          <p:cNvSpPr/>
          <p:nvPr/>
        </p:nvSpPr>
        <p:spPr>
          <a:xfrm>
            <a:off x="1005840" y="4270248"/>
            <a:ext cx="1737360" cy="201168"/>
          </a:xfrm>
          <a:prstGeom prst="rect">
            <a:avLst/>
          </a:prstGeom>
          <a:noFill/>
          <a:ln/>
        </p:spPr>
        <p:txBody>
          <a:bodyPr wrap="square" lIns="0" tIns="0" rIns="0" bIns="0" rtlCol="0" anchor="ctr"/>
          <a:lstStyle/>
          <a:p>
            <a:pPr marL="0" indent="0" algn="ctr">
              <a:buNone/>
            </a:pPr>
            <a:r>
              <a:rPr lang="en-US" sz="1700" b="1" dirty="0">
                <a:solidFill>
                  <a:srgbClr val="2563EB"/>
                </a:solidFill>
              </a:rPr>
              <a:t>20–30%</a:t>
            </a:r>
            <a:endParaRPr lang="en-US" sz="1700" dirty="0"/>
          </a:p>
        </p:txBody>
      </p:sp>
      <p:sp>
        <p:nvSpPr>
          <p:cNvPr id="21" name="Text 19"/>
          <p:cNvSpPr/>
          <p:nvPr/>
        </p:nvSpPr>
        <p:spPr>
          <a:xfrm>
            <a:off x="1033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Desk inventory optimization</a:t>
            </a:r>
            <a:endParaRPr lang="en-US" sz="730" dirty="0"/>
          </a:p>
        </p:txBody>
      </p:sp>
      <p:sp>
        <p:nvSpPr>
          <p:cNvPr id="22" name="Shape 20"/>
          <p:cNvSpPr/>
          <p:nvPr/>
        </p:nvSpPr>
        <p:spPr>
          <a:xfrm>
            <a:off x="3154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3" name="Text 21"/>
          <p:cNvSpPr/>
          <p:nvPr/>
        </p:nvSpPr>
        <p:spPr>
          <a:xfrm>
            <a:off x="3291840" y="4270248"/>
            <a:ext cx="1737360" cy="201168"/>
          </a:xfrm>
          <a:prstGeom prst="rect">
            <a:avLst/>
          </a:prstGeom>
          <a:noFill/>
          <a:ln/>
        </p:spPr>
        <p:txBody>
          <a:bodyPr wrap="square" lIns="0" tIns="0" rIns="0" bIns="0" rtlCol="0" anchor="ctr"/>
          <a:lstStyle/>
          <a:p>
            <a:pPr marL="0" indent="0" algn="ctr">
              <a:buNone/>
            </a:pPr>
            <a:r>
              <a:rPr lang="en-US" sz="1700" b="1" dirty="0">
                <a:solidFill>
                  <a:srgbClr val="22C55E"/>
                </a:solidFill>
              </a:rPr>
              <a:t>10–18%</a:t>
            </a:r>
            <a:endParaRPr lang="en-US" sz="1700" dirty="0"/>
          </a:p>
        </p:txBody>
      </p:sp>
      <p:sp>
        <p:nvSpPr>
          <p:cNvPr id="24" name="Text 22"/>
          <p:cNvSpPr/>
          <p:nvPr/>
        </p:nvSpPr>
        <p:spPr>
          <a:xfrm>
            <a:off x="3319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Ops cost reduction potential</a:t>
            </a:r>
            <a:endParaRPr lang="en-US" sz="730" dirty="0"/>
          </a:p>
        </p:txBody>
      </p:sp>
      <p:sp>
        <p:nvSpPr>
          <p:cNvPr id="25" name="Shape 23"/>
          <p:cNvSpPr/>
          <p:nvPr/>
        </p:nvSpPr>
        <p:spPr>
          <a:xfrm>
            <a:off x="5440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6" name="Text 24"/>
          <p:cNvSpPr/>
          <p:nvPr/>
        </p:nvSpPr>
        <p:spPr>
          <a:xfrm>
            <a:off x="5577840" y="4270248"/>
            <a:ext cx="1737360" cy="201168"/>
          </a:xfrm>
          <a:prstGeom prst="rect">
            <a:avLst/>
          </a:prstGeom>
          <a:noFill/>
          <a:ln/>
        </p:spPr>
        <p:txBody>
          <a:bodyPr wrap="square" lIns="0" tIns="0" rIns="0" bIns="0" rtlCol="0" anchor="ctr"/>
          <a:lstStyle/>
          <a:p>
            <a:pPr marL="0" indent="0" algn="ctr">
              <a:buNone/>
            </a:pPr>
            <a:r>
              <a:rPr lang="en-US" sz="1700" b="1" dirty="0">
                <a:solidFill>
                  <a:srgbClr val="F59E0B"/>
                </a:solidFill>
              </a:rPr>
              <a:t>45 min</a:t>
            </a:r>
            <a:endParaRPr lang="en-US" sz="1700" dirty="0"/>
          </a:p>
        </p:txBody>
      </p:sp>
      <p:sp>
        <p:nvSpPr>
          <p:cNvPr id="27" name="Text 25"/>
          <p:cNvSpPr/>
          <p:nvPr/>
        </p:nvSpPr>
        <p:spPr>
          <a:xfrm>
            <a:off x="5605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No-show release policy</a:t>
            </a:r>
            <a:endParaRPr lang="en-US" sz="730" dirty="0"/>
          </a:p>
        </p:txBody>
      </p:sp>
      <p:sp>
        <p:nvSpPr>
          <p:cNvPr id="28" name="Shape 26"/>
          <p:cNvSpPr/>
          <p:nvPr/>
        </p:nvSpPr>
        <p:spPr>
          <a:xfrm>
            <a:off x="7726680" y="4160520"/>
            <a:ext cx="2011680" cy="621792"/>
          </a:xfrm>
          <a:prstGeom prst="roundRect">
            <a:avLst>
              <a:gd name="adj" fmla="val 17647"/>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9" name="Text 27"/>
          <p:cNvSpPr/>
          <p:nvPr/>
        </p:nvSpPr>
        <p:spPr>
          <a:xfrm>
            <a:off x="7863840" y="4270248"/>
            <a:ext cx="1737360" cy="201168"/>
          </a:xfrm>
          <a:prstGeom prst="rect">
            <a:avLst/>
          </a:prstGeom>
          <a:noFill/>
          <a:ln/>
        </p:spPr>
        <p:txBody>
          <a:bodyPr wrap="square" lIns="0" tIns="0" rIns="0" bIns="0" rtlCol="0" anchor="ctr"/>
          <a:lstStyle/>
          <a:p>
            <a:pPr marL="0" indent="0" algn="ctr">
              <a:buNone/>
            </a:pPr>
            <a:r>
              <a:rPr lang="en-US" sz="1700" b="1" dirty="0">
                <a:solidFill>
                  <a:srgbClr val="8B5CF6"/>
                </a:solidFill>
              </a:rPr>
              <a:t>5</a:t>
            </a:r>
            <a:endParaRPr lang="en-US" sz="1700" dirty="0"/>
          </a:p>
        </p:txBody>
      </p:sp>
      <p:sp>
        <p:nvSpPr>
          <p:cNvPr id="30" name="Text 28"/>
          <p:cNvSpPr/>
          <p:nvPr/>
        </p:nvSpPr>
        <p:spPr>
          <a:xfrm>
            <a:off x="7891272" y="4544568"/>
            <a:ext cx="1682496" cy="146304"/>
          </a:xfrm>
          <a:prstGeom prst="rect">
            <a:avLst/>
          </a:prstGeom>
          <a:noFill/>
          <a:ln/>
        </p:spPr>
        <p:txBody>
          <a:bodyPr wrap="square" lIns="0" tIns="0" rIns="0" bIns="0" rtlCol="0" anchor="ctr"/>
          <a:lstStyle/>
          <a:p>
            <a:pPr marL="0" indent="0" algn="ctr">
              <a:buNone/>
            </a:pPr>
            <a:r>
              <a:rPr lang="en-US" sz="730" dirty="0">
                <a:solidFill>
                  <a:srgbClr val="64748B"/>
                </a:solidFill>
              </a:rPr>
              <a:t>Primary validation signals</a:t>
            </a:r>
            <a:endParaRPr lang="en-US" sz="730" dirty="0"/>
          </a:p>
        </p:txBody>
      </p:sp>
      <p:sp>
        <p:nvSpPr>
          <p:cNvPr id="31" name="Text 29"/>
          <p:cNvSpPr/>
          <p:nvPr/>
        </p:nvSpPr>
        <p:spPr>
          <a:xfrm>
            <a:off x="868680" y="5074920"/>
            <a:ext cx="9235440" cy="347472"/>
          </a:xfrm>
          <a:prstGeom prst="rect">
            <a:avLst/>
          </a:prstGeom>
          <a:noFill/>
          <a:ln/>
        </p:spPr>
        <p:txBody>
          <a:bodyPr wrap="square" lIns="0" tIns="0" rIns="0" bIns="0" rtlCol="0" anchor="ctr"/>
          <a:lstStyle/>
          <a:p>
            <a:pPr marL="0" indent="0">
              <a:buNone/>
            </a:pPr>
            <a:r>
              <a:rPr lang="en-US" sz="870" i="1" dirty="0">
                <a:solidFill>
                  <a:srgbClr val="64748B"/>
                </a:solidFill>
              </a:rPr>
              <a:t>Cost figures are an estimate range for business-case discussion. Final value should be validated using actual desk count, lease/opex, utility, housekeeping, pantry, and adoption data.</a:t>
            </a:r>
            <a:endParaRPr lang="en-US" sz="870" dirty="0"/>
          </a:p>
        </p:txBody>
      </p:sp>
      <p:sp>
        <p:nvSpPr>
          <p:cNvPr id="32"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Why this is needed</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Hybrid attendance creates avoidable space waste unless office seating is managed using actual usage signals.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694944" y="1207008"/>
            <a:ext cx="4800600" cy="4892040"/>
          </a:xfrm>
          <a:prstGeom prst="roundRect">
            <a:avLst>
              <a:gd name="adj" fmla="val 2286"/>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Text 6"/>
          <p:cNvSpPr/>
          <p:nvPr/>
        </p:nvSpPr>
        <p:spPr>
          <a:xfrm>
            <a:off x="960120" y="1481328"/>
            <a:ext cx="4114800" cy="274320"/>
          </a:xfrm>
          <a:prstGeom prst="rect">
            <a:avLst/>
          </a:prstGeom>
          <a:noFill/>
          <a:ln/>
        </p:spPr>
        <p:txBody>
          <a:bodyPr wrap="square" lIns="0" tIns="0" rIns="0" bIns="0" rtlCol="0" anchor="ctr"/>
          <a:lstStyle/>
          <a:p>
            <a:pPr marL="0" indent="0">
              <a:buNone/>
            </a:pPr>
            <a:r>
              <a:rPr lang="en-US" sz="1700" b="1" dirty="0">
                <a:solidFill>
                  <a:srgbClr val="0F172A"/>
                </a:solidFill>
              </a:rPr>
              <a:t>Current challenges</a:t>
            </a:r>
            <a:endParaRPr lang="en-US" sz="1700" dirty="0"/>
          </a:p>
        </p:txBody>
      </p:sp>
      <p:sp>
        <p:nvSpPr>
          <p:cNvPr id="9" name="Shape 7"/>
          <p:cNvSpPr/>
          <p:nvPr/>
        </p:nvSpPr>
        <p:spPr>
          <a:xfrm>
            <a:off x="960120" y="2007108"/>
            <a:ext cx="100584" cy="100584"/>
          </a:xfrm>
          <a:prstGeom prst="ellipse">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1143000" y="1965960"/>
            <a:ext cx="4206240" cy="256032"/>
          </a:xfrm>
          <a:prstGeom prst="rect">
            <a:avLst/>
          </a:prstGeom>
          <a:noFill/>
          <a:ln/>
        </p:spPr>
        <p:txBody>
          <a:bodyPr wrap="square" lIns="0" tIns="0" rIns="0" bIns="0" rtlCol="0" anchor="ctr">
            <a:normAutofit lnSpcReduction="10000"/>
          </a:bodyPr>
          <a:lstStyle/>
          <a:p>
            <a:pPr marL="0" indent="0">
              <a:buNone/>
            </a:pPr>
            <a:r>
              <a:rPr lang="en-US" sz="930" dirty="0">
                <a:solidFill>
                  <a:srgbClr val="0F172A"/>
                </a:solidFill>
              </a:rPr>
              <a:t>Cab booking is useful but incomplete because employees may use personal commute.</a:t>
            </a:r>
            <a:endParaRPr lang="en-US" sz="930" dirty="0"/>
          </a:p>
        </p:txBody>
      </p:sp>
      <p:sp>
        <p:nvSpPr>
          <p:cNvPr id="11" name="Shape 9"/>
          <p:cNvSpPr/>
          <p:nvPr/>
        </p:nvSpPr>
        <p:spPr>
          <a:xfrm>
            <a:off x="960120" y="2574036"/>
            <a:ext cx="100584" cy="100584"/>
          </a:xfrm>
          <a:prstGeom prst="ellipse">
            <a:avLst/>
          </a:prstGeom>
          <a:solidFill>
            <a:srgbClr val="EF4444"/>
          </a:solidFill>
          <a:ln w="12700">
            <a:solidFill>
              <a:srgbClr val="EF4444"/>
            </a:solidFill>
            <a:prstDash val="solid"/>
          </a:ln>
        </p:spPr>
        <p:txBody>
          <a:bodyPr/>
          <a:lstStyle/>
          <a:p>
            <a:endParaRPr lang="en-US"/>
          </a:p>
        </p:txBody>
      </p:sp>
      <p:sp>
        <p:nvSpPr>
          <p:cNvPr id="12" name="Text 10"/>
          <p:cNvSpPr/>
          <p:nvPr/>
        </p:nvSpPr>
        <p:spPr>
          <a:xfrm>
            <a:off x="1143000" y="2532888"/>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Assigned/static seats do not reveal real occupancy or no-shows.</a:t>
            </a:r>
            <a:endParaRPr lang="en-US" sz="930" dirty="0"/>
          </a:p>
        </p:txBody>
      </p:sp>
      <p:sp>
        <p:nvSpPr>
          <p:cNvPr id="13" name="Shape 11"/>
          <p:cNvSpPr/>
          <p:nvPr/>
        </p:nvSpPr>
        <p:spPr>
          <a:xfrm>
            <a:off x="960120" y="3140964"/>
            <a:ext cx="100584" cy="100584"/>
          </a:xfrm>
          <a:prstGeom prst="ellipse">
            <a:avLst/>
          </a:prstGeom>
          <a:solidFill>
            <a:srgbClr val="2563EB"/>
          </a:solidFill>
          <a:ln w="12700">
            <a:solidFill>
              <a:srgbClr val="2563EB"/>
            </a:solidFill>
            <a:prstDash val="solid"/>
          </a:ln>
        </p:spPr>
        <p:txBody>
          <a:bodyPr/>
          <a:lstStyle/>
          <a:p>
            <a:endParaRPr lang="en-US"/>
          </a:p>
        </p:txBody>
      </p:sp>
      <p:sp>
        <p:nvSpPr>
          <p:cNvPr id="14" name="Text 12"/>
          <p:cNvSpPr/>
          <p:nvPr/>
        </p:nvSpPr>
        <p:spPr>
          <a:xfrm>
            <a:off x="1143000" y="3099816"/>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Managers lack a practical view of where team members are seated.</a:t>
            </a:r>
            <a:endParaRPr lang="en-US" sz="930" dirty="0"/>
          </a:p>
        </p:txBody>
      </p:sp>
      <p:sp>
        <p:nvSpPr>
          <p:cNvPr id="15" name="Shape 13"/>
          <p:cNvSpPr/>
          <p:nvPr/>
        </p:nvSpPr>
        <p:spPr>
          <a:xfrm>
            <a:off x="960120" y="3707892"/>
            <a:ext cx="100584" cy="100584"/>
          </a:xfrm>
          <a:prstGeom prst="ellipse">
            <a:avLst/>
          </a:prstGeom>
          <a:solidFill>
            <a:srgbClr val="2563EB"/>
          </a:solidFill>
          <a:ln w="12700">
            <a:solidFill>
              <a:srgbClr val="2563EB"/>
            </a:solidFill>
            <a:prstDash val="solid"/>
          </a:ln>
        </p:spPr>
        <p:txBody>
          <a:bodyPr/>
          <a:lstStyle/>
          <a:p>
            <a:endParaRPr lang="en-US"/>
          </a:p>
        </p:txBody>
      </p:sp>
      <p:sp>
        <p:nvSpPr>
          <p:cNvPr id="16" name="Text 14"/>
          <p:cNvSpPr/>
          <p:nvPr/>
        </p:nvSpPr>
        <p:spPr>
          <a:xfrm>
            <a:off x="1143000" y="3666744"/>
            <a:ext cx="4206240" cy="256032"/>
          </a:xfrm>
          <a:prstGeom prst="rect">
            <a:avLst/>
          </a:prstGeom>
          <a:noFill/>
          <a:ln/>
        </p:spPr>
        <p:txBody>
          <a:bodyPr wrap="square" lIns="0" tIns="0" rIns="0" bIns="0" rtlCol="0" anchor="ctr">
            <a:normAutofit lnSpcReduction="10000"/>
          </a:bodyPr>
          <a:lstStyle/>
          <a:p>
            <a:pPr marL="0" indent="0">
              <a:buNone/>
            </a:pPr>
            <a:r>
              <a:rPr lang="en-US" sz="930" dirty="0">
                <a:solidFill>
                  <a:srgbClr val="0F172A"/>
                </a:solidFill>
              </a:rPr>
              <a:t>Facilities operate power, HVAC, pantry, and housekeeping without zone-level demand intelligence.</a:t>
            </a:r>
            <a:endParaRPr lang="en-US" sz="930" dirty="0"/>
          </a:p>
        </p:txBody>
      </p:sp>
      <p:sp>
        <p:nvSpPr>
          <p:cNvPr id="17" name="Shape 15"/>
          <p:cNvSpPr/>
          <p:nvPr/>
        </p:nvSpPr>
        <p:spPr>
          <a:xfrm>
            <a:off x="960120" y="4274820"/>
            <a:ext cx="100584" cy="100584"/>
          </a:xfrm>
          <a:prstGeom prst="ellipse">
            <a:avLst/>
          </a:prstGeom>
          <a:solidFill>
            <a:srgbClr val="2563EB"/>
          </a:solidFill>
          <a:ln w="12700">
            <a:solidFill>
              <a:srgbClr val="2563EB"/>
            </a:solidFill>
            <a:prstDash val="solid"/>
          </a:ln>
        </p:spPr>
        <p:txBody>
          <a:bodyPr/>
          <a:lstStyle/>
          <a:p>
            <a:endParaRPr lang="en-US"/>
          </a:p>
        </p:txBody>
      </p:sp>
      <p:sp>
        <p:nvSpPr>
          <p:cNvPr id="18" name="Text 16"/>
          <p:cNvSpPr/>
          <p:nvPr/>
        </p:nvSpPr>
        <p:spPr>
          <a:xfrm>
            <a:off x="1143000" y="4233672"/>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Access violations require manual validation and follow-up.</a:t>
            </a:r>
            <a:endParaRPr lang="en-US" sz="930" dirty="0"/>
          </a:p>
        </p:txBody>
      </p:sp>
      <p:sp>
        <p:nvSpPr>
          <p:cNvPr id="19" name="Shape 17"/>
          <p:cNvSpPr/>
          <p:nvPr/>
        </p:nvSpPr>
        <p:spPr>
          <a:xfrm>
            <a:off x="5806440" y="1207008"/>
            <a:ext cx="5394960" cy="4892040"/>
          </a:xfrm>
          <a:prstGeom prst="roundRect">
            <a:avLst>
              <a:gd name="adj" fmla="val 2243"/>
            </a:avLst>
          </a:prstGeom>
          <a:solidFill>
            <a:srgbClr val="EFF6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0" name="Text 18"/>
          <p:cNvSpPr/>
          <p:nvPr/>
        </p:nvSpPr>
        <p:spPr>
          <a:xfrm>
            <a:off x="6108192" y="1481328"/>
            <a:ext cx="4114800" cy="274320"/>
          </a:xfrm>
          <a:prstGeom prst="rect">
            <a:avLst/>
          </a:prstGeom>
          <a:noFill/>
          <a:ln/>
        </p:spPr>
        <p:txBody>
          <a:bodyPr wrap="square" lIns="0" tIns="0" rIns="0" bIns="0" rtlCol="0" anchor="ctr"/>
          <a:lstStyle/>
          <a:p>
            <a:pPr marL="0" indent="0">
              <a:buNone/>
            </a:pPr>
            <a:r>
              <a:rPr lang="en-US" sz="1700" b="1" dirty="0">
                <a:solidFill>
                  <a:srgbClr val="2563EB"/>
                </a:solidFill>
              </a:rPr>
              <a:t>Opportunity</a:t>
            </a:r>
            <a:endParaRPr lang="en-US" sz="1700" dirty="0"/>
          </a:p>
        </p:txBody>
      </p:sp>
      <p:sp>
        <p:nvSpPr>
          <p:cNvPr id="21" name="Shape 19"/>
          <p:cNvSpPr/>
          <p:nvPr/>
        </p:nvSpPr>
        <p:spPr>
          <a:xfrm>
            <a:off x="6144768" y="2007108"/>
            <a:ext cx="100584" cy="100584"/>
          </a:xfrm>
          <a:prstGeom prst="ellipse">
            <a:avLst/>
          </a:prstGeom>
          <a:solidFill>
            <a:srgbClr val="22C55E"/>
          </a:solidFill>
          <a:ln w="12700">
            <a:solidFill>
              <a:srgbClr val="22C55E"/>
            </a:solidFill>
            <a:prstDash val="solid"/>
          </a:ln>
        </p:spPr>
        <p:txBody>
          <a:bodyPr/>
          <a:lstStyle/>
          <a:p>
            <a:endParaRPr lang="en-US"/>
          </a:p>
        </p:txBody>
      </p:sp>
      <p:sp>
        <p:nvSpPr>
          <p:cNvPr id="22" name="Text 20"/>
          <p:cNvSpPr/>
          <p:nvPr/>
        </p:nvSpPr>
        <p:spPr>
          <a:xfrm>
            <a:off x="6327648" y="1965960"/>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ID swipe as the strongest office-presence signal.</a:t>
            </a:r>
            <a:endParaRPr lang="en-US" sz="930" dirty="0"/>
          </a:p>
        </p:txBody>
      </p:sp>
      <p:sp>
        <p:nvSpPr>
          <p:cNvPr id="23" name="Shape 21"/>
          <p:cNvSpPr/>
          <p:nvPr/>
        </p:nvSpPr>
        <p:spPr>
          <a:xfrm>
            <a:off x="6144768" y="2574036"/>
            <a:ext cx="100584" cy="100584"/>
          </a:xfrm>
          <a:prstGeom prst="ellipse">
            <a:avLst/>
          </a:prstGeom>
          <a:solidFill>
            <a:srgbClr val="22C55E"/>
          </a:solidFill>
          <a:ln w="12700">
            <a:solidFill>
              <a:srgbClr val="22C55E"/>
            </a:solidFill>
            <a:prstDash val="solid"/>
          </a:ln>
        </p:spPr>
        <p:txBody>
          <a:bodyPr/>
          <a:lstStyle/>
          <a:p>
            <a:endParaRPr lang="en-US"/>
          </a:p>
        </p:txBody>
      </p:sp>
      <p:sp>
        <p:nvSpPr>
          <p:cNvPr id="24" name="Text 22"/>
          <p:cNvSpPr/>
          <p:nvPr/>
        </p:nvSpPr>
        <p:spPr>
          <a:xfrm>
            <a:off x="6327648" y="2532888"/>
            <a:ext cx="4526280" cy="256032"/>
          </a:xfrm>
          <a:prstGeom prst="rect">
            <a:avLst/>
          </a:prstGeom>
          <a:noFill/>
          <a:ln/>
        </p:spPr>
        <p:txBody>
          <a:bodyPr wrap="square" lIns="0" tIns="0" rIns="0" bIns="0" rtlCol="0" anchor="ctr">
            <a:normAutofit/>
          </a:bodyPr>
          <a:lstStyle/>
          <a:p>
            <a:r>
              <a:rPr lang="en-US" sz="930" dirty="0">
                <a:solidFill>
                  <a:srgbClr val="0F172A"/>
                </a:solidFill>
              </a:rPr>
              <a:t>Use QR scan to map employee ↔ desk ↔ zone ↔ wing.</a:t>
            </a:r>
            <a:endParaRPr lang="en-US" sz="930" dirty="0"/>
          </a:p>
        </p:txBody>
      </p:sp>
      <p:sp>
        <p:nvSpPr>
          <p:cNvPr id="25" name="Shape 23"/>
          <p:cNvSpPr/>
          <p:nvPr/>
        </p:nvSpPr>
        <p:spPr>
          <a:xfrm>
            <a:off x="6144768" y="3140964"/>
            <a:ext cx="100584" cy="100584"/>
          </a:xfrm>
          <a:prstGeom prst="ellipse">
            <a:avLst/>
          </a:prstGeom>
          <a:solidFill>
            <a:srgbClr val="22C55E"/>
          </a:solidFill>
          <a:ln w="12700">
            <a:solidFill>
              <a:srgbClr val="22C55E"/>
            </a:solidFill>
            <a:prstDash val="solid"/>
          </a:ln>
        </p:spPr>
        <p:txBody>
          <a:bodyPr/>
          <a:lstStyle/>
          <a:p>
            <a:endParaRPr lang="en-US"/>
          </a:p>
        </p:txBody>
      </p:sp>
      <p:sp>
        <p:nvSpPr>
          <p:cNvPr id="26" name="Text 24"/>
          <p:cNvSpPr/>
          <p:nvPr/>
        </p:nvSpPr>
        <p:spPr>
          <a:xfrm>
            <a:off x="6327648" y="3099816"/>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LAN connection as desk-occupancy evidence.</a:t>
            </a:r>
            <a:endParaRPr lang="en-US" sz="930" dirty="0"/>
          </a:p>
        </p:txBody>
      </p:sp>
      <p:sp>
        <p:nvSpPr>
          <p:cNvPr id="27" name="Shape 25"/>
          <p:cNvSpPr/>
          <p:nvPr/>
        </p:nvSpPr>
        <p:spPr>
          <a:xfrm>
            <a:off x="6144768" y="3707892"/>
            <a:ext cx="100584" cy="100584"/>
          </a:xfrm>
          <a:prstGeom prst="ellipse">
            <a:avLst/>
          </a:prstGeom>
          <a:solidFill>
            <a:srgbClr val="14B8A6"/>
          </a:solidFill>
          <a:ln w="12700">
            <a:solidFill>
              <a:srgbClr val="14B8A6"/>
            </a:solidFill>
            <a:prstDash val="solid"/>
          </a:ln>
        </p:spPr>
        <p:txBody>
          <a:bodyPr/>
          <a:lstStyle/>
          <a:p>
            <a:endParaRPr lang="en-US"/>
          </a:p>
        </p:txBody>
      </p:sp>
      <p:sp>
        <p:nvSpPr>
          <p:cNvPr id="28" name="Text 26"/>
          <p:cNvSpPr/>
          <p:nvPr/>
        </p:nvSpPr>
        <p:spPr>
          <a:xfrm>
            <a:off x="6327648" y="3666744"/>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calendar and reminders to avoid unfair auto-release.</a:t>
            </a:r>
            <a:endParaRPr lang="en-US" sz="930" dirty="0"/>
          </a:p>
        </p:txBody>
      </p:sp>
      <p:sp>
        <p:nvSpPr>
          <p:cNvPr id="29" name="Shape 27"/>
          <p:cNvSpPr/>
          <p:nvPr/>
        </p:nvSpPr>
        <p:spPr>
          <a:xfrm>
            <a:off x="6144768" y="4274820"/>
            <a:ext cx="100584" cy="100584"/>
          </a:xfrm>
          <a:prstGeom prst="ellipse">
            <a:avLst/>
          </a:prstGeom>
          <a:solidFill>
            <a:srgbClr val="14B8A6"/>
          </a:solidFill>
          <a:ln w="12700">
            <a:solidFill>
              <a:srgbClr val="14B8A6"/>
            </a:solidFill>
            <a:prstDash val="solid"/>
          </a:ln>
        </p:spPr>
        <p:txBody>
          <a:bodyPr/>
          <a:lstStyle/>
          <a:p>
            <a:endParaRPr lang="en-US"/>
          </a:p>
        </p:txBody>
      </p:sp>
      <p:sp>
        <p:nvSpPr>
          <p:cNvPr id="30" name="Text 28"/>
          <p:cNvSpPr/>
          <p:nvPr/>
        </p:nvSpPr>
        <p:spPr>
          <a:xfrm>
            <a:off x="6327648" y="4233672"/>
            <a:ext cx="45262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dashboards and reports to right-size seats by team, day, shift, floor, and zone.</a:t>
            </a:r>
            <a:endParaRPr lang="en-US" sz="930" dirty="0"/>
          </a:p>
        </p:txBody>
      </p:sp>
      <p:sp>
        <p:nvSpPr>
          <p:cNvPr id="31"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Proposed solution architecture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signal-fusion model improves accuracy while keeping the QR experience simple.</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pic>
        <p:nvPicPr>
          <p:cNvPr id="7" name="Image 0" descr="/mnt/data/89a436aa5b.png"/>
          <p:cNvPicPr>
            <a:picLocks noChangeAspect="1"/>
          </p:cNvPicPr>
          <p:nvPr/>
        </p:nvPicPr>
        <p:blipFill>
          <a:blip r:embed="rId3"/>
          <a:srcRect l="13914" r="13914"/>
          <a:stretch/>
        </p:blipFill>
        <p:spPr>
          <a:xfrm>
            <a:off x="566928" y="1143000"/>
            <a:ext cx="5394960" cy="4983480"/>
          </a:xfrm>
          <a:prstGeom prst="rect">
            <a:avLst/>
          </a:prstGeom>
        </p:spPr>
      </p:pic>
      <p:sp>
        <p:nvSpPr>
          <p:cNvPr id="8" name="Shape 5"/>
          <p:cNvSpPr/>
          <p:nvPr/>
        </p:nvSpPr>
        <p:spPr>
          <a:xfrm>
            <a:off x="6263640" y="1143000"/>
            <a:ext cx="5212080" cy="4983480"/>
          </a:xfrm>
          <a:prstGeom prst="roundRect">
            <a:avLst>
              <a:gd name="adj" fmla="val 220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9" name="Text 6"/>
          <p:cNvSpPr/>
          <p:nvPr/>
        </p:nvSpPr>
        <p:spPr>
          <a:xfrm>
            <a:off x="6565392" y="1426464"/>
            <a:ext cx="3200400" cy="219456"/>
          </a:xfrm>
          <a:prstGeom prst="rect">
            <a:avLst/>
          </a:prstGeom>
          <a:noFill/>
          <a:ln/>
        </p:spPr>
        <p:txBody>
          <a:bodyPr wrap="square" lIns="0" tIns="0" rIns="0" bIns="0" rtlCol="0" anchor="ctr"/>
          <a:lstStyle/>
          <a:p>
            <a:pPr marL="0" indent="0">
              <a:buNone/>
            </a:pPr>
            <a:r>
              <a:rPr lang="en-US" sz="850" b="1" dirty="0">
                <a:solidFill>
                  <a:srgbClr val="2563EB"/>
                </a:solidFill>
              </a:rPr>
              <a:t>Data signals</a:t>
            </a:r>
            <a:endParaRPr lang="en-US" sz="850" dirty="0"/>
          </a:p>
        </p:txBody>
      </p:sp>
      <p:sp>
        <p:nvSpPr>
          <p:cNvPr id="10" name="Shape 7"/>
          <p:cNvSpPr/>
          <p:nvPr/>
        </p:nvSpPr>
        <p:spPr>
          <a:xfrm>
            <a:off x="6565392" y="1682496"/>
            <a:ext cx="2971800" cy="0"/>
          </a:xfrm>
          <a:prstGeom prst="line">
            <a:avLst/>
          </a:prstGeom>
          <a:noFill/>
          <a:ln w="15240">
            <a:solidFill>
              <a:srgbClr val="2563EB"/>
            </a:solidFill>
            <a:prstDash val="solid"/>
          </a:ln>
        </p:spPr>
        <p:txBody>
          <a:bodyPr/>
          <a:lstStyle/>
          <a:p>
            <a:endParaRPr lang="en-US"/>
          </a:p>
        </p:txBody>
      </p:sp>
      <p:sp>
        <p:nvSpPr>
          <p:cNvPr id="11" name="Shape 8"/>
          <p:cNvSpPr/>
          <p:nvPr/>
        </p:nvSpPr>
        <p:spPr>
          <a:xfrm>
            <a:off x="6583680" y="1851660"/>
            <a:ext cx="100584" cy="100584"/>
          </a:xfrm>
          <a:prstGeom prst="ellipse">
            <a:avLst/>
          </a:prstGeom>
          <a:solidFill>
            <a:srgbClr val="2563EB"/>
          </a:solidFill>
          <a:ln w="12700">
            <a:solidFill>
              <a:srgbClr val="2563EB"/>
            </a:solidFill>
            <a:prstDash val="solid"/>
          </a:ln>
        </p:spPr>
        <p:txBody>
          <a:bodyPr/>
          <a:lstStyle/>
          <a:p>
            <a:endParaRPr lang="en-US"/>
          </a:p>
        </p:txBody>
      </p:sp>
      <p:sp>
        <p:nvSpPr>
          <p:cNvPr id="12" name="Text 9"/>
          <p:cNvSpPr/>
          <p:nvPr/>
        </p:nvSpPr>
        <p:spPr>
          <a:xfrm>
            <a:off x="6766560" y="181051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QR scan: desk, workstation, zone ID, wing</a:t>
            </a:r>
            <a:endParaRPr lang="en-US" sz="930" dirty="0"/>
          </a:p>
        </p:txBody>
      </p:sp>
      <p:sp>
        <p:nvSpPr>
          <p:cNvPr id="13" name="Shape 10"/>
          <p:cNvSpPr/>
          <p:nvPr/>
        </p:nvSpPr>
        <p:spPr>
          <a:xfrm>
            <a:off x="6583680" y="2263140"/>
            <a:ext cx="100584" cy="100584"/>
          </a:xfrm>
          <a:prstGeom prst="ellipse">
            <a:avLst/>
          </a:prstGeom>
          <a:solidFill>
            <a:srgbClr val="14B8A6"/>
          </a:solidFill>
          <a:ln w="12700">
            <a:solidFill>
              <a:srgbClr val="14B8A6"/>
            </a:solidFill>
            <a:prstDash val="solid"/>
          </a:ln>
        </p:spPr>
        <p:txBody>
          <a:bodyPr/>
          <a:lstStyle/>
          <a:p>
            <a:endParaRPr lang="en-US"/>
          </a:p>
        </p:txBody>
      </p:sp>
      <p:sp>
        <p:nvSpPr>
          <p:cNvPr id="14" name="Text 11"/>
          <p:cNvSpPr/>
          <p:nvPr/>
        </p:nvSpPr>
        <p:spPr>
          <a:xfrm>
            <a:off x="6766560" y="222199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Okta-authenticated user claims</a:t>
            </a:r>
            <a:endParaRPr lang="en-US" sz="930" dirty="0"/>
          </a:p>
        </p:txBody>
      </p:sp>
      <p:sp>
        <p:nvSpPr>
          <p:cNvPr id="15" name="Shape 12"/>
          <p:cNvSpPr/>
          <p:nvPr/>
        </p:nvSpPr>
        <p:spPr>
          <a:xfrm>
            <a:off x="6583680" y="2674620"/>
            <a:ext cx="100584" cy="100584"/>
          </a:xfrm>
          <a:prstGeom prst="ellipse">
            <a:avLst/>
          </a:prstGeom>
          <a:solidFill>
            <a:srgbClr val="22C55E"/>
          </a:solidFill>
          <a:ln w="12700">
            <a:solidFill>
              <a:srgbClr val="22C55E"/>
            </a:solidFill>
            <a:prstDash val="solid"/>
          </a:ln>
        </p:spPr>
        <p:txBody>
          <a:bodyPr/>
          <a:lstStyle/>
          <a:p>
            <a:endParaRPr lang="en-US"/>
          </a:p>
        </p:txBody>
      </p:sp>
      <p:sp>
        <p:nvSpPr>
          <p:cNvPr id="16" name="Text 13"/>
          <p:cNvSpPr/>
          <p:nvPr/>
        </p:nvSpPr>
        <p:spPr>
          <a:xfrm>
            <a:off x="6766560" y="263347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 card swipe: office presence validation</a:t>
            </a:r>
            <a:endParaRPr lang="en-US" sz="930" dirty="0"/>
          </a:p>
        </p:txBody>
      </p:sp>
      <p:sp>
        <p:nvSpPr>
          <p:cNvPr id="17" name="Shape 14"/>
          <p:cNvSpPr/>
          <p:nvPr/>
        </p:nvSpPr>
        <p:spPr>
          <a:xfrm>
            <a:off x="6583680" y="3086100"/>
            <a:ext cx="100584" cy="100584"/>
          </a:xfrm>
          <a:prstGeom prst="ellipse">
            <a:avLst/>
          </a:prstGeom>
          <a:solidFill>
            <a:srgbClr val="F59E0B"/>
          </a:solidFill>
          <a:ln w="12700">
            <a:solidFill>
              <a:srgbClr val="F59E0B"/>
            </a:solidFill>
            <a:prstDash val="solid"/>
          </a:ln>
        </p:spPr>
        <p:txBody>
          <a:bodyPr/>
          <a:lstStyle/>
          <a:p>
            <a:endParaRPr lang="en-US"/>
          </a:p>
        </p:txBody>
      </p:sp>
      <p:sp>
        <p:nvSpPr>
          <p:cNvPr id="18" name="Text 15"/>
          <p:cNvSpPr/>
          <p:nvPr/>
        </p:nvSpPr>
        <p:spPr>
          <a:xfrm>
            <a:off x="6766560" y="304495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LAN connection: desk occupancy evidence</a:t>
            </a:r>
            <a:endParaRPr lang="en-US" sz="930" dirty="0"/>
          </a:p>
        </p:txBody>
      </p:sp>
      <p:sp>
        <p:nvSpPr>
          <p:cNvPr id="19" name="Shape 16"/>
          <p:cNvSpPr/>
          <p:nvPr/>
        </p:nvSpPr>
        <p:spPr>
          <a:xfrm>
            <a:off x="6583680" y="3497580"/>
            <a:ext cx="100584" cy="100584"/>
          </a:xfrm>
          <a:prstGeom prst="ellipse">
            <a:avLst/>
          </a:prstGeom>
          <a:solidFill>
            <a:srgbClr val="8B5CF6"/>
          </a:solidFill>
          <a:ln w="12700">
            <a:solidFill>
              <a:srgbClr val="8B5CF6"/>
            </a:solidFill>
            <a:prstDash val="solid"/>
          </a:ln>
        </p:spPr>
        <p:txBody>
          <a:bodyPr/>
          <a:lstStyle/>
          <a:p>
            <a:endParaRPr lang="en-US"/>
          </a:p>
        </p:txBody>
      </p:sp>
      <p:sp>
        <p:nvSpPr>
          <p:cNvPr id="20" name="Text 17"/>
          <p:cNvSpPr/>
          <p:nvPr/>
        </p:nvSpPr>
        <p:spPr>
          <a:xfrm>
            <a:off x="6766560" y="345643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Calendar: meeting-aware release exceptions</a:t>
            </a:r>
            <a:endParaRPr lang="en-US" sz="930" dirty="0"/>
          </a:p>
        </p:txBody>
      </p:sp>
      <p:sp>
        <p:nvSpPr>
          <p:cNvPr id="21" name="Shape 18"/>
          <p:cNvSpPr/>
          <p:nvPr/>
        </p:nvSpPr>
        <p:spPr>
          <a:xfrm>
            <a:off x="6583680" y="3909060"/>
            <a:ext cx="100584" cy="100584"/>
          </a:xfrm>
          <a:prstGeom prst="ellipse">
            <a:avLst/>
          </a:prstGeom>
          <a:solidFill>
            <a:srgbClr val="EF4444"/>
          </a:solidFill>
          <a:ln w="12700">
            <a:solidFill>
              <a:srgbClr val="EF4444"/>
            </a:solidFill>
            <a:prstDash val="solid"/>
          </a:ln>
        </p:spPr>
        <p:txBody>
          <a:bodyPr/>
          <a:lstStyle/>
          <a:p>
            <a:endParaRPr lang="en-US"/>
          </a:p>
        </p:txBody>
      </p:sp>
      <p:sp>
        <p:nvSpPr>
          <p:cNvPr id="22" name="Text 19"/>
          <p:cNvSpPr/>
          <p:nvPr/>
        </p:nvSpPr>
        <p:spPr>
          <a:xfrm>
            <a:off x="6766560" y="3867912"/>
            <a:ext cx="429768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Teams/Slack bot: confirmation and alerts</a:t>
            </a:r>
            <a:endParaRPr lang="en-US" sz="930" dirty="0"/>
          </a:p>
        </p:txBody>
      </p:sp>
      <p:sp>
        <p:nvSpPr>
          <p:cNvPr id="23" name="Text 20"/>
          <p:cNvSpPr/>
          <p:nvPr/>
        </p:nvSpPr>
        <p:spPr>
          <a:xfrm>
            <a:off x="6565392" y="4370832"/>
            <a:ext cx="3200400" cy="219456"/>
          </a:xfrm>
          <a:prstGeom prst="rect">
            <a:avLst/>
          </a:prstGeom>
          <a:noFill/>
          <a:ln/>
        </p:spPr>
        <p:txBody>
          <a:bodyPr wrap="square" lIns="0" tIns="0" rIns="0" bIns="0" rtlCol="0" anchor="ctr"/>
          <a:lstStyle/>
          <a:p>
            <a:pPr marL="0" indent="0">
              <a:buNone/>
            </a:pPr>
            <a:r>
              <a:rPr lang="en-US" sz="850" b="1" dirty="0">
                <a:solidFill>
                  <a:srgbClr val="14B8A6"/>
                </a:solidFill>
              </a:rPr>
              <a:t>Core services</a:t>
            </a:r>
            <a:endParaRPr lang="en-US" sz="850" dirty="0"/>
          </a:p>
        </p:txBody>
      </p:sp>
      <p:sp>
        <p:nvSpPr>
          <p:cNvPr id="24" name="Shape 21"/>
          <p:cNvSpPr/>
          <p:nvPr/>
        </p:nvSpPr>
        <p:spPr>
          <a:xfrm>
            <a:off x="6565392" y="4626864"/>
            <a:ext cx="2971800" cy="0"/>
          </a:xfrm>
          <a:prstGeom prst="line">
            <a:avLst/>
          </a:prstGeom>
          <a:noFill/>
          <a:ln w="15240">
            <a:solidFill>
              <a:srgbClr val="14B8A6"/>
            </a:solidFill>
            <a:prstDash val="solid"/>
          </a:ln>
        </p:spPr>
        <p:txBody>
          <a:bodyPr/>
          <a:lstStyle/>
          <a:p>
            <a:endParaRPr lang="en-US"/>
          </a:p>
        </p:txBody>
      </p:sp>
      <p:sp>
        <p:nvSpPr>
          <p:cNvPr id="25" name="Shape 22"/>
          <p:cNvSpPr/>
          <p:nvPr/>
        </p:nvSpPr>
        <p:spPr>
          <a:xfrm>
            <a:off x="6583680" y="4754880"/>
            <a:ext cx="2057400" cy="292608"/>
          </a:xfrm>
          <a:prstGeom prst="roundRect">
            <a:avLst>
              <a:gd name="adj" fmla="val 25000"/>
            </a:avLst>
          </a:prstGeom>
          <a:solidFill>
            <a:srgbClr val="14B8A6"/>
          </a:solidFill>
          <a:ln w="12700">
            <a:solidFill>
              <a:srgbClr val="14B8A6"/>
            </a:solidFill>
            <a:prstDash val="solid"/>
          </a:ln>
          <a:effectLst>
            <a:outerShdw blurRad="12700" dist="6350" dir="2700000" algn="bl" rotWithShape="0">
              <a:srgbClr val="000000">
                <a:alpha val="10000"/>
              </a:srgbClr>
            </a:outerShdw>
          </a:effectLst>
        </p:spPr>
        <p:txBody>
          <a:bodyPr/>
          <a:lstStyle/>
          <a:p>
            <a:endParaRPr lang="en-US"/>
          </a:p>
        </p:txBody>
      </p:sp>
      <p:sp>
        <p:nvSpPr>
          <p:cNvPr id="26" name="Text 23"/>
          <p:cNvSpPr/>
          <p:nvPr/>
        </p:nvSpPr>
        <p:spPr>
          <a:xfrm>
            <a:off x="6675120" y="4823460"/>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Occupancy engine</a:t>
            </a:r>
            <a:endParaRPr lang="en-US" sz="750" dirty="0"/>
          </a:p>
        </p:txBody>
      </p:sp>
      <p:sp>
        <p:nvSpPr>
          <p:cNvPr id="27" name="Shape 24"/>
          <p:cNvSpPr/>
          <p:nvPr/>
        </p:nvSpPr>
        <p:spPr>
          <a:xfrm>
            <a:off x="9006840" y="4754880"/>
            <a:ext cx="205740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txBody>
          <a:bodyPr/>
          <a:lstStyle/>
          <a:p>
            <a:endParaRPr lang="en-US"/>
          </a:p>
        </p:txBody>
      </p:sp>
      <p:sp>
        <p:nvSpPr>
          <p:cNvPr id="28" name="Text 25"/>
          <p:cNvSpPr/>
          <p:nvPr/>
        </p:nvSpPr>
        <p:spPr>
          <a:xfrm>
            <a:off x="9098280" y="4823460"/>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Seat allocation rules</a:t>
            </a:r>
            <a:endParaRPr lang="en-US" sz="750" dirty="0"/>
          </a:p>
        </p:txBody>
      </p:sp>
      <p:sp>
        <p:nvSpPr>
          <p:cNvPr id="29" name="Shape 26"/>
          <p:cNvSpPr/>
          <p:nvPr/>
        </p:nvSpPr>
        <p:spPr>
          <a:xfrm>
            <a:off x="6583680" y="5230368"/>
            <a:ext cx="2057400" cy="292608"/>
          </a:xfrm>
          <a:prstGeom prst="roundRect">
            <a:avLst>
              <a:gd name="adj" fmla="val 25000"/>
            </a:avLst>
          </a:prstGeom>
          <a:solidFill>
            <a:srgbClr val="14B8A6"/>
          </a:solidFill>
          <a:ln w="12700">
            <a:solidFill>
              <a:srgbClr val="14B8A6"/>
            </a:solidFill>
            <a:prstDash val="solid"/>
          </a:ln>
          <a:effectLst>
            <a:outerShdw blurRad="12700" dist="6350" dir="2700000" algn="bl" rotWithShape="0">
              <a:srgbClr val="000000">
                <a:alpha val="10000"/>
              </a:srgbClr>
            </a:outerShdw>
          </a:effectLst>
        </p:spPr>
        <p:txBody>
          <a:bodyPr/>
          <a:lstStyle/>
          <a:p>
            <a:endParaRPr lang="en-US"/>
          </a:p>
        </p:txBody>
      </p:sp>
      <p:sp>
        <p:nvSpPr>
          <p:cNvPr id="30" name="Text 27"/>
          <p:cNvSpPr/>
          <p:nvPr/>
        </p:nvSpPr>
        <p:spPr>
          <a:xfrm>
            <a:off x="6675120" y="5298948"/>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Notification workflow</a:t>
            </a:r>
            <a:endParaRPr lang="en-US" sz="750" dirty="0"/>
          </a:p>
        </p:txBody>
      </p:sp>
      <p:sp>
        <p:nvSpPr>
          <p:cNvPr id="31" name="Shape 28"/>
          <p:cNvSpPr/>
          <p:nvPr/>
        </p:nvSpPr>
        <p:spPr>
          <a:xfrm>
            <a:off x="9006840" y="5230368"/>
            <a:ext cx="2057400" cy="292608"/>
          </a:xfrm>
          <a:prstGeom prst="roundRect">
            <a:avLst>
              <a:gd name="adj" fmla="val 25000"/>
            </a:avLst>
          </a:prstGeom>
          <a:solidFill>
            <a:srgbClr val="2563EB"/>
          </a:solidFill>
          <a:ln w="12700">
            <a:solidFill>
              <a:srgbClr val="2563EB"/>
            </a:solidFill>
            <a:prstDash val="solid"/>
          </a:ln>
          <a:effectLst>
            <a:outerShdw blurRad="12700" dist="6350" dir="2700000" algn="bl" rotWithShape="0">
              <a:srgbClr val="000000">
                <a:alpha val="10000"/>
              </a:srgbClr>
            </a:outerShdw>
          </a:effectLst>
        </p:spPr>
        <p:txBody>
          <a:bodyPr/>
          <a:lstStyle/>
          <a:p>
            <a:endParaRPr lang="en-US"/>
          </a:p>
        </p:txBody>
      </p:sp>
      <p:sp>
        <p:nvSpPr>
          <p:cNvPr id="32" name="Text 29"/>
          <p:cNvSpPr/>
          <p:nvPr/>
        </p:nvSpPr>
        <p:spPr>
          <a:xfrm>
            <a:off x="9098280" y="5298948"/>
            <a:ext cx="1874520" cy="109728"/>
          </a:xfrm>
          <a:prstGeom prst="rect">
            <a:avLst/>
          </a:prstGeom>
          <a:noFill/>
          <a:ln/>
        </p:spPr>
        <p:txBody>
          <a:bodyPr wrap="square" lIns="0" tIns="0" rIns="0" bIns="0" rtlCol="0" anchor="ctr"/>
          <a:lstStyle/>
          <a:p>
            <a:pPr marL="0" indent="0" algn="ctr">
              <a:buNone/>
            </a:pPr>
            <a:r>
              <a:rPr lang="en-US" sz="750" b="1" dirty="0">
                <a:solidFill>
                  <a:srgbClr val="FFFFFF"/>
                </a:solidFill>
              </a:rPr>
              <a:t>Analytics and dashboards</a:t>
            </a:r>
            <a:endParaRPr lang="en-US" sz="750" dirty="0"/>
          </a:p>
        </p:txBody>
      </p:sp>
      <p:sp>
        <p:nvSpPr>
          <p:cNvPr id="33"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Employee journey and authentication</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The QR code is only the entry point. Identity is validated through Okta authorization flow.</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65836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Shape 6"/>
          <p:cNvSpPr/>
          <p:nvPr/>
        </p:nvSpPr>
        <p:spPr>
          <a:xfrm>
            <a:off x="1161288" y="1773936"/>
            <a:ext cx="438912" cy="438912"/>
          </a:xfrm>
          <a:prstGeom prst="ellipse">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129844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0" name="Text 8"/>
          <p:cNvSpPr/>
          <p:nvPr/>
        </p:nvSpPr>
        <p:spPr>
          <a:xfrm>
            <a:off x="78638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Scan desk QR</a:t>
            </a:r>
            <a:endParaRPr lang="en-US" sz="820" dirty="0"/>
          </a:p>
        </p:txBody>
      </p:sp>
      <p:sp>
        <p:nvSpPr>
          <p:cNvPr id="11" name="Shape 9"/>
          <p:cNvSpPr/>
          <p:nvPr/>
        </p:nvSpPr>
        <p:spPr>
          <a:xfrm>
            <a:off x="2075688" y="1956816"/>
            <a:ext cx="310896" cy="256032"/>
          </a:xfrm>
          <a:prstGeom prst="chevron">
            <a:avLst/>
          </a:prstGeom>
          <a:solidFill>
            <a:srgbClr val="BFDBFE"/>
          </a:solidFill>
          <a:ln w="12700">
            <a:solidFill>
              <a:srgbClr val="BFDBFE"/>
            </a:solidFill>
            <a:prstDash val="solid"/>
          </a:ln>
        </p:spPr>
        <p:txBody>
          <a:bodyPr/>
          <a:lstStyle/>
          <a:p>
            <a:endParaRPr lang="en-US"/>
          </a:p>
        </p:txBody>
      </p:sp>
      <p:sp>
        <p:nvSpPr>
          <p:cNvPr id="12" name="Shape 10"/>
          <p:cNvSpPr/>
          <p:nvPr/>
        </p:nvSpPr>
        <p:spPr>
          <a:xfrm>
            <a:off x="253288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3" name="Shape 11"/>
          <p:cNvSpPr/>
          <p:nvPr/>
        </p:nvSpPr>
        <p:spPr>
          <a:xfrm>
            <a:off x="3035808" y="1773936"/>
            <a:ext cx="438912" cy="438912"/>
          </a:xfrm>
          <a:prstGeom prst="ellipse">
            <a:avLst/>
          </a:prstGeom>
          <a:solidFill>
            <a:srgbClr val="14B8A6"/>
          </a:solidFill>
          <a:ln w="12700">
            <a:solidFill>
              <a:srgbClr val="14B8A6"/>
            </a:solidFill>
            <a:prstDash val="solid"/>
          </a:ln>
        </p:spPr>
        <p:txBody>
          <a:bodyPr/>
          <a:lstStyle/>
          <a:p>
            <a:endParaRPr lang="en-US"/>
          </a:p>
        </p:txBody>
      </p:sp>
      <p:sp>
        <p:nvSpPr>
          <p:cNvPr id="14" name="Text 12"/>
          <p:cNvSpPr/>
          <p:nvPr/>
        </p:nvSpPr>
        <p:spPr>
          <a:xfrm>
            <a:off x="317296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5" name="Text 13"/>
          <p:cNvSpPr/>
          <p:nvPr/>
        </p:nvSpPr>
        <p:spPr>
          <a:xfrm>
            <a:off x="2660904" y="2331720"/>
            <a:ext cx="1188720" cy="228600"/>
          </a:xfrm>
          <a:prstGeom prst="rect">
            <a:avLst/>
          </a:prstGeom>
          <a:noFill/>
          <a:ln/>
        </p:spPr>
        <p:txBody>
          <a:bodyPr wrap="square" lIns="0" tIns="0" rIns="0" bIns="0" rtlCol="0" anchor="ctr">
            <a:normAutofit lnSpcReduction="10000"/>
          </a:bodyPr>
          <a:lstStyle/>
          <a:p>
            <a:pPr marL="0" indent="0" algn="ctr">
              <a:buNone/>
            </a:pPr>
            <a:r>
              <a:rPr lang="en-US" sz="820" b="1" dirty="0">
                <a:solidFill>
                  <a:srgbClr val="0F172A"/>
                </a:solidFill>
              </a:rPr>
              <a:t>Check authenticated session</a:t>
            </a:r>
            <a:endParaRPr lang="en-US" sz="820" dirty="0"/>
          </a:p>
        </p:txBody>
      </p:sp>
      <p:sp>
        <p:nvSpPr>
          <p:cNvPr id="16" name="Shape 14"/>
          <p:cNvSpPr/>
          <p:nvPr/>
        </p:nvSpPr>
        <p:spPr>
          <a:xfrm>
            <a:off x="3950208" y="1956816"/>
            <a:ext cx="310896" cy="256032"/>
          </a:xfrm>
          <a:prstGeom prst="chevron">
            <a:avLst/>
          </a:prstGeom>
          <a:solidFill>
            <a:srgbClr val="BFDBFE"/>
          </a:solidFill>
          <a:ln w="12700">
            <a:solidFill>
              <a:srgbClr val="BFDBFE"/>
            </a:solidFill>
            <a:prstDash val="solid"/>
          </a:ln>
        </p:spPr>
        <p:txBody>
          <a:bodyPr/>
          <a:lstStyle/>
          <a:p>
            <a:endParaRPr lang="en-US"/>
          </a:p>
        </p:txBody>
      </p:sp>
      <p:sp>
        <p:nvSpPr>
          <p:cNvPr id="17" name="Shape 15"/>
          <p:cNvSpPr/>
          <p:nvPr/>
        </p:nvSpPr>
        <p:spPr>
          <a:xfrm>
            <a:off x="440740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8" name="Shape 16"/>
          <p:cNvSpPr/>
          <p:nvPr/>
        </p:nvSpPr>
        <p:spPr>
          <a:xfrm>
            <a:off x="4910328" y="1773936"/>
            <a:ext cx="438912" cy="438912"/>
          </a:xfrm>
          <a:prstGeom prst="ellipse">
            <a:avLst/>
          </a:prstGeom>
          <a:solidFill>
            <a:srgbClr val="8B5CF6"/>
          </a:solidFill>
          <a:ln w="12700">
            <a:solidFill>
              <a:srgbClr val="8B5CF6"/>
            </a:solidFill>
            <a:prstDash val="solid"/>
          </a:ln>
        </p:spPr>
        <p:txBody>
          <a:bodyPr/>
          <a:lstStyle/>
          <a:p>
            <a:endParaRPr lang="en-US"/>
          </a:p>
        </p:txBody>
      </p:sp>
      <p:sp>
        <p:nvSpPr>
          <p:cNvPr id="19" name="Text 17"/>
          <p:cNvSpPr/>
          <p:nvPr/>
        </p:nvSpPr>
        <p:spPr>
          <a:xfrm>
            <a:off x="504748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0" name="Text 18"/>
          <p:cNvSpPr/>
          <p:nvPr/>
        </p:nvSpPr>
        <p:spPr>
          <a:xfrm>
            <a:off x="4535424" y="2331720"/>
            <a:ext cx="1188720" cy="228600"/>
          </a:xfrm>
          <a:prstGeom prst="rect">
            <a:avLst/>
          </a:prstGeom>
          <a:noFill/>
          <a:ln/>
        </p:spPr>
        <p:txBody>
          <a:bodyPr wrap="square" lIns="0" tIns="0" rIns="0" bIns="0" rtlCol="0" anchor="ctr">
            <a:normAutofit lnSpcReduction="10000"/>
          </a:bodyPr>
          <a:lstStyle/>
          <a:p>
            <a:pPr marL="0" indent="0" algn="ctr">
              <a:buNone/>
            </a:pPr>
            <a:r>
              <a:rPr lang="en-US" sz="820" b="1" dirty="0">
                <a:solidFill>
                  <a:srgbClr val="0F172A"/>
                </a:solidFill>
              </a:rPr>
              <a:t>Redirect to Okta if needed</a:t>
            </a:r>
            <a:endParaRPr lang="en-US" sz="820" dirty="0"/>
          </a:p>
        </p:txBody>
      </p:sp>
      <p:sp>
        <p:nvSpPr>
          <p:cNvPr id="21" name="Shape 19"/>
          <p:cNvSpPr/>
          <p:nvPr/>
        </p:nvSpPr>
        <p:spPr>
          <a:xfrm>
            <a:off x="5824728" y="1956816"/>
            <a:ext cx="310896" cy="256032"/>
          </a:xfrm>
          <a:prstGeom prst="chevron">
            <a:avLst/>
          </a:prstGeom>
          <a:solidFill>
            <a:srgbClr val="BFDBFE"/>
          </a:solidFill>
          <a:ln w="12700">
            <a:solidFill>
              <a:srgbClr val="BFDBFE"/>
            </a:solidFill>
            <a:prstDash val="solid"/>
          </a:ln>
        </p:spPr>
        <p:txBody>
          <a:bodyPr/>
          <a:lstStyle/>
          <a:p>
            <a:endParaRPr lang="en-US"/>
          </a:p>
        </p:txBody>
      </p:sp>
      <p:sp>
        <p:nvSpPr>
          <p:cNvPr id="22" name="Shape 20"/>
          <p:cNvSpPr/>
          <p:nvPr/>
        </p:nvSpPr>
        <p:spPr>
          <a:xfrm>
            <a:off x="628192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3" name="Shape 21"/>
          <p:cNvSpPr/>
          <p:nvPr/>
        </p:nvSpPr>
        <p:spPr>
          <a:xfrm>
            <a:off x="6784848" y="1773936"/>
            <a:ext cx="438912" cy="438912"/>
          </a:xfrm>
          <a:prstGeom prst="ellipse">
            <a:avLst/>
          </a:prstGeom>
          <a:solidFill>
            <a:srgbClr val="22C55E"/>
          </a:solidFill>
          <a:ln w="12700">
            <a:solidFill>
              <a:srgbClr val="22C55E"/>
            </a:solidFill>
            <a:prstDash val="solid"/>
          </a:ln>
        </p:spPr>
        <p:txBody>
          <a:bodyPr/>
          <a:lstStyle/>
          <a:p>
            <a:endParaRPr lang="en-US"/>
          </a:p>
        </p:txBody>
      </p:sp>
      <p:sp>
        <p:nvSpPr>
          <p:cNvPr id="24" name="Text 22"/>
          <p:cNvSpPr/>
          <p:nvPr/>
        </p:nvSpPr>
        <p:spPr>
          <a:xfrm>
            <a:off x="692200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5" name="Text 23"/>
          <p:cNvSpPr/>
          <p:nvPr/>
        </p:nvSpPr>
        <p:spPr>
          <a:xfrm>
            <a:off x="640994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Read user claims</a:t>
            </a:r>
            <a:endParaRPr lang="en-US" sz="820" dirty="0"/>
          </a:p>
        </p:txBody>
      </p:sp>
      <p:sp>
        <p:nvSpPr>
          <p:cNvPr id="26" name="Shape 24"/>
          <p:cNvSpPr/>
          <p:nvPr/>
        </p:nvSpPr>
        <p:spPr>
          <a:xfrm>
            <a:off x="7699248" y="1956816"/>
            <a:ext cx="310896" cy="256032"/>
          </a:xfrm>
          <a:prstGeom prst="chevron">
            <a:avLst/>
          </a:prstGeom>
          <a:solidFill>
            <a:srgbClr val="BFDBFE"/>
          </a:solidFill>
          <a:ln w="12700">
            <a:solidFill>
              <a:srgbClr val="BFDBFE"/>
            </a:solidFill>
            <a:prstDash val="solid"/>
          </a:ln>
        </p:spPr>
        <p:txBody>
          <a:bodyPr/>
          <a:lstStyle/>
          <a:p>
            <a:endParaRPr lang="en-US"/>
          </a:p>
        </p:txBody>
      </p:sp>
      <p:sp>
        <p:nvSpPr>
          <p:cNvPr id="27" name="Shape 25"/>
          <p:cNvSpPr/>
          <p:nvPr/>
        </p:nvSpPr>
        <p:spPr>
          <a:xfrm>
            <a:off x="8156448" y="1572768"/>
            <a:ext cx="1444752" cy="1143000"/>
          </a:xfrm>
          <a:prstGeom prst="roundRect">
            <a:avLst>
              <a:gd name="adj" fmla="val 9600"/>
            </a:avLst>
          </a:prstGeom>
          <a:solidFill>
            <a:srgbClr val="ECFE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8" name="Shape 26"/>
          <p:cNvSpPr/>
          <p:nvPr/>
        </p:nvSpPr>
        <p:spPr>
          <a:xfrm>
            <a:off x="8659368" y="1773936"/>
            <a:ext cx="438912" cy="438912"/>
          </a:xfrm>
          <a:prstGeom prst="ellipse">
            <a:avLst/>
          </a:prstGeom>
          <a:solidFill>
            <a:srgbClr val="F59E0B"/>
          </a:solidFill>
          <a:ln w="12700">
            <a:solidFill>
              <a:srgbClr val="F59E0B"/>
            </a:solidFill>
            <a:prstDash val="solid"/>
          </a:ln>
        </p:spPr>
        <p:txBody>
          <a:bodyPr/>
          <a:lstStyle/>
          <a:p>
            <a:endParaRPr lang="en-US"/>
          </a:p>
        </p:txBody>
      </p:sp>
      <p:sp>
        <p:nvSpPr>
          <p:cNvPr id="29" name="Text 27"/>
          <p:cNvSpPr/>
          <p:nvPr/>
        </p:nvSpPr>
        <p:spPr>
          <a:xfrm>
            <a:off x="879652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30" name="Text 28"/>
          <p:cNvSpPr/>
          <p:nvPr/>
        </p:nvSpPr>
        <p:spPr>
          <a:xfrm>
            <a:off x="828446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Map desk to employee</a:t>
            </a:r>
            <a:endParaRPr lang="en-US" sz="820" dirty="0"/>
          </a:p>
        </p:txBody>
      </p:sp>
      <p:sp>
        <p:nvSpPr>
          <p:cNvPr id="31" name="Shape 29"/>
          <p:cNvSpPr/>
          <p:nvPr/>
        </p:nvSpPr>
        <p:spPr>
          <a:xfrm>
            <a:off x="9573768" y="1956816"/>
            <a:ext cx="310896" cy="256032"/>
          </a:xfrm>
          <a:prstGeom prst="chevron">
            <a:avLst/>
          </a:prstGeom>
          <a:solidFill>
            <a:srgbClr val="BFDBFE"/>
          </a:solidFill>
          <a:ln w="12700">
            <a:solidFill>
              <a:srgbClr val="BFDBFE"/>
            </a:solidFill>
            <a:prstDash val="solid"/>
          </a:ln>
        </p:spPr>
        <p:txBody>
          <a:bodyPr/>
          <a:lstStyle/>
          <a:p>
            <a:endParaRPr lang="en-US"/>
          </a:p>
        </p:txBody>
      </p:sp>
      <p:sp>
        <p:nvSpPr>
          <p:cNvPr id="32" name="Shape 30"/>
          <p:cNvSpPr/>
          <p:nvPr/>
        </p:nvSpPr>
        <p:spPr>
          <a:xfrm>
            <a:off x="10030968" y="1572768"/>
            <a:ext cx="1444752" cy="1143000"/>
          </a:xfrm>
          <a:prstGeom prst="roundRect">
            <a:avLst>
              <a:gd name="adj" fmla="val 9600"/>
            </a:avLst>
          </a:prstGeom>
          <a:solidFill>
            <a:srgbClr val="EEF2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33" name="Shape 31"/>
          <p:cNvSpPr/>
          <p:nvPr/>
        </p:nvSpPr>
        <p:spPr>
          <a:xfrm>
            <a:off x="10533888" y="1773936"/>
            <a:ext cx="438912" cy="438912"/>
          </a:xfrm>
          <a:prstGeom prst="ellipse">
            <a:avLst/>
          </a:prstGeom>
          <a:solidFill>
            <a:srgbClr val="0EA5E9"/>
          </a:solidFill>
          <a:ln w="12700">
            <a:solidFill>
              <a:srgbClr val="0EA5E9"/>
            </a:solidFill>
            <a:prstDash val="solid"/>
          </a:ln>
        </p:spPr>
        <p:txBody>
          <a:bodyPr/>
          <a:lstStyle/>
          <a:p>
            <a:endParaRPr lang="en-US"/>
          </a:p>
        </p:txBody>
      </p:sp>
      <p:sp>
        <p:nvSpPr>
          <p:cNvPr id="34" name="Text 32"/>
          <p:cNvSpPr/>
          <p:nvPr/>
        </p:nvSpPr>
        <p:spPr>
          <a:xfrm>
            <a:off x="10671048" y="1865376"/>
            <a:ext cx="146304" cy="73152"/>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35" name="Text 33"/>
          <p:cNvSpPr/>
          <p:nvPr/>
        </p:nvSpPr>
        <p:spPr>
          <a:xfrm>
            <a:off x="10158984" y="2331720"/>
            <a:ext cx="1188720" cy="228600"/>
          </a:xfrm>
          <a:prstGeom prst="rect">
            <a:avLst/>
          </a:prstGeom>
          <a:noFill/>
          <a:ln/>
        </p:spPr>
        <p:txBody>
          <a:bodyPr wrap="square" lIns="0" tIns="0" rIns="0" bIns="0" rtlCol="0" anchor="ctr">
            <a:normAutofit/>
          </a:bodyPr>
          <a:lstStyle/>
          <a:p>
            <a:pPr marL="0" indent="0" algn="ctr">
              <a:buNone/>
            </a:pPr>
            <a:r>
              <a:rPr lang="en-US" sz="820" b="1" dirty="0">
                <a:solidFill>
                  <a:srgbClr val="0F172A"/>
                </a:solidFill>
              </a:rPr>
              <a:t>Update dashboard</a:t>
            </a:r>
            <a:endParaRPr lang="en-US" sz="820" dirty="0"/>
          </a:p>
        </p:txBody>
      </p:sp>
      <p:sp>
        <p:nvSpPr>
          <p:cNvPr id="36" name="Shape 34"/>
          <p:cNvSpPr/>
          <p:nvPr/>
        </p:nvSpPr>
        <p:spPr>
          <a:xfrm>
            <a:off x="960120" y="3703320"/>
            <a:ext cx="4800600" cy="1417320"/>
          </a:xfrm>
          <a:prstGeom prst="roundRect">
            <a:avLst>
              <a:gd name="adj" fmla="val 774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37" name="Text 35"/>
          <p:cNvSpPr/>
          <p:nvPr/>
        </p:nvSpPr>
        <p:spPr>
          <a:xfrm>
            <a:off x="1188720" y="3950208"/>
            <a:ext cx="1737360" cy="228600"/>
          </a:xfrm>
          <a:prstGeom prst="rect">
            <a:avLst/>
          </a:prstGeom>
          <a:noFill/>
          <a:ln/>
        </p:spPr>
        <p:txBody>
          <a:bodyPr wrap="square" lIns="0" tIns="0" rIns="0" bIns="0" rtlCol="0" anchor="ctr"/>
          <a:lstStyle/>
          <a:p>
            <a:pPr marL="0" indent="0">
              <a:buNone/>
            </a:pPr>
            <a:r>
              <a:rPr lang="en-US" sz="1300" b="1" dirty="0">
                <a:solidFill>
                  <a:srgbClr val="2563EB"/>
                </a:solidFill>
              </a:rPr>
              <a:t>Single-tenant Okta</a:t>
            </a:r>
            <a:endParaRPr lang="en-US" sz="1300" dirty="0"/>
          </a:p>
        </p:txBody>
      </p:sp>
      <p:sp>
        <p:nvSpPr>
          <p:cNvPr id="38" name="Text 36"/>
          <p:cNvSpPr/>
          <p:nvPr/>
        </p:nvSpPr>
        <p:spPr>
          <a:xfrm>
            <a:off x="1188720" y="4343400"/>
            <a:ext cx="4206240" cy="384048"/>
          </a:xfrm>
          <a:prstGeom prst="rect">
            <a:avLst/>
          </a:prstGeom>
          <a:noFill/>
          <a:ln/>
        </p:spPr>
        <p:txBody>
          <a:bodyPr wrap="square" lIns="0" tIns="0" rIns="0" bIns="0" rtlCol="0" anchor="ctr">
            <a:normAutofit lnSpcReduction="10000"/>
          </a:bodyPr>
          <a:lstStyle/>
          <a:p>
            <a:pPr marL="0" indent="0">
              <a:buNone/>
            </a:pPr>
            <a:r>
              <a:rPr lang="en-US" sz="870" dirty="0">
                <a:solidFill>
                  <a:srgbClr val="475569"/>
                </a:solidFill>
              </a:rPr>
              <a:t>Everyone belongs to one organization tenant. The backend redirects unauthenticated users to the configured authorization endpoint and uses claims like email/name/group after login.</a:t>
            </a:r>
            <a:endParaRPr lang="en-US" sz="870" dirty="0"/>
          </a:p>
        </p:txBody>
      </p:sp>
      <p:sp>
        <p:nvSpPr>
          <p:cNvPr id="42"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Desk occupancy and release logic</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 fair release algorithm prevents phantom occupancy while protecting legitimate meeting scenarios.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73152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Text 6"/>
          <p:cNvSpPr/>
          <p:nvPr/>
        </p:nvSpPr>
        <p:spPr>
          <a:xfrm>
            <a:off x="84124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2563EB"/>
                </a:solidFill>
              </a:rPr>
              <a:t>Desk booked or scanned</a:t>
            </a:r>
            <a:endParaRPr lang="en-US" sz="820" dirty="0"/>
          </a:p>
        </p:txBody>
      </p:sp>
      <p:sp>
        <p:nvSpPr>
          <p:cNvPr id="9" name="Shape 7"/>
          <p:cNvSpPr/>
          <p:nvPr/>
        </p:nvSpPr>
        <p:spPr>
          <a:xfrm>
            <a:off x="2267712" y="1581912"/>
            <a:ext cx="320040" cy="201168"/>
          </a:xfrm>
          <a:prstGeom prst="chevron">
            <a:avLst/>
          </a:prstGeom>
          <a:solidFill>
            <a:srgbClr val="BFDBFE"/>
          </a:solidFill>
          <a:ln w="12700">
            <a:solidFill>
              <a:srgbClr val="BFDBFE"/>
            </a:solidFill>
            <a:prstDash val="solid"/>
          </a:ln>
        </p:spPr>
        <p:txBody>
          <a:bodyPr/>
          <a:lstStyle/>
          <a:p>
            <a:endParaRPr lang="en-US"/>
          </a:p>
        </p:txBody>
      </p:sp>
      <p:sp>
        <p:nvSpPr>
          <p:cNvPr id="10" name="Shape 8"/>
          <p:cNvSpPr/>
          <p:nvPr/>
        </p:nvSpPr>
        <p:spPr>
          <a:xfrm>
            <a:off x="274320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1" name="Text 9"/>
          <p:cNvSpPr/>
          <p:nvPr/>
        </p:nvSpPr>
        <p:spPr>
          <a:xfrm>
            <a:off x="285292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14B8A6"/>
                </a:solidFill>
              </a:rPr>
              <a:t>Swipe-in exists?</a:t>
            </a:r>
            <a:endParaRPr lang="en-US" sz="820" dirty="0"/>
          </a:p>
        </p:txBody>
      </p:sp>
      <p:sp>
        <p:nvSpPr>
          <p:cNvPr id="12" name="Shape 10"/>
          <p:cNvSpPr/>
          <p:nvPr/>
        </p:nvSpPr>
        <p:spPr>
          <a:xfrm>
            <a:off x="4279392" y="1581912"/>
            <a:ext cx="320040" cy="201168"/>
          </a:xfrm>
          <a:prstGeom prst="chevron">
            <a:avLst/>
          </a:prstGeom>
          <a:solidFill>
            <a:srgbClr val="BFDBFE"/>
          </a:solidFill>
          <a:ln w="12700">
            <a:solidFill>
              <a:srgbClr val="BFDBFE"/>
            </a:solidFill>
            <a:prstDash val="solid"/>
          </a:ln>
        </p:spPr>
        <p:txBody>
          <a:bodyPr/>
          <a:lstStyle/>
          <a:p>
            <a:endParaRPr lang="en-US"/>
          </a:p>
        </p:txBody>
      </p:sp>
      <p:sp>
        <p:nvSpPr>
          <p:cNvPr id="13" name="Shape 11"/>
          <p:cNvSpPr/>
          <p:nvPr/>
        </p:nvSpPr>
        <p:spPr>
          <a:xfrm>
            <a:off x="466344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4" name="Text 12"/>
          <p:cNvSpPr/>
          <p:nvPr/>
        </p:nvSpPr>
        <p:spPr>
          <a:xfrm>
            <a:off x="477316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22C55E"/>
                </a:solidFill>
              </a:rPr>
              <a:t>LAN active?</a:t>
            </a:r>
            <a:endParaRPr lang="en-US" sz="820" dirty="0"/>
          </a:p>
        </p:txBody>
      </p:sp>
      <p:sp>
        <p:nvSpPr>
          <p:cNvPr id="15" name="Shape 13"/>
          <p:cNvSpPr/>
          <p:nvPr/>
        </p:nvSpPr>
        <p:spPr>
          <a:xfrm>
            <a:off x="6199632" y="1581912"/>
            <a:ext cx="320040" cy="201168"/>
          </a:xfrm>
          <a:prstGeom prst="chevron">
            <a:avLst/>
          </a:prstGeom>
          <a:solidFill>
            <a:srgbClr val="BFDBFE"/>
          </a:solidFill>
          <a:ln w="12700">
            <a:solidFill>
              <a:srgbClr val="BFDBFE"/>
            </a:solidFill>
            <a:prstDash val="solid"/>
          </a:ln>
        </p:spPr>
        <p:txBody>
          <a:bodyPr/>
          <a:lstStyle/>
          <a:p>
            <a:endParaRPr lang="en-US"/>
          </a:p>
        </p:txBody>
      </p:sp>
      <p:sp>
        <p:nvSpPr>
          <p:cNvPr id="16" name="Shape 14"/>
          <p:cNvSpPr/>
          <p:nvPr/>
        </p:nvSpPr>
        <p:spPr>
          <a:xfrm>
            <a:off x="658368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17" name="Text 15"/>
          <p:cNvSpPr/>
          <p:nvPr/>
        </p:nvSpPr>
        <p:spPr>
          <a:xfrm>
            <a:off x="669340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F59E0B"/>
                </a:solidFill>
              </a:rPr>
              <a:t>Inactive 45 min?</a:t>
            </a:r>
            <a:endParaRPr lang="en-US" sz="820" dirty="0"/>
          </a:p>
        </p:txBody>
      </p:sp>
      <p:sp>
        <p:nvSpPr>
          <p:cNvPr id="18" name="Shape 16"/>
          <p:cNvSpPr/>
          <p:nvPr/>
        </p:nvSpPr>
        <p:spPr>
          <a:xfrm>
            <a:off x="8119872" y="1581912"/>
            <a:ext cx="320040" cy="201168"/>
          </a:xfrm>
          <a:prstGeom prst="chevron">
            <a:avLst/>
          </a:prstGeom>
          <a:solidFill>
            <a:srgbClr val="BFDBFE"/>
          </a:solidFill>
          <a:ln w="12700">
            <a:solidFill>
              <a:srgbClr val="BFDBFE"/>
            </a:solidFill>
            <a:prstDash val="solid"/>
          </a:ln>
        </p:spPr>
        <p:txBody>
          <a:bodyPr/>
          <a:lstStyle/>
          <a:p>
            <a:endParaRPr lang="en-US"/>
          </a:p>
        </p:txBody>
      </p:sp>
      <p:sp>
        <p:nvSpPr>
          <p:cNvPr id="19" name="Shape 17"/>
          <p:cNvSpPr/>
          <p:nvPr/>
        </p:nvSpPr>
        <p:spPr>
          <a:xfrm>
            <a:off x="850392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0" name="Text 18"/>
          <p:cNvSpPr/>
          <p:nvPr/>
        </p:nvSpPr>
        <p:spPr>
          <a:xfrm>
            <a:off x="861364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8B5CF6"/>
                </a:solidFill>
              </a:rPr>
              <a:t>Calendar conflict?</a:t>
            </a:r>
            <a:endParaRPr lang="en-US" sz="820" dirty="0"/>
          </a:p>
        </p:txBody>
      </p:sp>
      <p:sp>
        <p:nvSpPr>
          <p:cNvPr id="21" name="Shape 19"/>
          <p:cNvSpPr/>
          <p:nvPr/>
        </p:nvSpPr>
        <p:spPr>
          <a:xfrm>
            <a:off x="10040112" y="1581912"/>
            <a:ext cx="320040" cy="201168"/>
          </a:xfrm>
          <a:prstGeom prst="chevron">
            <a:avLst/>
          </a:prstGeom>
          <a:solidFill>
            <a:srgbClr val="BFDBFE"/>
          </a:solidFill>
          <a:ln w="12700">
            <a:solidFill>
              <a:srgbClr val="BFDBFE"/>
            </a:solidFill>
            <a:prstDash val="solid"/>
          </a:ln>
        </p:spPr>
        <p:txBody>
          <a:bodyPr/>
          <a:lstStyle/>
          <a:p>
            <a:endParaRPr lang="en-US"/>
          </a:p>
        </p:txBody>
      </p:sp>
      <p:sp>
        <p:nvSpPr>
          <p:cNvPr id="22" name="Shape 20"/>
          <p:cNvSpPr/>
          <p:nvPr/>
        </p:nvSpPr>
        <p:spPr>
          <a:xfrm>
            <a:off x="10058400" y="1325880"/>
            <a:ext cx="1481328" cy="731520"/>
          </a:xfrm>
          <a:prstGeom prst="roundRect">
            <a:avLst>
              <a:gd name="adj" fmla="val 150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3" name="Text 21"/>
          <p:cNvSpPr/>
          <p:nvPr/>
        </p:nvSpPr>
        <p:spPr>
          <a:xfrm>
            <a:off x="10168128" y="1545336"/>
            <a:ext cx="1261872" cy="164592"/>
          </a:xfrm>
          <a:prstGeom prst="rect">
            <a:avLst/>
          </a:prstGeom>
          <a:noFill/>
          <a:ln/>
        </p:spPr>
        <p:txBody>
          <a:bodyPr wrap="square" lIns="0" tIns="0" rIns="0" bIns="0" rtlCol="0" anchor="ctr">
            <a:normAutofit/>
          </a:bodyPr>
          <a:lstStyle/>
          <a:p>
            <a:pPr marL="0" indent="0" algn="ctr">
              <a:buNone/>
            </a:pPr>
            <a:r>
              <a:rPr lang="en-US" sz="820" b="1" dirty="0">
                <a:solidFill>
                  <a:srgbClr val="EF4444"/>
                </a:solidFill>
              </a:rPr>
              <a:t>Notify user / release</a:t>
            </a:r>
            <a:endParaRPr lang="en-US" sz="820" dirty="0"/>
          </a:p>
        </p:txBody>
      </p:sp>
      <p:sp>
        <p:nvSpPr>
          <p:cNvPr id="24" name="Shape 22"/>
          <p:cNvSpPr/>
          <p:nvPr/>
        </p:nvSpPr>
        <p:spPr>
          <a:xfrm>
            <a:off x="841248" y="2788920"/>
            <a:ext cx="4937760" cy="2560320"/>
          </a:xfrm>
          <a:prstGeom prst="roundRect">
            <a:avLst>
              <a:gd name="adj" fmla="val 4286"/>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5" name="Text 23"/>
          <p:cNvSpPr/>
          <p:nvPr/>
        </p:nvSpPr>
        <p:spPr>
          <a:xfrm>
            <a:off x="1097280" y="3063240"/>
            <a:ext cx="2286000" cy="228600"/>
          </a:xfrm>
          <a:prstGeom prst="rect">
            <a:avLst/>
          </a:prstGeom>
          <a:noFill/>
          <a:ln/>
        </p:spPr>
        <p:txBody>
          <a:bodyPr wrap="square" lIns="0" tIns="0" rIns="0" bIns="0" rtlCol="0" anchor="ctr"/>
          <a:lstStyle/>
          <a:p>
            <a:pPr marL="0" indent="0">
              <a:buNone/>
            </a:pPr>
            <a:r>
              <a:rPr lang="en-US" sz="1500" b="1" dirty="0">
                <a:solidFill>
                  <a:srgbClr val="0F172A"/>
                </a:solidFill>
              </a:rPr>
              <a:t>Release rules</a:t>
            </a:r>
            <a:endParaRPr lang="en-US" sz="1500" dirty="0"/>
          </a:p>
        </p:txBody>
      </p:sp>
      <p:sp>
        <p:nvSpPr>
          <p:cNvPr id="26" name="Shape 24"/>
          <p:cNvSpPr/>
          <p:nvPr/>
        </p:nvSpPr>
        <p:spPr>
          <a:xfrm>
            <a:off x="1097280" y="3534156"/>
            <a:ext cx="100584" cy="100584"/>
          </a:xfrm>
          <a:prstGeom prst="ellipse">
            <a:avLst/>
          </a:prstGeom>
          <a:solidFill>
            <a:srgbClr val="22C55E"/>
          </a:solidFill>
          <a:ln w="12700">
            <a:solidFill>
              <a:srgbClr val="22C55E"/>
            </a:solidFill>
            <a:prstDash val="solid"/>
          </a:ln>
        </p:spPr>
        <p:txBody>
          <a:bodyPr/>
          <a:lstStyle/>
          <a:p>
            <a:endParaRPr lang="en-US"/>
          </a:p>
        </p:txBody>
      </p:sp>
      <p:sp>
        <p:nvSpPr>
          <p:cNvPr id="27" name="Text 25"/>
          <p:cNvSpPr/>
          <p:nvPr/>
        </p:nvSpPr>
        <p:spPr>
          <a:xfrm>
            <a:off x="1280160" y="3493008"/>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Release if no swipe-in after configured grace period.</a:t>
            </a:r>
            <a:endParaRPr lang="en-US" sz="930" dirty="0"/>
          </a:p>
        </p:txBody>
      </p:sp>
      <p:sp>
        <p:nvSpPr>
          <p:cNvPr id="28" name="Shape 26"/>
          <p:cNvSpPr/>
          <p:nvPr/>
        </p:nvSpPr>
        <p:spPr>
          <a:xfrm>
            <a:off x="1097280" y="3963924"/>
            <a:ext cx="100584" cy="100584"/>
          </a:xfrm>
          <a:prstGeom prst="ellipse">
            <a:avLst/>
          </a:prstGeom>
          <a:solidFill>
            <a:srgbClr val="F59E0B"/>
          </a:solidFill>
          <a:ln w="12700">
            <a:solidFill>
              <a:srgbClr val="F59E0B"/>
            </a:solidFill>
            <a:prstDash val="solid"/>
          </a:ln>
        </p:spPr>
        <p:txBody>
          <a:bodyPr/>
          <a:lstStyle/>
          <a:p>
            <a:endParaRPr lang="en-US"/>
          </a:p>
        </p:txBody>
      </p:sp>
      <p:sp>
        <p:nvSpPr>
          <p:cNvPr id="29" name="Text 27"/>
          <p:cNvSpPr/>
          <p:nvPr/>
        </p:nvSpPr>
        <p:spPr>
          <a:xfrm>
            <a:off x="1280160" y="3922776"/>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Release if LAN is inactive beyond 45 minutes and no valid hold signal exists.</a:t>
            </a:r>
            <a:endParaRPr lang="en-US" sz="930" dirty="0"/>
          </a:p>
        </p:txBody>
      </p:sp>
      <p:sp>
        <p:nvSpPr>
          <p:cNvPr id="30" name="Shape 28"/>
          <p:cNvSpPr/>
          <p:nvPr/>
        </p:nvSpPr>
        <p:spPr>
          <a:xfrm>
            <a:off x="1097280" y="4393692"/>
            <a:ext cx="100584" cy="100584"/>
          </a:xfrm>
          <a:prstGeom prst="ellipse">
            <a:avLst/>
          </a:prstGeom>
          <a:solidFill>
            <a:srgbClr val="8B5CF6"/>
          </a:solidFill>
          <a:ln w="12700">
            <a:solidFill>
              <a:srgbClr val="8B5CF6"/>
            </a:solidFill>
            <a:prstDash val="solid"/>
          </a:ln>
        </p:spPr>
        <p:txBody>
          <a:bodyPr/>
          <a:lstStyle/>
          <a:p>
            <a:endParaRPr lang="en-US"/>
          </a:p>
        </p:txBody>
      </p:sp>
      <p:sp>
        <p:nvSpPr>
          <p:cNvPr id="31" name="Text 29"/>
          <p:cNvSpPr/>
          <p:nvPr/>
        </p:nvSpPr>
        <p:spPr>
          <a:xfrm>
            <a:off x="1280160" y="4352544"/>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Pause release if employee is in a scheduled meeting.</a:t>
            </a:r>
            <a:endParaRPr lang="en-US" sz="930" dirty="0"/>
          </a:p>
        </p:txBody>
      </p:sp>
      <p:sp>
        <p:nvSpPr>
          <p:cNvPr id="32" name="Shape 30"/>
          <p:cNvSpPr/>
          <p:nvPr/>
        </p:nvSpPr>
        <p:spPr>
          <a:xfrm>
            <a:off x="1097280" y="4823460"/>
            <a:ext cx="100584" cy="100584"/>
          </a:xfrm>
          <a:prstGeom prst="ellipse">
            <a:avLst/>
          </a:prstGeom>
          <a:solidFill>
            <a:srgbClr val="2563EB"/>
          </a:solidFill>
          <a:ln w="12700">
            <a:solidFill>
              <a:srgbClr val="2563EB"/>
            </a:solidFill>
            <a:prstDash val="solid"/>
          </a:ln>
        </p:spPr>
        <p:txBody>
          <a:bodyPr/>
          <a:lstStyle/>
          <a:p>
            <a:endParaRPr lang="en-US"/>
          </a:p>
        </p:txBody>
      </p:sp>
      <p:sp>
        <p:nvSpPr>
          <p:cNvPr id="33" name="Text 31"/>
          <p:cNvSpPr/>
          <p:nvPr/>
        </p:nvSpPr>
        <p:spPr>
          <a:xfrm>
            <a:off x="1280160" y="4782312"/>
            <a:ext cx="41148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Send heartbeat reminder for unscheduled meeting or ambiguous absence.</a:t>
            </a:r>
            <a:endParaRPr lang="en-US" sz="930" dirty="0"/>
          </a:p>
        </p:txBody>
      </p:sp>
      <p:sp>
        <p:nvSpPr>
          <p:cNvPr id="34" name="Shape 32"/>
          <p:cNvSpPr/>
          <p:nvPr/>
        </p:nvSpPr>
        <p:spPr>
          <a:xfrm>
            <a:off x="6263640" y="2788920"/>
            <a:ext cx="4937760" cy="2560320"/>
          </a:xfrm>
          <a:prstGeom prst="roundRect">
            <a:avLst>
              <a:gd name="adj" fmla="val 4286"/>
            </a:avLst>
          </a:prstGeom>
          <a:solidFill>
            <a:srgbClr val="FEFCE8"/>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35" name="Text 33"/>
          <p:cNvSpPr/>
          <p:nvPr/>
        </p:nvSpPr>
        <p:spPr>
          <a:xfrm>
            <a:off x="6537960" y="3063240"/>
            <a:ext cx="2560320" cy="228600"/>
          </a:xfrm>
          <a:prstGeom prst="rect">
            <a:avLst/>
          </a:prstGeom>
          <a:noFill/>
          <a:ln/>
        </p:spPr>
        <p:txBody>
          <a:bodyPr wrap="square" lIns="0" tIns="0" rIns="0" bIns="0" rtlCol="0" anchor="ctr"/>
          <a:lstStyle/>
          <a:p>
            <a:pPr marL="0" indent="0">
              <a:buNone/>
            </a:pPr>
            <a:r>
              <a:rPr lang="en-US" sz="1500" b="1" dirty="0">
                <a:solidFill>
                  <a:srgbClr val="F59E0B"/>
                </a:solidFill>
              </a:rPr>
              <a:t>Governance guardrails</a:t>
            </a:r>
            <a:endParaRPr lang="en-US" sz="1500" dirty="0"/>
          </a:p>
        </p:txBody>
      </p:sp>
      <p:sp>
        <p:nvSpPr>
          <p:cNvPr id="36" name="Shape 34"/>
          <p:cNvSpPr/>
          <p:nvPr/>
        </p:nvSpPr>
        <p:spPr>
          <a:xfrm>
            <a:off x="6537960" y="3534156"/>
            <a:ext cx="100584" cy="100584"/>
          </a:xfrm>
          <a:prstGeom prst="ellipse">
            <a:avLst/>
          </a:prstGeom>
          <a:solidFill>
            <a:srgbClr val="F59E0B"/>
          </a:solidFill>
          <a:ln w="12700">
            <a:solidFill>
              <a:srgbClr val="F59E0B"/>
            </a:solidFill>
            <a:prstDash val="solid"/>
          </a:ln>
        </p:spPr>
        <p:txBody>
          <a:bodyPr/>
          <a:lstStyle/>
          <a:p>
            <a:endParaRPr lang="en-US"/>
          </a:p>
        </p:txBody>
      </p:sp>
      <p:sp>
        <p:nvSpPr>
          <p:cNvPr id="37" name="Text 35"/>
          <p:cNvSpPr/>
          <p:nvPr/>
        </p:nvSpPr>
        <p:spPr>
          <a:xfrm>
            <a:off x="6720840" y="3493008"/>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Use clear employee communication before enforcing auto-release.</a:t>
            </a:r>
            <a:endParaRPr lang="en-US" sz="930" dirty="0"/>
          </a:p>
        </p:txBody>
      </p:sp>
      <p:sp>
        <p:nvSpPr>
          <p:cNvPr id="38" name="Shape 36"/>
          <p:cNvSpPr/>
          <p:nvPr/>
        </p:nvSpPr>
        <p:spPr>
          <a:xfrm>
            <a:off x="6537960" y="3963924"/>
            <a:ext cx="100584" cy="100584"/>
          </a:xfrm>
          <a:prstGeom prst="ellipse">
            <a:avLst/>
          </a:prstGeom>
          <a:solidFill>
            <a:srgbClr val="2563EB"/>
          </a:solidFill>
          <a:ln w="12700">
            <a:solidFill>
              <a:srgbClr val="2563EB"/>
            </a:solidFill>
            <a:prstDash val="solid"/>
          </a:ln>
        </p:spPr>
        <p:txBody>
          <a:bodyPr/>
          <a:lstStyle/>
          <a:p>
            <a:endParaRPr lang="en-US"/>
          </a:p>
        </p:txBody>
      </p:sp>
      <p:sp>
        <p:nvSpPr>
          <p:cNvPr id="39" name="Text 37"/>
          <p:cNvSpPr/>
          <p:nvPr/>
        </p:nvSpPr>
        <p:spPr>
          <a:xfrm>
            <a:off x="6720840" y="3922776"/>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Keep privacy by limiting reporting to operational need.</a:t>
            </a:r>
            <a:endParaRPr lang="en-US" sz="930" dirty="0"/>
          </a:p>
        </p:txBody>
      </p:sp>
      <p:sp>
        <p:nvSpPr>
          <p:cNvPr id="40" name="Shape 38"/>
          <p:cNvSpPr/>
          <p:nvPr/>
        </p:nvSpPr>
        <p:spPr>
          <a:xfrm>
            <a:off x="6537960" y="4393692"/>
            <a:ext cx="100584" cy="100584"/>
          </a:xfrm>
          <a:prstGeom prst="ellipse">
            <a:avLst/>
          </a:prstGeom>
          <a:solidFill>
            <a:srgbClr val="14B8A6"/>
          </a:solidFill>
          <a:ln w="12700">
            <a:solidFill>
              <a:srgbClr val="14B8A6"/>
            </a:solidFill>
            <a:prstDash val="solid"/>
          </a:ln>
        </p:spPr>
        <p:txBody>
          <a:bodyPr/>
          <a:lstStyle/>
          <a:p>
            <a:endParaRPr lang="en-US"/>
          </a:p>
        </p:txBody>
      </p:sp>
      <p:sp>
        <p:nvSpPr>
          <p:cNvPr id="41" name="Text 39"/>
          <p:cNvSpPr/>
          <p:nvPr/>
        </p:nvSpPr>
        <p:spPr>
          <a:xfrm>
            <a:off x="6720840" y="4352544"/>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Allow manager review for access violation workflow.</a:t>
            </a:r>
            <a:endParaRPr lang="en-US" sz="930" dirty="0"/>
          </a:p>
        </p:txBody>
      </p:sp>
      <p:sp>
        <p:nvSpPr>
          <p:cNvPr id="42" name="Shape 40"/>
          <p:cNvSpPr/>
          <p:nvPr/>
        </p:nvSpPr>
        <p:spPr>
          <a:xfrm>
            <a:off x="6537960" y="4823460"/>
            <a:ext cx="100584" cy="100584"/>
          </a:xfrm>
          <a:prstGeom prst="ellipse">
            <a:avLst/>
          </a:prstGeom>
          <a:solidFill>
            <a:srgbClr val="22C55E"/>
          </a:solidFill>
          <a:ln w="12700">
            <a:solidFill>
              <a:srgbClr val="22C55E"/>
            </a:solidFill>
            <a:prstDash val="solid"/>
          </a:ln>
        </p:spPr>
        <p:txBody>
          <a:bodyPr/>
          <a:lstStyle/>
          <a:p>
            <a:endParaRPr lang="en-US"/>
          </a:p>
        </p:txBody>
      </p:sp>
      <p:sp>
        <p:nvSpPr>
          <p:cNvPr id="43" name="Text 41"/>
          <p:cNvSpPr/>
          <p:nvPr/>
        </p:nvSpPr>
        <p:spPr>
          <a:xfrm>
            <a:off x="6720840" y="4782312"/>
            <a:ext cx="420624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Maintain audit trail for release, override, and notification actions.</a:t>
            </a:r>
            <a:endParaRPr lang="en-US" sz="930" dirty="0"/>
          </a:p>
        </p:txBody>
      </p:sp>
      <p:sp>
        <p:nvSpPr>
          <p:cNvPr id="44"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Live dashboards and reporting</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Facility teams and managers get a practical, role-based view of availability, utilization, and exceptions.</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pic>
        <p:nvPicPr>
          <p:cNvPr id="7" name="Image 0" descr="/mnt/data/38e8c81e6c.png"/>
          <p:cNvPicPr>
            <a:picLocks noChangeAspect="1"/>
          </p:cNvPicPr>
          <p:nvPr/>
        </p:nvPicPr>
        <p:blipFill>
          <a:blip r:embed="rId3"/>
          <a:srcRect l="12393" r="12393"/>
          <a:stretch/>
        </p:blipFill>
        <p:spPr>
          <a:xfrm>
            <a:off x="530352" y="1005840"/>
            <a:ext cx="6035040" cy="5349240"/>
          </a:xfrm>
          <a:prstGeom prst="rect">
            <a:avLst/>
          </a:prstGeom>
        </p:spPr>
      </p:pic>
      <p:sp>
        <p:nvSpPr>
          <p:cNvPr id="8" name="Shape 5"/>
          <p:cNvSpPr/>
          <p:nvPr/>
        </p:nvSpPr>
        <p:spPr>
          <a:xfrm>
            <a:off x="6812280" y="1024128"/>
            <a:ext cx="4526280" cy="5376672"/>
          </a:xfrm>
          <a:prstGeom prst="roundRect">
            <a:avLst>
              <a:gd name="adj" fmla="val 2424"/>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9" name="Text 6"/>
          <p:cNvSpPr/>
          <p:nvPr/>
        </p:nvSpPr>
        <p:spPr>
          <a:xfrm>
            <a:off x="7086600" y="1307592"/>
            <a:ext cx="3291840" cy="256032"/>
          </a:xfrm>
          <a:prstGeom prst="rect">
            <a:avLst/>
          </a:prstGeom>
          <a:noFill/>
          <a:ln/>
        </p:spPr>
        <p:txBody>
          <a:bodyPr wrap="square" lIns="0" tIns="0" rIns="0" bIns="0" rtlCol="0" anchor="ctr"/>
          <a:lstStyle/>
          <a:p>
            <a:pPr marL="0" indent="0">
              <a:buNone/>
            </a:pPr>
            <a:r>
              <a:rPr lang="en-US" sz="1500" b="1" dirty="0">
                <a:solidFill>
                  <a:srgbClr val="0F172A"/>
                </a:solidFill>
              </a:rPr>
              <a:t>Dashboard views</a:t>
            </a:r>
            <a:endParaRPr lang="en-US" sz="1500" dirty="0"/>
          </a:p>
        </p:txBody>
      </p:sp>
      <p:sp>
        <p:nvSpPr>
          <p:cNvPr id="10" name="Shape 7"/>
          <p:cNvSpPr/>
          <p:nvPr/>
        </p:nvSpPr>
        <p:spPr>
          <a:xfrm>
            <a:off x="7114032" y="1783080"/>
            <a:ext cx="164592" cy="164592"/>
          </a:xfrm>
          <a:prstGeom prst="ellipse">
            <a:avLst/>
          </a:prstGeom>
          <a:solidFill>
            <a:srgbClr val="22C55E"/>
          </a:solidFill>
          <a:ln w="12700">
            <a:solidFill>
              <a:srgbClr val="22C55E"/>
            </a:solidFill>
            <a:prstDash val="solid"/>
          </a:ln>
        </p:spPr>
        <p:txBody>
          <a:bodyPr/>
          <a:lstStyle/>
          <a:p>
            <a:endParaRPr lang="en-US"/>
          </a:p>
        </p:txBody>
      </p:sp>
      <p:sp>
        <p:nvSpPr>
          <p:cNvPr id="11" name="Text 8"/>
          <p:cNvSpPr/>
          <p:nvPr/>
        </p:nvSpPr>
        <p:spPr>
          <a:xfrm>
            <a:off x="7148779" y="179496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2" name="Text 9"/>
          <p:cNvSpPr/>
          <p:nvPr/>
        </p:nvSpPr>
        <p:spPr>
          <a:xfrm>
            <a:off x="7388352" y="1751076"/>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Floor/wing/zone-wise availability</a:t>
            </a:r>
            <a:endParaRPr lang="en-US" sz="880" dirty="0"/>
          </a:p>
        </p:txBody>
      </p:sp>
      <p:sp>
        <p:nvSpPr>
          <p:cNvPr id="13" name="Shape 10"/>
          <p:cNvSpPr/>
          <p:nvPr/>
        </p:nvSpPr>
        <p:spPr>
          <a:xfrm>
            <a:off x="7114032" y="2258568"/>
            <a:ext cx="164592" cy="164592"/>
          </a:xfrm>
          <a:prstGeom prst="ellipse">
            <a:avLst/>
          </a:prstGeom>
          <a:solidFill>
            <a:srgbClr val="22C55E"/>
          </a:solidFill>
          <a:ln w="12700">
            <a:solidFill>
              <a:srgbClr val="22C55E"/>
            </a:solidFill>
            <a:prstDash val="solid"/>
          </a:ln>
        </p:spPr>
        <p:txBody>
          <a:bodyPr/>
          <a:lstStyle/>
          <a:p>
            <a:endParaRPr lang="en-US"/>
          </a:p>
        </p:txBody>
      </p:sp>
      <p:sp>
        <p:nvSpPr>
          <p:cNvPr id="14" name="Text 11"/>
          <p:cNvSpPr/>
          <p:nvPr/>
        </p:nvSpPr>
        <p:spPr>
          <a:xfrm>
            <a:off x="7148779" y="227045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5" name="Text 12"/>
          <p:cNvSpPr/>
          <p:nvPr/>
        </p:nvSpPr>
        <p:spPr>
          <a:xfrm>
            <a:off x="7388352" y="2226564"/>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Seat numbering and layout map</a:t>
            </a:r>
            <a:endParaRPr lang="en-US" sz="880" dirty="0"/>
          </a:p>
        </p:txBody>
      </p:sp>
      <p:sp>
        <p:nvSpPr>
          <p:cNvPr id="16" name="Shape 13"/>
          <p:cNvSpPr/>
          <p:nvPr/>
        </p:nvSpPr>
        <p:spPr>
          <a:xfrm>
            <a:off x="7114032" y="2734056"/>
            <a:ext cx="164592" cy="164592"/>
          </a:xfrm>
          <a:prstGeom prst="ellipse">
            <a:avLst/>
          </a:prstGeom>
          <a:solidFill>
            <a:srgbClr val="22C55E"/>
          </a:solidFill>
          <a:ln w="12700">
            <a:solidFill>
              <a:srgbClr val="22C55E"/>
            </a:solidFill>
            <a:prstDash val="solid"/>
          </a:ln>
        </p:spPr>
        <p:txBody>
          <a:bodyPr/>
          <a:lstStyle/>
          <a:p>
            <a:endParaRPr lang="en-US"/>
          </a:p>
        </p:txBody>
      </p:sp>
      <p:sp>
        <p:nvSpPr>
          <p:cNvPr id="17" name="Text 14"/>
          <p:cNvSpPr/>
          <p:nvPr/>
        </p:nvSpPr>
        <p:spPr>
          <a:xfrm>
            <a:off x="7148779" y="274594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8" name="Text 15"/>
          <p:cNvSpPr/>
          <p:nvPr/>
        </p:nvSpPr>
        <p:spPr>
          <a:xfrm>
            <a:off x="7388352" y="2702052"/>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Manager seat allocation view</a:t>
            </a:r>
            <a:endParaRPr lang="en-US" sz="880" dirty="0"/>
          </a:p>
        </p:txBody>
      </p:sp>
      <p:sp>
        <p:nvSpPr>
          <p:cNvPr id="19" name="Shape 16"/>
          <p:cNvSpPr/>
          <p:nvPr/>
        </p:nvSpPr>
        <p:spPr>
          <a:xfrm>
            <a:off x="7114032" y="3209544"/>
            <a:ext cx="164592" cy="164592"/>
          </a:xfrm>
          <a:prstGeom prst="ellipse">
            <a:avLst/>
          </a:prstGeom>
          <a:solidFill>
            <a:srgbClr val="22C55E"/>
          </a:solidFill>
          <a:ln w="12700">
            <a:solidFill>
              <a:srgbClr val="22C55E"/>
            </a:solidFill>
            <a:prstDash val="solid"/>
          </a:ln>
        </p:spPr>
        <p:txBody>
          <a:bodyPr/>
          <a:lstStyle/>
          <a:p>
            <a:endParaRPr lang="en-US"/>
          </a:p>
        </p:txBody>
      </p:sp>
      <p:sp>
        <p:nvSpPr>
          <p:cNvPr id="20" name="Text 17"/>
          <p:cNvSpPr/>
          <p:nvPr/>
        </p:nvSpPr>
        <p:spPr>
          <a:xfrm>
            <a:off x="7148779" y="3221431"/>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1" name="Text 18"/>
          <p:cNvSpPr/>
          <p:nvPr/>
        </p:nvSpPr>
        <p:spPr>
          <a:xfrm>
            <a:off x="7388352" y="3177540"/>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Employee hot seat booking</a:t>
            </a:r>
            <a:endParaRPr lang="en-US" sz="880" dirty="0"/>
          </a:p>
        </p:txBody>
      </p:sp>
      <p:sp>
        <p:nvSpPr>
          <p:cNvPr id="22" name="Shape 19"/>
          <p:cNvSpPr/>
          <p:nvPr/>
        </p:nvSpPr>
        <p:spPr>
          <a:xfrm>
            <a:off x="7114032" y="3685032"/>
            <a:ext cx="164592" cy="164592"/>
          </a:xfrm>
          <a:prstGeom prst="ellipse">
            <a:avLst/>
          </a:prstGeom>
          <a:solidFill>
            <a:srgbClr val="22C55E"/>
          </a:solidFill>
          <a:ln w="12700">
            <a:solidFill>
              <a:srgbClr val="22C55E"/>
            </a:solidFill>
            <a:prstDash val="solid"/>
          </a:ln>
        </p:spPr>
        <p:txBody>
          <a:bodyPr/>
          <a:lstStyle/>
          <a:p>
            <a:endParaRPr lang="en-US"/>
          </a:p>
        </p:txBody>
      </p:sp>
      <p:sp>
        <p:nvSpPr>
          <p:cNvPr id="23" name="Text 20"/>
          <p:cNvSpPr/>
          <p:nvPr/>
        </p:nvSpPr>
        <p:spPr>
          <a:xfrm>
            <a:off x="7148779" y="369691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4" name="Text 21"/>
          <p:cNvSpPr/>
          <p:nvPr/>
        </p:nvSpPr>
        <p:spPr>
          <a:xfrm>
            <a:off x="7388352" y="3653028"/>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Swipe-in validation against booking</a:t>
            </a:r>
            <a:endParaRPr lang="en-US" sz="880" dirty="0"/>
          </a:p>
        </p:txBody>
      </p:sp>
      <p:sp>
        <p:nvSpPr>
          <p:cNvPr id="25" name="Shape 22"/>
          <p:cNvSpPr/>
          <p:nvPr/>
        </p:nvSpPr>
        <p:spPr>
          <a:xfrm>
            <a:off x="7114032" y="4160520"/>
            <a:ext cx="164592" cy="164592"/>
          </a:xfrm>
          <a:prstGeom prst="ellipse">
            <a:avLst/>
          </a:prstGeom>
          <a:solidFill>
            <a:srgbClr val="22C55E"/>
          </a:solidFill>
          <a:ln w="12700">
            <a:solidFill>
              <a:srgbClr val="22C55E"/>
            </a:solidFill>
            <a:prstDash val="solid"/>
          </a:ln>
        </p:spPr>
        <p:txBody>
          <a:bodyPr/>
          <a:lstStyle/>
          <a:p>
            <a:endParaRPr lang="en-US"/>
          </a:p>
        </p:txBody>
      </p:sp>
      <p:sp>
        <p:nvSpPr>
          <p:cNvPr id="26" name="Text 23"/>
          <p:cNvSpPr/>
          <p:nvPr/>
        </p:nvSpPr>
        <p:spPr>
          <a:xfrm>
            <a:off x="7148779" y="417240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7" name="Text 24"/>
          <p:cNvSpPr/>
          <p:nvPr/>
        </p:nvSpPr>
        <p:spPr>
          <a:xfrm>
            <a:off x="7388352" y="4128516"/>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Utilization by team, shift, floor, zone</a:t>
            </a:r>
            <a:endParaRPr lang="en-US" sz="880" dirty="0"/>
          </a:p>
        </p:txBody>
      </p:sp>
      <p:sp>
        <p:nvSpPr>
          <p:cNvPr id="28" name="Shape 25"/>
          <p:cNvSpPr/>
          <p:nvPr/>
        </p:nvSpPr>
        <p:spPr>
          <a:xfrm>
            <a:off x="7114032" y="4636008"/>
            <a:ext cx="164592" cy="164592"/>
          </a:xfrm>
          <a:prstGeom prst="ellipse">
            <a:avLst/>
          </a:prstGeom>
          <a:solidFill>
            <a:srgbClr val="22C55E"/>
          </a:solidFill>
          <a:ln w="12700">
            <a:solidFill>
              <a:srgbClr val="22C55E"/>
            </a:solidFill>
            <a:prstDash val="solid"/>
          </a:ln>
        </p:spPr>
        <p:txBody>
          <a:bodyPr/>
          <a:lstStyle/>
          <a:p>
            <a:endParaRPr lang="en-US"/>
          </a:p>
        </p:txBody>
      </p:sp>
      <p:sp>
        <p:nvSpPr>
          <p:cNvPr id="29" name="Text 26"/>
          <p:cNvSpPr/>
          <p:nvPr/>
        </p:nvSpPr>
        <p:spPr>
          <a:xfrm>
            <a:off x="7148779" y="464789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30" name="Text 27"/>
          <p:cNvSpPr/>
          <p:nvPr/>
        </p:nvSpPr>
        <p:spPr>
          <a:xfrm>
            <a:off x="7388352" y="4604004"/>
            <a:ext cx="39319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Access violation workflow queue</a:t>
            </a:r>
            <a:endParaRPr lang="en-US" sz="880" dirty="0"/>
          </a:p>
        </p:txBody>
      </p:sp>
      <p:sp>
        <p:nvSpPr>
          <p:cNvPr id="31"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AI-assisted workplace experience</a:t>
            </a:r>
            <a:endParaRPr lang="en-US" sz="2300" dirty="0"/>
          </a:p>
        </p:txBody>
      </p:sp>
      <p:sp>
        <p:nvSpPr>
          <p:cNvPr id="4" name="Text 2"/>
          <p:cNvSpPr/>
          <p:nvPr/>
        </p:nvSpPr>
        <p:spPr>
          <a:xfrm>
            <a:off x="594360" y="749808"/>
            <a:ext cx="8138160" cy="237744"/>
          </a:xfrm>
          <a:prstGeom prst="rect">
            <a:avLst/>
          </a:prstGeom>
          <a:noFill/>
          <a:ln/>
        </p:spPr>
        <p:txBody>
          <a:bodyPr wrap="square" lIns="0" tIns="0" rIns="0" bIns="0" rtlCol="0" anchor="ctr"/>
          <a:lstStyle/>
          <a:p>
            <a:pPr marL="0" indent="0">
              <a:buNone/>
            </a:pPr>
            <a:r>
              <a:rPr lang="en-US" sz="980" dirty="0">
                <a:solidFill>
                  <a:srgbClr val="64748B"/>
                </a:solidFill>
              </a:rPr>
              <a:t>AI makes the system proactive, not just transactional.</a:t>
            </a:r>
            <a:endParaRPr lang="en-US" sz="98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68580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Shape 6"/>
          <p:cNvSpPr/>
          <p:nvPr/>
        </p:nvSpPr>
        <p:spPr>
          <a:xfrm>
            <a:off x="886968" y="1508760"/>
            <a:ext cx="493776" cy="493776"/>
          </a:xfrm>
          <a:prstGeom prst="roundRect">
            <a:avLst>
              <a:gd name="adj" fmla="val 22222"/>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97840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10" name="Text 8"/>
          <p:cNvSpPr/>
          <p:nvPr/>
        </p:nvSpPr>
        <p:spPr>
          <a:xfrm>
            <a:off x="152704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Employee Copilot</a:t>
            </a:r>
            <a:endParaRPr lang="en-US" sz="1400" dirty="0"/>
          </a:p>
        </p:txBody>
      </p:sp>
      <p:sp>
        <p:nvSpPr>
          <p:cNvPr id="11" name="Shape 9"/>
          <p:cNvSpPr/>
          <p:nvPr/>
        </p:nvSpPr>
        <p:spPr>
          <a:xfrm>
            <a:off x="1005840" y="2281428"/>
            <a:ext cx="100584" cy="100584"/>
          </a:xfrm>
          <a:prstGeom prst="ellipse">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118872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Suggest nearest available seat near teammates.</a:t>
            </a:r>
            <a:endParaRPr lang="en-US" sz="930" dirty="0"/>
          </a:p>
        </p:txBody>
      </p:sp>
      <p:sp>
        <p:nvSpPr>
          <p:cNvPr id="13" name="Shape 11"/>
          <p:cNvSpPr/>
          <p:nvPr/>
        </p:nvSpPr>
        <p:spPr>
          <a:xfrm>
            <a:off x="1005840" y="2894076"/>
            <a:ext cx="100584" cy="100584"/>
          </a:xfrm>
          <a:prstGeom prst="ellipse">
            <a:avLst/>
          </a:prstGeom>
          <a:solidFill>
            <a:srgbClr val="2563EB"/>
          </a:solidFill>
          <a:ln w="12700">
            <a:solidFill>
              <a:srgbClr val="2563EB"/>
            </a:solidFill>
            <a:prstDash val="solid"/>
          </a:ln>
        </p:spPr>
        <p:txBody>
          <a:bodyPr/>
          <a:lstStyle/>
          <a:p>
            <a:endParaRPr lang="en-US"/>
          </a:p>
        </p:txBody>
      </p:sp>
      <p:sp>
        <p:nvSpPr>
          <p:cNvPr id="14" name="Text 12"/>
          <p:cNvSpPr/>
          <p:nvPr/>
        </p:nvSpPr>
        <p:spPr>
          <a:xfrm>
            <a:off x="1188720" y="2852928"/>
            <a:ext cx="2743200" cy="256032"/>
          </a:xfrm>
          <a:prstGeom prst="rect">
            <a:avLst/>
          </a:prstGeom>
          <a:noFill/>
          <a:ln/>
        </p:spPr>
        <p:txBody>
          <a:bodyPr wrap="square" lIns="0" tIns="0" rIns="0" bIns="0" rtlCol="0" anchor="ctr">
            <a:normAutofit lnSpcReduction="10000"/>
          </a:bodyPr>
          <a:lstStyle/>
          <a:p>
            <a:pPr marL="0" indent="0">
              <a:buNone/>
            </a:pPr>
            <a:r>
              <a:rPr lang="en-US" sz="930" dirty="0">
                <a:solidFill>
                  <a:srgbClr val="0F172A"/>
                </a:solidFill>
              </a:rPr>
              <a:t>Remember favorite seat traits such as window/friends/team zone.</a:t>
            </a:r>
            <a:endParaRPr lang="en-US" sz="930" dirty="0"/>
          </a:p>
        </p:txBody>
      </p:sp>
      <p:sp>
        <p:nvSpPr>
          <p:cNvPr id="15" name="Shape 13"/>
          <p:cNvSpPr/>
          <p:nvPr/>
        </p:nvSpPr>
        <p:spPr>
          <a:xfrm>
            <a:off x="1005840" y="3506724"/>
            <a:ext cx="100584" cy="100584"/>
          </a:xfrm>
          <a:prstGeom prst="ellipse">
            <a:avLst/>
          </a:prstGeom>
          <a:solidFill>
            <a:srgbClr val="2563EB"/>
          </a:solidFill>
          <a:ln w="12700">
            <a:solidFill>
              <a:srgbClr val="2563EB"/>
            </a:solidFill>
            <a:prstDash val="solid"/>
          </a:ln>
        </p:spPr>
        <p:txBody>
          <a:bodyPr/>
          <a:lstStyle/>
          <a:p>
            <a:endParaRPr lang="en-US"/>
          </a:p>
        </p:txBody>
      </p:sp>
      <p:sp>
        <p:nvSpPr>
          <p:cNvPr id="16" name="Text 14"/>
          <p:cNvSpPr/>
          <p:nvPr/>
        </p:nvSpPr>
        <p:spPr>
          <a:xfrm>
            <a:off x="1188720" y="3465576"/>
            <a:ext cx="2743200" cy="256032"/>
          </a:xfrm>
          <a:prstGeom prst="rect">
            <a:avLst/>
          </a:prstGeom>
          <a:noFill/>
          <a:ln/>
        </p:spPr>
        <p:txBody>
          <a:bodyPr wrap="square" lIns="0" tIns="0" rIns="0" bIns="0" rtlCol="0" anchor="ctr">
            <a:normAutofit lnSpcReduction="10000"/>
          </a:bodyPr>
          <a:lstStyle/>
          <a:p>
            <a:pPr marL="0" indent="0">
              <a:buNone/>
            </a:pPr>
            <a:r>
              <a:rPr lang="en-US" sz="930" dirty="0">
                <a:solidFill>
                  <a:srgbClr val="0F172A"/>
                </a:solidFill>
              </a:rPr>
              <a:t>Recommend adjacent seats when team cluster is visible.</a:t>
            </a:r>
            <a:endParaRPr lang="en-US" sz="930" dirty="0"/>
          </a:p>
        </p:txBody>
      </p:sp>
      <p:sp>
        <p:nvSpPr>
          <p:cNvPr id="17" name="Shape 15"/>
          <p:cNvSpPr/>
          <p:nvPr/>
        </p:nvSpPr>
        <p:spPr>
          <a:xfrm>
            <a:off x="1005840" y="4119372"/>
            <a:ext cx="100584" cy="100584"/>
          </a:xfrm>
          <a:prstGeom prst="ellipse">
            <a:avLst/>
          </a:prstGeom>
          <a:solidFill>
            <a:srgbClr val="2563EB"/>
          </a:solidFill>
          <a:ln w="12700">
            <a:solidFill>
              <a:srgbClr val="2563EB"/>
            </a:solidFill>
            <a:prstDash val="solid"/>
          </a:ln>
        </p:spPr>
        <p:txBody>
          <a:bodyPr/>
          <a:lstStyle/>
          <a:p>
            <a:endParaRPr lang="en-US"/>
          </a:p>
        </p:txBody>
      </p:sp>
      <p:sp>
        <p:nvSpPr>
          <p:cNvPr id="18" name="Text 16"/>
          <p:cNvSpPr/>
          <p:nvPr/>
        </p:nvSpPr>
        <p:spPr>
          <a:xfrm>
            <a:off x="118872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Reduce desk-hunting time on peak days.</a:t>
            </a:r>
            <a:endParaRPr lang="en-US" sz="930" dirty="0"/>
          </a:p>
        </p:txBody>
      </p:sp>
      <p:sp>
        <p:nvSpPr>
          <p:cNvPr id="19" name="Shape 17"/>
          <p:cNvSpPr/>
          <p:nvPr/>
        </p:nvSpPr>
        <p:spPr>
          <a:xfrm>
            <a:off x="416052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20" name="Shape 18"/>
          <p:cNvSpPr/>
          <p:nvPr/>
        </p:nvSpPr>
        <p:spPr>
          <a:xfrm>
            <a:off x="4361688" y="1508760"/>
            <a:ext cx="493776" cy="493776"/>
          </a:xfrm>
          <a:prstGeom prst="roundRect">
            <a:avLst>
              <a:gd name="adj" fmla="val 22222"/>
            </a:avLst>
          </a:prstGeom>
          <a:solidFill>
            <a:srgbClr val="14B8A6"/>
          </a:solidFill>
          <a:ln w="12700">
            <a:solidFill>
              <a:srgbClr val="14B8A6"/>
            </a:solidFill>
            <a:prstDash val="solid"/>
          </a:ln>
        </p:spPr>
        <p:txBody>
          <a:bodyPr/>
          <a:lstStyle/>
          <a:p>
            <a:endParaRPr lang="en-US"/>
          </a:p>
        </p:txBody>
      </p:sp>
      <p:sp>
        <p:nvSpPr>
          <p:cNvPr id="21" name="Text 19"/>
          <p:cNvSpPr/>
          <p:nvPr/>
        </p:nvSpPr>
        <p:spPr>
          <a:xfrm>
            <a:off x="445312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22" name="Text 20"/>
          <p:cNvSpPr/>
          <p:nvPr/>
        </p:nvSpPr>
        <p:spPr>
          <a:xfrm>
            <a:off x="500176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Manager Copilot</a:t>
            </a:r>
            <a:endParaRPr lang="en-US" sz="1400" dirty="0"/>
          </a:p>
        </p:txBody>
      </p:sp>
      <p:sp>
        <p:nvSpPr>
          <p:cNvPr id="23" name="Shape 21"/>
          <p:cNvSpPr/>
          <p:nvPr/>
        </p:nvSpPr>
        <p:spPr>
          <a:xfrm>
            <a:off x="4480560" y="2281428"/>
            <a:ext cx="100584" cy="100584"/>
          </a:xfrm>
          <a:prstGeom prst="ellipse">
            <a:avLst/>
          </a:prstGeom>
          <a:solidFill>
            <a:srgbClr val="14B8A6"/>
          </a:solidFill>
          <a:ln w="12700">
            <a:solidFill>
              <a:srgbClr val="14B8A6"/>
            </a:solidFill>
            <a:prstDash val="solid"/>
          </a:ln>
        </p:spPr>
        <p:txBody>
          <a:bodyPr/>
          <a:lstStyle/>
          <a:p>
            <a:endParaRPr lang="en-US"/>
          </a:p>
        </p:txBody>
      </p:sp>
      <p:sp>
        <p:nvSpPr>
          <p:cNvPr id="24" name="Text 22"/>
          <p:cNvSpPr/>
          <p:nvPr/>
        </p:nvSpPr>
        <p:spPr>
          <a:xfrm>
            <a:off x="466344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Plan team co-location by sprint/project days.</a:t>
            </a:r>
            <a:endParaRPr lang="en-US" sz="930" dirty="0"/>
          </a:p>
        </p:txBody>
      </p:sp>
      <p:sp>
        <p:nvSpPr>
          <p:cNvPr id="25" name="Shape 23"/>
          <p:cNvSpPr/>
          <p:nvPr/>
        </p:nvSpPr>
        <p:spPr>
          <a:xfrm>
            <a:off x="4480560" y="2894076"/>
            <a:ext cx="100584" cy="100584"/>
          </a:xfrm>
          <a:prstGeom prst="ellipse">
            <a:avLst/>
          </a:prstGeom>
          <a:solidFill>
            <a:srgbClr val="14B8A6"/>
          </a:solidFill>
          <a:ln w="12700">
            <a:solidFill>
              <a:srgbClr val="14B8A6"/>
            </a:solidFill>
            <a:prstDash val="solid"/>
          </a:ln>
        </p:spPr>
        <p:txBody>
          <a:bodyPr/>
          <a:lstStyle/>
          <a:p>
            <a:endParaRPr lang="en-US"/>
          </a:p>
        </p:txBody>
      </p:sp>
      <p:sp>
        <p:nvSpPr>
          <p:cNvPr id="26" name="Text 24"/>
          <p:cNvSpPr/>
          <p:nvPr/>
        </p:nvSpPr>
        <p:spPr>
          <a:xfrm>
            <a:off x="4663440" y="2852928"/>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Identify teams repeatedly split across zones.</a:t>
            </a:r>
            <a:endParaRPr lang="en-US" sz="930" dirty="0"/>
          </a:p>
        </p:txBody>
      </p:sp>
      <p:sp>
        <p:nvSpPr>
          <p:cNvPr id="27" name="Shape 25"/>
          <p:cNvSpPr/>
          <p:nvPr/>
        </p:nvSpPr>
        <p:spPr>
          <a:xfrm>
            <a:off x="4480560" y="3506724"/>
            <a:ext cx="100584" cy="100584"/>
          </a:xfrm>
          <a:prstGeom prst="ellipse">
            <a:avLst/>
          </a:prstGeom>
          <a:solidFill>
            <a:srgbClr val="14B8A6"/>
          </a:solidFill>
          <a:ln w="12700">
            <a:solidFill>
              <a:srgbClr val="14B8A6"/>
            </a:solidFill>
            <a:prstDash val="solid"/>
          </a:ln>
        </p:spPr>
        <p:txBody>
          <a:bodyPr/>
          <a:lstStyle/>
          <a:p>
            <a:endParaRPr lang="en-US"/>
          </a:p>
        </p:txBody>
      </p:sp>
      <p:sp>
        <p:nvSpPr>
          <p:cNvPr id="28" name="Text 26"/>
          <p:cNvSpPr/>
          <p:nvPr/>
        </p:nvSpPr>
        <p:spPr>
          <a:xfrm>
            <a:off x="4663440" y="3465576"/>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Assign new joiners near buddy or manager.</a:t>
            </a:r>
            <a:endParaRPr lang="en-US" sz="930" dirty="0"/>
          </a:p>
        </p:txBody>
      </p:sp>
      <p:sp>
        <p:nvSpPr>
          <p:cNvPr id="29" name="Shape 27"/>
          <p:cNvSpPr/>
          <p:nvPr/>
        </p:nvSpPr>
        <p:spPr>
          <a:xfrm>
            <a:off x="4480560" y="4119372"/>
            <a:ext cx="100584" cy="100584"/>
          </a:xfrm>
          <a:prstGeom prst="ellipse">
            <a:avLst/>
          </a:prstGeom>
          <a:solidFill>
            <a:srgbClr val="14B8A6"/>
          </a:solidFill>
          <a:ln w="12700">
            <a:solidFill>
              <a:srgbClr val="14B8A6"/>
            </a:solidFill>
            <a:prstDash val="solid"/>
          </a:ln>
        </p:spPr>
        <p:txBody>
          <a:bodyPr/>
          <a:lstStyle/>
          <a:p>
            <a:endParaRPr lang="en-US"/>
          </a:p>
        </p:txBody>
      </p:sp>
      <p:sp>
        <p:nvSpPr>
          <p:cNvPr id="30" name="Text 28"/>
          <p:cNvSpPr/>
          <p:nvPr/>
        </p:nvSpPr>
        <p:spPr>
          <a:xfrm>
            <a:off x="466344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Approve exceptions faster with context.</a:t>
            </a:r>
            <a:endParaRPr lang="en-US" sz="930" dirty="0"/>
          </a:p>
        </p:txBody>
      </p:sp>
      <p:sp>
        <p:nvSpPr>
          <p:cNvPr id="31" name="Shape 29"/>
          <p:cNvSpPr/>
          <p:nvPr/>
        </p:nvSpPr>
        <p:spPr>
          <a:xfrm>
            <a:off x="7635240" y="1280160"/>
            <a:ext cx="3429000" cy="4526280"/>
          </a:xfrm>
          <a:prstGeom prst="roundRect">
            <a:avLst>
              <a:gd name="adj" fmla="val 3200"/>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32" name="Shape 30"/>
          <p:cNvSpPr/>
          <p:nvPr/>
        </p:nvSpPr>
        <p:spPr>
          <a:xfrm>
            <a:off x="7836408" y="1508760"/>
            <a:ext cx="493776" cy="493776"/>
          </a:xfrm>
          <a:prstGeom prst="roundRect">
            <a:avLst>
              <a:gd name="adj" fmla="val 22222"/>
            </a:avLst>
          </a:prstGeom>
          <a:solidFill>
            <a:srgbClr val="22C55E"/>
          </a:solidFill>
          <a:ln w="12700">
            <a:solidFill>
              <a:srgbClr val="22C55E"/>
            </a:solidFill>
            <a:prstDash val="solid"/>
          </a:ln>
        </p:spPr>
        <p:txBody>
          <a:bodyPr/>
          <a:lstStyle/>
          <a:p>
            <a:endParaRPr lang="en-US"/>
          </a:p>
        </p:txBody>
      </p:sp>
      <p:sp>
        <p:nvSpPr>
          <p:cNvPr id="33" name="Text 31"/>
          <p:cNvSpPr/>
          <p:nvPr/>
        </p:nvSpPr>
        <p:spPr>
          <a:xfrm>
            <a:off x="7927848" y="1673352"/>
            <a:ext cx="292608" cy="100584"/>
          </a:xfrm>
          <a:prstGeom prst="rect">
            <a:avLst/>
          </a:prstGeom>
          <a:noFill/>
          <a:ln/>
        </p:spPr>
        <p:txBody>
          <a:bodyPr wrap="square" lIns="0" tIns="0" rIns="0" bIns="0" rtlCol="0" anchor="ctr"/>
          <a:lstStyle/>
          <a:p>
            <a:pPr marL="0" indent="0">
              <a:buNone/>
            </a:pPr>
            <a:r>
              <a:rPr lang="en-US" sz="800" b="1" dirty="0">
                <a:solidFill>
                  <a:srgbClr val="FFFFFF"/>
                </a:solidFill>
              </a:rPr>
              <a:t>AI</a:t>
            </a:r>
            <a:endParaRPr lang="en-US" sz="800" dirty="0"/>
          </a:p>
        </p:txBody>
      </p:sp>
      <p:sp>
        <p:nvSpPr>
          <p:cNvPr id="34" name="Text 32"/>
          <p:cNvSpPr/>
          <p:nvPr/>
        </p:nvSpPr>
        <p:spPr>
          <a:xfrm>
            <a:off x="8476488" y="1645920"/>
            <a:ext cx="2194560" cy="228600"/>
          </a:xfrm>
          <a:prstGeom prst="rect">
            <a:avLst/>
          </a:prstGeom>
          <a:noFill/>
          <a:ln/>
        </p:spPr>
        <p:txBody>
          <a:bodyPr wrap="square" lIns="0" tIns="0" rIns="0" bIns="0" rtlCol="0" anchor="ctr"/>
          <a:lstStyle/>
          <a:p>
            <a:pPr marL="0" indent="0">
              <a:buNone/>
            </a:pPr>
            <a:r>
              <a:rPr lang="en-US" sz="1400" b="1" dirty="0">
                <a:solidFill>
                  <a:srgbClr val="0F172A"/>
                </a:solidFill>
              </a:rPr>
              <a:t>Facilities Copilot</a:t>
            </a:r>
            <a:endParaRPr lang="en-US" sz="1400" dirty="0"/>
          </a:p>
        </p:txBody>
      </p:sp>
      <p:sp>
        <p:nvSpPr>
          <p:cNvPr id="35" name="Shape 33"/>
          <p:cNvSpPr/>
          <p:nvPr/>
        </p:nvSpPr>
        <p:spPr>
          <a:xfrm>
            <a:off x="7955280" y="2281428"/>
            <a:ext cx="100584" cy="100584"/>
          </a:xfrm>
          <a:prstGeom prst="ellipse">
            <a:avLst/>
          </a:prstGeom>
          <a:solidFill>
            <a:srgbClr val="22C55E"/>
          </a:solidFill>
          <a:ln w="12700">
            <a:solidFill>
              <a:srgbClr val="22C55E"/>
            </a:solidFill>
            <a:prstDash val="solid"/>
          </a:ln>
        </p:spPr>
        <p:txBody>
          <a:bodyPr/>
          <a:lstStyle/>
          <a:p>
            <a:endParaRPr lang="en-US"/>
          </a:p>
        </p:txBody>
      </p:sp>
      <p:sp>
        <p:nvSpPr>
          <p:cNvPr id="36" name="Text 34"/>
          <p:cNvSpPr/>
          <p:nvPr/>
        </p:nvSpPr>
        <p:spPr>
          <a:xfrm>
            <a:off x="8138160" y="2240280"/>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Predict zone load by day and shift.</a:t>
            </a:r>
            <a:endParaRPr lang="en-US" sz="930" dirty="0"/>
          </a:p>
        </p:txBody>
      </p:sp>
      <p:sp>
        <p:nvSpPr>
          <p:cNvPr id="37" name="Shape 35"/>
          <p:cNvSpPr/>
          <p:nvPr/>
        </p:nvSpPr>
        <p:spPr>
          <a:xfrm>
            <a:off x="7955280" y="2894076"/>
            <a:ext cx="100584" cy="100584"/>
          </a:xfrm>
          <a:prstGeom prst="ellipse">
            <a:avLst/>
          </a:prstGeom>
          <a:solidFill>
            <a:srgbClr val="22C55E"/>
          </a:solidFill>
          <a:ln w="12700">
            <a:solidFill>
              <a:srgbClr val="22C55E"/>
            </a:solidFill>
            <a:prstDash val="solid"/>
          </a:ln>
        </p:spPr>
        <p:txBody>
          <a:bodyPr/>
          <a:lstStyle/>
          <a:p>
            <a:endParaRPr lang="en-US"/>
          </a:p>
        </p:txBody>
      </p:sp>
      <p:sp>
        <p:nvSpPr>
          <p:cNvPr id="38" name="Text 36"/>
          <p:cNvSpPr/>
          <p:nvPr/>
        </p:nvSpPr>
        <p:spPr>
          <a:xfrm>
            <a:off x="8138160" y="2852928"/>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Identify underused zones and overused amenities.</a:t>
            </a:r>
            <a:endParaRPr lang="en-US" sz="930" dirty="0"/>
          </a:p>
        </p:txBody>
      </p:sp>
      <p:sp>
        <p:nvSpPr>
          <p:cNvPr id="39" name="Shape 37"/>
          <p:cNvSpPr/>
          <p:nvPr/>
        </p:nvSpPr>
        <p:spPr>
          <a:xfrm>
            <a:off x="7955280" y="3506724"/>
            <a:ext cx="100584" cy="100584"/>
          </a:xfrm>
          <a:prstGeom prst="ellipse">
            <a:avLst/>
          </a:prstGeom>
          <a:solidFill>
            <a:srgbClr val="22C55E"/>
          </a:solidFill>
          <a:ln w="12700">
            <a:solidFill>
              <a:srgbClr val="22C55E"/>
            </a:solidFill>
            <a:prstDash val="solid"/>
          </a:ln>
        </p:spPr>
        <p:txBody>
          <a:bodyPr/>
          <a:lstStyle/>
          <a:p>
            <a:endParaRPr lang="en-US"/>
          </a:p>
        </p:txBody>
      </p:sp>
      <p:sp>
        <p:nvSpPr>
          <p:cNvPr id="40" name="Text 38"/>
          <p:cNvSpPr/>
          <p:nvPr/>
        </p:nvSpPr>
        <p:spPr>
          <a:xfrm>
            <a:off x="8138160" y="3465576"/>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Tune housekeeping/pantry/HVAC based on demand.</a:t>
            </a:r>
            <a:endParaRPr lang="en-US" sz="930" dirty="0"/>
          </a:p>
        </p:txBody>
      </p:sp>
      <p:sp>
        <p:nvSpPr>
          <p:cNvPr id="41" name="Shape 39"/>
          <p:cNvSpPr/>
          <p:nvPr/>
        </p:nvSpPr>
        <p:spPr>
          <a:xfrm>
            <a:off x="7955280" y="4119372"/>
            <a:ext cx="100584" cy="100584"/>
          </a:xfrm>
          <a:prstGeom prst="ellipse">
            <a:avLst/>
          </a:prstGeom>
          <a:solidFill>
            <a:srgbClr val="22C55E"/>
          </a:solidFill>
          <a:ln w="12700">
            <a:solidFill>
              <a:srgbClr val="22C55E"/>
            </a:solidFill>
            <a:prstDash val="solid"/>
          </a:ln>
        </p:spPr>
        <p:txBody>
          <a:bodyPr/>
          <a:lstStyle/>
          <a:p>
            <a:endParaRPr lang="en-US"/>
          </a:p>
        </p:txBody>
      </p:sp>
      <p:sp>
        <p:nvSpPr>
          <p:cNvPr id="42" name="Text 40"/>
          <p:cNvSpPr/>
          <p:nvPr/>
        </p:nvSpPr>
        <p:spPr>
          <a:xfrm>
            <a:off x="8138160" y="4078224"/>
            <a:ext cx="274320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Highlight access anomalies for validation.</a:t>
            </a:r>
            <a:endParaRPr lang="en-US" sz="930" dirty="0"/>
          </a:p>
        </p:txBody>
      </p:sp>
      <p:sp>
        <p:nvSpPr>
          <p:cNvPr id="43"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txBody>
          <a:bodyPr/>
          <a:lstStyle/>
          <a:p>
            <a:endParaRPr lang="en-US"/>
          </a:p>
        </p:txBody>
      </p:sp>
      <p:sp>
        <p:nvSpPr>
          <p:cNvPr id="3" name="Text 1"/>
          <p:cNvSpPr/>
          <p:nvPr/>
        </p:nvSpPr>
        <p:spPr>
          <a:xfrm>
            <a:off x="566928" y="301752"/>
            <a:ext cx="8412480" cy="384048"/>
          </a:xfrm>
          <a:prstGeom prst="rect">
            <a:avLst/>
          </a:prstGeom>
          <a:noFill/>
          <a:ln/>
        </p:spPr>
        <p:txBody>
          <a:bodyPr wrap="square" lIns="0" tIns="0" rIns="0" bIns="0" rtlCol="0" anchor="ctr"/>
          <a:lstStyle/>
          <a:p>
            <a:pPr marL="0" indent="0">
              <a:buNone/>
            </a:pPr>
            <a:r>
              <a:rPr lang="en-US" sz="2300" b="1" dirty="0">
                <a:solidFill>
                  <a:srgbClr val="0F172A"/>
                </a:solidFill>
                <a:latin typeface="Aptos Display" pitchFamily="34" charset="0"/>
                <a:ea typeface="Aptos Display" pitchFamily="34" charset="-122"/>
                <a:cs typeface="Aptos Display" pitchFamily="34" charset="-120"/>
              </a:rPr>
              <a:t>Expected outcomes coverage</a:t>
            </a:r>
            <a:endParaRPr lang="en-US" sz="2300" dirty="0"/>
          </a:p>
        </p:txBody>
      </p:sp>
      <p:sp>
        <p:nvSpPr>
          <p:cNvPr id="5" name="Shape 3"/>
          <p:cNvSpPr/>
          <p:nvPr/>
        </p:nvSpPr>
        <p:spPr>
          <a:xfrm>
            <a:off x="10927080" y="256032"/>
            <a:ext cx="658368" cy="658368"/>
          </a:xfrm>
          <a:prstGeom prst="arc">
            <a:avLst/>
          </a:prstGeom>
          <a:noFill/>
          <a:ln w="27940">
            <a:solidFill>
              <a:srgbClr val="14B8A6"/>
            </a:solidFill>
            <a:prstDash val="solid"/>
            <a:headEnd type="none"/>
            <a:tailEnd type="none"/>
          </a:ln>
        </p:spPr>
        <p:txBody>
          <a:bodyPr/>
          <a:lstStyle/>
          <a:p>
            <a:endParaRPr lang="en-US"/>
          </a:p>
        </p:txBody>
      </p:sp>
      <p:sp>
        <p:nvSpPr>
          <p:cNvPr id="6" name="Shape 4"/>
          <p:cNvSpPr/>
          <p:nvPr/>
        </p:nvSpPr>
        <p:spPr>
          <a:xfrm>
            <a:off x="11119104" y="429768"/>
            <a:ext cx="640080" cy="640080"/>
          </a:xfrm>
          <a:prstGeom prst="arc">
            <a:avLst/>
          </a:prstGeom>
          <a:noFill/>
          <a:ln w="27940">
            <a:solidFill>
              <a:srgbClr val="2563EB"/>
            </a:solidFill>
            <a:prstDash val="solid"/>
          </a:ln>
        </p:spPr>
        <p:txBody>
          <a:bodyPr/>
          <a:lstStyle/>
          <a:p>
            <a:endParaRPr lang="en-US"/>
          </a:p>
        </p:txBody>
      </p:sp>
      <p:sp>
        <p:nvSpPr>
          <p:cNvPr id="7" name="Shape 5"/>
          <p:cNvSpPr/>
          <p:nvPr/>
        </p:nvSpPr>
        <p:spPr>
          <a:xfrm>
            <a:off x="731520" y="1115568"/>
            <a:ext cx="5166360" cy="4937760"/>
          </a:xfrm>
          <a:prstGeom prst="roundRect">
            <a:avLst>
              <a:gd name="adj" fmla="val 2222"/>
            </a:avLst>
          </a:prstGeom>
          <a:solidFill>
            <a:srgbClr val="FFFFFF"/>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8" name="Text 6"/>
          <p:cNvSpPr/>
          <p:nvPr/>
        </p:nvSpPr>
        <p:spPr>
          <a:xfrm>
            <a:off x="1005840" y="1389888"/>
            <a:ext cx="2926080" cy="228600"/>
          </a:xfrm>
          <a:prstGeom prst="rect">
            <a:avLst/>
          </a:prstGeom>
          <a:noFill/>
          <a:ln/>
        </p:spPr>
        <p:txBody>
          <a:bodyPr wrap="square" lIns="0" tIns="0" rIns="0" bIns="0" rtlCol="0" anchor="ctr"/>
          <a:lstStyle/>
          <a:p>
            <a:pPr marL="0" indent="0">
              <a:buNone/>
            </a:pPr>
            <a:r>
              <a:rPr lang="en-US" sz="1500" b="1" dirty="0">
                <a:solidFill>
                  <a:srgbClr val="0F172A"/>
                </a:solidFill>
              </a:rPr>
              <a:t>Expected outcomes</a:t>
            </a:r>
            <a:endParaRPr lang="en-US" sz="1500" dirty="0"/>
          </a:p>
        </p:txBody>
      </p:sp>
      <p:sp>
        <p:nvSpPr>
          <p:cNvPr id="9" name="Shape 7"/>
          <p:cNvSpPr/>
          <p:nvPr/>
        </p:nvSpPr>
        <p:spPr>
          <a:xfrm>
            <a:off x="1024128" y="1856232"/>
            <a:ext cx="164592" cy="164592"/>
          </a:xfrm>
          <a:prstGeom prst="ellipse">
            <a:avLst/>
          </a:prstGeom>
          <a:solidFill>
            <a:srgbClr val="22C55E"/>
          </a:solidFill>
          <a:ln w="12700">
            <a:solidFill>
              <a:srgbClr val="22C55E"/>
            </a:solidFill>
            <a:prstDash val="solid"/>
          </a:ln>
        </p:spPr>
        <p:txBody>
          <a:bodyPr/>
          <a:lstStyle/>
          <a:p>
            <a:endParaRPr lang="en-US"/>
          </a:p>
        </p:txBody>
      </p:sp>
      <p:sp>
        <p:nvSpPr>
          <p:cNvPr id="10" name="Text 8"/>
          <p:cNvSpPr/>
          <p:nvPr/>
        </p:nvSpPr>
        <p:spPr>
          <a:xfrm>
            <a:off x="1058875" y="186811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1" name="Text 9"/>
          <p:cNvSpPr/>
          <p:nvPr/>
        </p:nvSpPr>
        <p:spPr>
          <a:xfrm>
            <a:off x="1298448" y="1824228"/>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Better visibility into available and occupied seats</a:t>
            </a:r>
            <a:endParaRPr lang="en-US" sz="880" dirty="0"/>
          </a:p>
        </p:txBody>
      </p:sp>
      <p:sp>
        <p:nvSpPr>
          <p:cNvPr id="12" name="Shape 10"/>
          <p:cNvSpPr/>
          <p:nvPr/>
        </p:nvSpPr>
        <p:spPr>
          <a:xfrm>
            <a:off x="1024128" y="2350008"/>
            <a:ext cx="164592" cy="164592"/>
          </a:xfrm>
          <a:prstGeom prst="ellipse">
            <a:avLst/>
          </a:prstGeom>
          <a:solidFill>
            <a:srgbClr val="22C55E"/>
          </a:solidFill>
          <a:ln w="12700">
            <a:solidFill>
              <a:srgbClr val="22C55E"/>
            </a:solidFill>
            <a:prstDash val="solid"/>
          </a:ln>
        </p:spPr>
        <p:txBody>
          <a:bodyPr/>
          <a:lstStyle/>
          <a:p>
            <a:endParaRPr lang="en-US"/>
          </a:p>
        </p:txBody>
      </p:sp>
      <p:sp>
        <p:nvSpPr>
          <p:cNvPr id="13" name="Text 11"/>
          <p:cNvSpPr/>
          <p:nvPr/>
        </p:nvSpPr>
        <p:spPr>
          <a:xfrm>
            <a:off x="1058875" y="236189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4" name="Text 12"/>
          <p:cNvSpPr/>
          <p:nvPr/>
        </p:nvSpPr>
        <p:spPr>
          <a:xfrm>
            <a:off x="1298448" y="2318004"/>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Improved team co-location planning</a:t>
            </a:r>
            <a:endParaRPr lang="en-US" sz="880" dirty="0"/>
          </a:p>
        </p:txBody>
      </p:sp>
      <p:sp>
        <p:nvSpPr>
          <p:cNvPr id="15" name="Shape 13"/>
          <p:cNvSpPr/>
          <p:nvPr/>
        </p:nvSpPr>
        <p:spPr>
          <a:xfrm>
            <a:off x="1024128" y="2843784"/>
            <a:ext cx="164592" cy="164592"/>
          </a:xfrm>
          <a:prstGeom prst="ellipse">
            <a:avLst/>
          </a:prstGeom>
          <a:solidFill>
            <a:srgbClr val="22C55E"/>
          </a:solidFill>
          <a:ln w="12700">
            <a:solidFill>
              <a:srgbClr val="22C55E"/>
            </a:solidFill>
            <a:prstDash val="solid"/>
          </a:ln>
        </p:spPr>
        <p:txBody>
          <a:bodyPr/>
          <a:lstStyle/>
          <a:p>
            <a:endParaRPr lang="en-US"/>
          </a:p>
        </p:txBody>
      </p:sp>
      <p:sp>
        <p:nvSpPr>
          <p:cNvPr id="16" name="Text 14"/>
          <p:cNvSpPr/>
          <p:nvPr/>
        </p:nvSpPr>
        <p:spPr>
          <a:xfrm>
            <a:off x="1058875" y="2855671"/>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17" name="Text 15"/>
          <p:cNvSpPr/>
          <p:nvPr/>
        </p:nvSpPr>
        <p:spPr>
          <a:xfrm>
            <a:off x="1298448" y="2811780"/>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Release of unused booked seats when employees do not swipe in</a:t>
            </a:r>
            <a:endParaRPr lang="en-US" sz="880" dirty="0"/>
          </a:p>
        </p:txBody>
      </p:sp>
      <p:sp>
        <p:nvSpPr>
          <p:cNvPr id="18" name="Shape 16"/>
          <p:cNvSpPr/>
          <p:nvPr/>
        </p:nvSpPr>
        <p:spPr>
          <a:xfrm>
            <a:off x="1024128" y="3337560"/>
            <a:ext cx="164592" cy="164592"/>
          </a:xfrm>
          <a:prstGeom prst="ellipse">
            <a:avLst/>
          </a:prstGeom>
          <a:solidFill>
            <a:srgbClr val="22C55E"/>
          </a:solidFill>
          <a:ln w="12700">
            <a:solidFill>
              <a:srgbClr val="22C55E"/>
            </a:solidFill>
            <a:prstDash val="solid"/>
          </a:ln>
        </p:spPr>
        <p:txBody>
          <a:bodyPr/>
          <a:lstStyle/>
          <a:p>
            <a:endParaRPr lang="en-US"/>
          </a:p>
        </p:txBody>
      </p:sp>
      <p:sp>
        <p:nvSpPr>
          <p:cNvPr id="19" name="Text 17"/>
          <p:cNvSpPr/>
          <p:nvPr/>
        </p:nvSpPr>
        <p:spPr>
          <a:xfrm>
            <a:off x="1058875" y="3349447"/>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0" name="Text 18"/>
          <p:cNvSpPr/>
          <p:nvPr/>
        </p:nvSpPr>
        <p:spPr>
          <a:xfrm>
            <a:off x="1298448" y="3305556"/>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Better shift-based facility planning</a:t>
            </a:r>
            <a:endParaRPr lang="en-US" sz="880" dirty="0"/>
          </a:p>
        </p:txBody>
      </p:sp>
      <p:sp>
        <p:nvSpPr>
          <p:cNvPr id="21" name="Shape 19"/>
          <p:cNvSpPr/>
          <p:nvPr/>
        </p:nvSpPr>
        <p:spPr>
          <a:xfrm>
            <a:off x="1024128" y="3831336"/>
            <a:ext cx="164592" cy="164592"/>
          </a:xfrm>
          <a:prstGeom prst="ellipse">
            <a:avLst/>
          </a:prstGeom>
          <a:solidFill>
            <a:srgbClr val="22C55E"/>
          </a:solidFill>
          <a:ln w="12700">
            <a:solidFill>
              <a:srgbClr val="22C55E"/>
            </a:solidFill>
            <a:prstDash val="solid"/>
          </a:ln>
        </p:spPr>
        <p:txBody>
          <a:bodyPr/>
          <a:lstStyle/>
          <a:p>
            <a:endParaRPr lang="en-US"/>
          </a:p>
        </p:txBody>
      </p:sp>
      <p:sp>
        <p:nvSpPr>
          <p:cNvPr id="22" name="Text 20"/>
          <p:cNvSpPr/>
          <p:nvPr/>
        </p:nvSpPr>
        <p:spPr>
          <a:xfrm>
            <a:off x="1058875" y="3843223"/>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3" name="Text 21"/>
          <p:cNvSpPr/>
          <p:nvPr/>
        </p:nvSpPr>
        <p:spPr>
          <a:xfrm>
            <a:off x="1298448" y="3799332"/>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Reduced power, HVAC, pantry, and housekeeping inefficiencies</a:t>
            </a:r>
            <a:endParaRPr lang="en-US" sz="880" dirty="0"/>
          </a:p>
        </p:txBody>
      </p:sp>
      <p:sp>
        <p:nvSpPr>
          <p:cNvPr id="24" name="Shape 22"/>
          <p:cNvSpPr/>
          <p:nvPr/>
        </p:nvSpPr>
        <p:spPr>
          <a:xfrm>
            <a:off x="1024128" y="4325112"/>
            <a:ext cx="164592" cy="164592"/>
          </a:xfrm>
          <a:prstGeom prst="ellipse">
            <a:avLst/>
          </a:prstGeom>
          <a:solidFill>
            <a:srgbClr val="22C55E"/>
          </a:solidFill>
          <a:ln w="12700">
            <a:solidFill>
              <a:srgbClr val="22C55E"/>
            </a:solidFill>
            <a:prstDash val="solid"/>
          </a:ln>
        </p:spPr>
        <p:txBody>
          <a:bodyPr/>
          <a:lstStyle/>
          <a:p>
            <a:endParaRPr lang="en-US"/>
          </a:p>
        </p:txBody>
      </p:sp>
      <p:sp>
        <p:nvSpPr>
          <p:cNvPr id="25" name="Text 23"/>
          <p:cNvSpPr/>
          <p:nvPr/>
        </p:nvSpPr>
        <p:spPr>
          <a:xfrm>
            <a:off x="1058875" y="4336999"/>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6" name="Text 24"/>
          <p:cNvSpPr/>
          <p:nvPr/>
        </p:nvSpPr>
        <p:spPr>
          <a:xfrm>
            <a:off x="1298448" y="4293108"/>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Automated access violation validation workflow</a:t>
            </a:r>
            <a:endParaRPr lang="en-US" sz="880" dirty="0"/>
          </a:p>
        </p:txBody>
      </p:sp>
      <p:sp>
        <p:nvSpPr>
          <p:cNvPr id="27" name="Shape 25"/>
          <p:cNvSpPr/>
          <p:nvPr/>
        </p:nvSpPr>
        <p:spPr>
          <a:xfrm>
            <a:off x="1024128" y="4818888"/>
            <a:ext cx="164592" cy="164592"/>
          </a:xfrm>
          <a:prstGeom prst="ellipse">
            <a:avLst/>
          </a:prstGeom>
          <a:solidFill>
            <a:srgbClr val="22C55E"/>
          </a:solidFill>
          <a:ln w="12700">
            <a:solidFill>
              <a:srgbClr val="22C55E"/>
            </a:solidFill>
            <a:prstDash val="solid"/>
          </a:ln>
        </p:spPr>
        <p:txBody>
          <a:bodyPr/>
          <a:lstStyle/>
          <a:p>
            <a:endParaRPr lang="en-US"/>
          </a:p>
        </p:txBody>
      </p:sp>
      <p:sp>
        <p:nvSpPr>
          <p:cNvPr id="28" name="Text 26"/>
          <p:cNvSpPr/>
          <p:nvPr/>
        </p:nvSpPr>
        <p:spPr>
          <a:xfrm>
            <a:off x="1058875" y="4830775"/>
            <a:ext cx="91440" cy="73152"/>
          </a:xfrm>
          <a:prstGeom prst="rect">
            <a:avLst/>
          </a:prstGeom>
          <a:noFill/>
          <a:ln/>
        </p:spPr>
        <p:txBody>
          <a:bodyPr wrap="square" lIns="0" tIns="0" rIns="0" bIns="0" rtlCol="0" anchor="ctr"/>
          <a:lstStyle/>
          <a:p>
            <a:pPr marL="0" indent="0">
              <a:buNone/>
            </a:pPr>
            <a:r>
              <a:rPr lang="en-US" sz="750" b="1" dirty="0">
                <a:solidFill>
                  <a:srgbClr val="FFFFFF"/>
                </a:solidFill>
              </a:rPr>
              <a:t>✓</a:t>
            </a:r>
            <a:endParaRPr lang="en-US" sz="750" dirty="0"/>
          </a:p>
        </p:txBody>
      </p:sp>
      <p:sp>
        <p:nvSpPr>
          <p:cNvPr id="29" name="Text 27"/>
          <p:cNvSpPr/>
          <p:nvPr/>
        </p:nvSpPr>
        <p:spPr>
          <a:xfrm>
            <a:off x="1298448" y="4786884"/>
            <a:ext cx="4389120" cy="265176"/>
          </a:xfrm>
          <a:prstGeom prst="rect">
            <a:avLst/>
          </a:prstGeom>
          <a:noFill/>
          <a:ln/>
        </p:spPr>
        <p:txBody>
          <a:bodyPr wrap="square" lIns="0" tIns="0" rIns="0" bIns="0" rtlCol="0" anchor="ctr">
            <a:normAutofit/>
          </a:bodyPr>
          <a:lstStyle/>
          <a:p>
            <a:pPr marL="0" indent="0">
              <a:buNone/>
            </a:pPr>
            <a:r>
              <a:rPr lang="en-US" sz="880" dirty="0">
                <a:solidFill>
                  <a:srgbClr val="0F172A"/>
                </a:solidFill>
              </a:rPr>
              <a:t>Data-driven seat allocation instead of static quota-based allocation</a:t>
            </a:r>
            <a:endParaRPr lang="en-US" sz="880" dirty="0"/>
          </a:p>
        </p:txBody>
      </p:sp>
      <p:sp>
        <p:nvSpPr>
          <p:cNvPr id="30" name="Shape 28"/>
          <p:cNvSpPr/>
          <p:nvPr/>
        </p:nvSpPr>
        <p:spPr>
          <a:xfrm>
            <a:off x="6199632" y="1115568"/>
            <a:ext cx="5166360" cy="4937760"/>
          </a:xfrm>
          <a:prstGeom prst="roundRect">
            <a:avLst>
              <a:gd name="adj" fmla="val 2222"/>
            </a:avLst>
          </a:prstGeom>
          <a:solidFill>
            <a:srgbClr val="ECFDF5"/>
          </a:solidFill>
          <a:ln w="8890">
            <a:solidFill>
              <a:srgbClr val="E2E8F0"/>
            </a:solidFill>
            <a:prstDash val="solid"/>
          </a:ln>
          <a:effectLst>
            <a:outerShdw blurRad="19050" dist="8890" dir="2700000" algn="bl" rotWithShape="0">
              <a:srgbClr val="000000">
                <a:alpha val="10000"/>
              </a:srgbClr>
            </a:outerShdw>
          </a:effectLst>
        </p:spPr>
        <p:txBody>
          <a:bodyPr/>
          <a:lstStyle/>
          <a:p>
            <a:endParaRPr lang="en-US"/>
          </a:p>
        </p:txBody>
      </p:sp>
      <p:sp>
        <p:nvSpPr>
          <p:cNvPr id="31" name="Text 29"/>
          <p:cNvSpPr/>
          <p:nvPr/>
        </p:nvSpPr>
        <p:spPr>
          <a:xfrm>
            <a:off x="6492240" y="1389888"/>
            <a:ext cx="3840480" cy="228600"/>
          </a:xfrm>
          <a:prstGeom prst="rect">
            <a:avLst/>
          </a:prstGeom>
          <a:noFill/>
          <a:ln/>
        </p:spPr>
        <p:txBody>
          <a:bodyPr wrap="square" lIns="0" tIns="0" rIns="0" bIns="0" rtlCol="0" anchor="ctr"/>
          <a:lstStyle/>
          <a:p>
            <a:pPr marL="0" indent="0">
              <a:buNone/>
            </a:pPr>
            <a:r>
              <a:rPr lang="en-US" sz="1500" b="1" dirty="0">
                <a:solidFill>
                  <a:srgbClr val="22C55E"/>
                </a:solidFill>
              </a:rPr>
              <a:t>Why expectations are met</a:t>
            </a:r>
            <a:endParaRPr lang="en-US" sz="1500" dirty="0"/>
          </a:p>
        </p:txBody>
      </p:sp>
      <p:sp>
        <p:nvSpPr>
          <p:cNvPr id="32" name="Shape 30"/>
          <p:cNvSpPr/>
          <p:nvPr/>
        </p:nvSpPr>
        <p:spPr>
          <a:xfrm>
            <a:off x="6510528" y="1869948"/>
            <a:ext cx="100584" cy="100584"/>
          </a:xfrm>
          <a:prstGeom prst="ellipse">
            <a:avLst/>
          </a:prstGeom>
          <a:solidFill>
            <a:srgbClr val="22C55E"/>
          </a:solidFill>
          <a:ln w="12700">
            <a:solidFill>
              <a:srgbClr val="22C55E"/>
            </a:solidFill>
            <a:prstDash val="solid"/>
          </a:ln>
        </p:spPr>
        <p:txBody>
          <a:bodyPr/>
          <a:lstStyle/>
          <a:p>
            <a:endParaRPr lang="en-US"/>
          </a:p>
        </p:txBody>
      </p:sp>
      <p:sp>
        <p:nvSpPr>
          <p:cNvPr id="33" name="Text 31"/>
          <p:cNvSpPr/>
          <p:nvPr/>
        </p:nvSpPr>
        <p:spPr>
          <a:xfrm>
            <a:off x="6693408" y="1828800"/>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QR creates desk-user mapping.</a:t>
            </a:r>
            <a:endParaRPr lang="en-US" sz="930" dirty="0"/>
          </a:p>
        </p:txBody>
      </p:sp>
      <p:sp>
        <p:nvSpPr>
          <p:cNvPr id="34" name="Shape 32"/>
          <p:cNvSpPr/>
          <p:nvPr/>
        </p:nvSpPr>
        <p:spPr>
          <a:xfrm>
            <a:off x="6510528" y="2391156"/>
            <a:ext cx="100584" cy="100584"/>
          </a:xfrm>
          <a:prstGeom prst="ellipse">
            <a:avLst/>
          </a:prstGeom>
          <a:solidFill>
            <a:srgbClr val="14B8A6"/>
          </a:solidFill>
          <a:ln w="12700">
            <a:solidFill>
              <a:srgbClr val="14B8A6"/>
            </a:solidFill>
            <a:prstDash val="solid"/>
          </a:ln>
        </p:spPr>
        <p:txBody>
          <a:bodyPr/>
          <a:lstStyle/>
          <a:p>
            <a:endParaRPr lang="en-US"/>
          </a:p>
        </p:txBody>
      </p:sp>
      <p:sp>
        <p:nvSpPr>
          <p:cNvPr id="35" name="Text 33"/>
          <p:cNvSpPr/>
          <p:nvPr/>
        </p:nvSpPr>
        <p:spPr>
          <a:xfrm>
            <a:off x="6693408" y="2350008"/>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Swipe-in and LAN signals validate actual presence.</a:t>
            </a:r>
            <a:endParaRPr lang="en-US" sz="930" dirty="0"/>
          </a:p>
        </p:txBody>
      </p:sp>
      <p:sp>
        <p:nvSpPr>
          <p:cNvPr id="36" name="Shape 34"/>
          <p:cNvSpPr/>
          <p:nvPr/>
        </p:nvSpPr>
        <p:spPr>
          <a:xfrm>
            <a:off x="6510528" y="2912364"/>
            <a:ext cx="100584" cy="100584"/>
          </a:xfrm>
          <a:prstGeom prst="ellipse">
            <a:avLst/>
          </a:prstGeom>
          <a:solidFill>
            <a:srgbClr val="22C55E"/>
          </a:solidFill>
          <a:ln w="12700">
            <a:solidFill>
              <a:srgbClr val="22C55E"/>
            </a:solidFill>
            <a:prstDash val="solid"/>
          </a:ln>
        </p:spPr>
        <p:txBody>
          <a:bodyPr/>
          <a:lstStyle/>
          <a:p>
            <a:endParaRPr lang="en-US"/>
          </a:p>
        </p:txBody>
      </p:sp>
      <p:sp>
        <p:nvSpPr>
          <p:cNvPr id="37" name="Text 35"/>
          <p:cNvSpPr/>
          <p:nvPr/>
        </p:nvSpPr>
        <p:spPr>
          <a:xfrm>
            <a:off x="6693408" y="2871216"/>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Calendar and reminder logic reduces false release.</a:t>
            </a:r>
            <a:endParaRPr lang="en-US" sz="930" dirty="0"/>
          </a:p>
        </p:txBody>
      </p:sp>
      <p:sp>
        <p:nvSpPr>
          <p:cNvPr id="38" name="Shape 36"/>
          <p:cNvSpPr/>
          <p:nvPr/>
        </p:nvSpPr>
        <p:spPr>
          <a:xfrm>
            <a:off x="6510528" y="3433572"/>
            <a:ext cx="100584" cy="100584"/>
          </a:xfrm>
          <a:prstGeom prst="ellipse">
            <a:avLst/>
          </a:prstGeom>
          <a:solidFill>
            <a:srgbClr val="14B8A6"/>
          </a:solidFill>
          <a:ln w="12700">
            <a:solidFill>
              <a:srgbClr val="14B8A6"/>
            </a:solidFill>
            <a:prstDash val="solid"/>
          </a:ln>
        </p:spPr>
        <p:txBody>
          <a:bodyPr/>
          <a:lstStyle/>
          <a:p>
            <a:endParaRPr lang="en-US"/>
          </a:p>
        </p:txBody>
      </p:sp>
      <p:sp>
        <p:nvSpPr>
          <p:cNvPr id="39" name="Text 37"/>
          <p:cNvSpPr/>
          <p:nvPr/>
        </p:nvSpPr>
        <p:spPr>
          <a:xfrm>
            <a:off x="6693408" y="3392424"/>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Dashboards expose utilization by zone/shift/team.</a:t>
            </a:r>
            <a:endParaRPr lang="en-US" sz="930" dirty="0"/>
          </a:p>
        </p:txBody>
      </p:sp>
      <p:sp>
        <p:nvSpPr>
          <p:cNvPr id="40" name="Shape 38"/>
          <p:cNvSpPr/>
          <p:nvPr/>
        </p:nvSpPr>
        <p:spPr>
          <a:xfrm>
            <a:off x="6510528" y="3954780"/>
            <a:ext cx="100584" cy="100584"/>
          </a:xfrm>
          <a:prstGeom prst="ellipse">
            <a:avLst/>
          </a:prstGeom>
          <a:solidFill>
            <a:srgbClr val="22C55E"/>
          </a:solidFill>
          <a:ln w="12700">
            <a:solidFill>
              <a:srgbClr val="22C55E"/>
            </a:solidFill>
            <a:prstDash val="solid"/>
          </a:ln>
        </p:spPr>
        <p:txBody>
          <a:bodyPr/>
          <a:lstStyle/>
          <a:p>
            <a:endParaRPr lang="en-US"/>
          </a:p>
        </p:txBody>
      </p:sp>
      <p:sp>
        <p:nvSpPr>
          <p:cNvPr id="41" name="Text 39"/>
          <p:cNvSpPr/>
          <p:nvPr/>
        </p:nvSpPr>
        <p:spPr>
          <a:xfrm>
            <a:off x="6693408" y="3913632"/>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Manager approval workflow handles access exceptions.</a:t>
            </a:r>
            <a:endParaRPr lang="en-US" sz="930" dirty="0"/>
          </a:p>
        </p:txBody>
      </p:sp>
      <p:sp>
        <p:nvSpPr>
          <p:cNvPr id="42" name="Shape 40"/>
          <p:cNvSpPr/>
          <p:nvPr/>
        </p:nvSpPr>
        <p:spPr>
          <a:xfrm>
            <a:off x="6510528" y="4475988"/>
            <a:ext cx="100584" cy="100584"/>
          </a:xfrm>
          <a:prstGeom prst="ellipse">
            <a:avLst/>
          </a:prstGeom>
          <a:solidFill>
            <a:srgbClr val="14B8A6"/>
          </a:solidFill>
          <a:ln w="12700">
            <a:solidFill>
              <a:srgbClr val="14B8A6"/>
            </a:solidFill>
            <a:prstDash val="solid"/>
          </a:ln>
        </p:spPr>
        <p:txBody>
          <a:bodyPr/>
          <a:lstStyle/>
          <a:p>
            <a:endParaRPr lang="en-US"/>
          </a:p>
        </p:txBody>
      </p:sp>
      <p:sp>
        <p:nvSpPr>
          <p:cNvPr id="43" name="Text 41"/>
          <p:cNvSpPr/>
          <p:nvPr/>
        </p:nvSpPr>
        <p:spPr>
          <a:xfrm>
            <a:off x="6693408" y="4434840"/>
            <a:ext cx="4160520" cy="256032"/>
          </a:xfrm>
          <a:prstGeom prst="rect">
            <a:avLst/>
          </a:prstGeom>
          <a:noFill/>
          <a:ln/>
        </p:spPr>
        <p:txBody>
          <a:bodyPr wrap="square" lIns="0" tIns="0" rIns="0" bIns="0" rtlCol="0" anchor="ctr">
            <a:normAutofit/>
          </a:bodyPr>
          <a:lstStyle/>
          <a:p>
            <a:pPr marL="0" indent="0">
              <a:buNone/>
            </a:pPr>
            <a:r>
              <a:rPr lang="en-US" sz="930" dirty="0">
                <a:solidFill>
                  <a:srgbClr val="0F172A"/>
                </a:solidFill>
              </a:rPr>
              <a:t>Historical analytics enable allocation policy changes.</a:t>
            </a:r>
            <a:endParaRPr lang="en-US" sz="930" dirty="0"/>
          </a:p>
        </p:txBody>
      </p:sp>
      <p:sp>
        <p:nvSpPr>
          <p:cNvPr id="44"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 xmlns:ma14="http://schemas.microsoft.com/office/mac/drawingml/2011/main" val="0"/>
            </a:ext>
          </a:extLst>
        </p:spPr>
        <p:txBody>
          <a:bodyPr/>
          <a:lstStyle>
            <a:lvl1pPr>
              <a:defRPr sz="750">
                <a:solidFill>
                  <a:srgbClr val="64748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1459</Words>
  <Application>Microsoft Office PowerPoint</Application>
  <PresentationFormat>Widescreen</PresentationFormat>
  <Paragraphs>175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Copilot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Workspace Management</dc:title>
  <dc:subject>Smart Workspace Management concept deck</dc:subject>
  <dc:creator>Kothapally, Shashith Chandra</dc:creator>
  <cp:lastModifiedBy>Kothapally, Shashith Chandra</cp:lastModifiedBy>
  <cp:revision>2</cp:revision>
  <dcterms:created xsi:type="dcterms:W3CDTF">2026-07-23T12:05:07Z</dcterms:created>
  <dcterms:modified xsi:type="dcterms:W3CDTF">2026-07-23T13:37:59Z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545f6df-ca6b-49b5-b12b-747e06b51c0e_Enabled">
    <vt:lpwstr>true</vt:lpwstr>
  </property>
  <property fmtid="{D5CDD505-2E9C-101B-9397-08002B2CF9AE}" pid="3" name="MSIP_Label_6545f6df-ca6b-49b5-b12b-747e06b51c0e_SetDate">
    <vt:lpwstr>2026-07-23T12:05:07Z</vt:lpwstr>
  </property>
  <property fmtid="{D5CDD505-2E9C-101B-9397-08002B2CF9AE}" pid="4" name="MSIP_Label_6545f6df-ca6b-49b5-b12b-747e06b51c0e_Method">
    <vt:lpwstr>Standard</vt:lpwstr>
  </property>
  <property fmtid="{D5CDD505-2E9C-101B-9397-08002B2CF9AE}" pid="5" name="MSIP_Label_6545f6df-ca6b-49b5-b12b-747e06b51c0e_Name">
    <vt:lpwstr>Confidential</vt:lpwstr>
  </property>
  <property fmtid="{D5CDD505-2E9C-101B-9397-08002B2CF9AE}" pid="6" name="MSIP_Label_6545f6df-ca6b-49b5-b12b-747e06b51c0e_SiteId">
    <vt:lpwstr>649fc29a-ece3-4a3b-a3c1-680a2f035a6e</vt:lpwstr>
  </property>
  <property fmtid="{D5CDD505-2E9C-101B-9397-08002B2CF9AE}" pid="7" name="MSIP_Label_6545f6df-ca6b-49b5-b12b-747e06b51c0e_ActionId">
    <vt:lpwstr>9d3e8fc4-5012-45c9-beda-efd1785d802a</vt:lpwstr>
  </property>
  <property fmtid="{D5CDD505-2E9C-101B-9397-08002B2CF9AE}" pid="8" name="MSIP_Label_6545f6df-ca6b-49b5-b12b-747e06b51c0e_ContentBits">
    <vt:lpwstr>0</vt:lpwstr>
  </property>
</Properties>
</file>